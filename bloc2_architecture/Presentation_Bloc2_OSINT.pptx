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8e79f0505746a0" /><Relationship Type="http://schemas.openxmlformats.org/officeDocument/2006/relationships/extended-properties" Target="/docProps/app.xml" Id="R456de9b9a6404257" /><Relationship Type="http://schemas.openxmlformats.org/officeDocument/2006/relationships/officeDocument" Target="/ppt/presentation.xml" Id="R491d577d7df34a7f" /></Relationships>
</file>

<file path=ppt/presentation.xml><?xml version="1.0" encoding="utf-8"?>
<p:presentation xmlns:p="http://schemas.openxmlformats.org/presentationml/2006/main">
  <p:sldMasterIdLst>
    <p:sldMasterId xmlns:r="http://schemas.openxmlformats.org/officeDocument/2006/relationships" id="2147483648" r:id="Rd4c7496e80e94eff"/>
  </p:sldMasterIdLst>
  <p:notesMasterIdLst>
    <p:notesMasterId xmlns:r="http://schemas.openxmlformats.org/officeDocument/2006/relationships" r:id="R13e655fc4f3c475f"/>
  </p:notesMasterIdLst>
  <p:sldIdLst>
    <p:sldId xmlns:r="http://schemas.openxmlformats.org/officeDocument/2006/relationships" id="256" r:id="R577e48c7588d4e44"/>
    <p:sldId xmlns:r="http://schemas.openxmlformats.org/officeDocument/2006/relationships" id="257" r:id="R748e314e06604f11"/>
    <p:sldId xmlns:r="http://schemas.openxmlformats.org/officeDocument/2006/relationships" id="258" r:id="R491ae7ee460c4524"/>
    <p:sldId xmlns:r="http://schemas.openxmlformats.org/officeDocument/2006/relationships" id="259" r:id="R02fbf5edfa744b81"/>
    <p:sldId xmlns:r="http://schemas.openxmlformats.org/officeDocument/2006/relationships" id="260" r:id="Ree84ca0bb17340a4"/>
    <p:sldId xmlns:r="http://schemas.openxmlformats.org/officeDocument/2006/relationships" id="261" r:id="R32fbf0cf1096437d"/>
    <p:sldId xmlns:r="http://schemas.openxmlformats.org/officeDocument/2006/relationships" id="262" r:id="R9c1ce9b856dc44c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5f5f6229f0441a9" /><Relationship Type="http://schemas.openxmlformats.org/officeDocument/2006/relationships/slideMaster" Target="/ppt/slideMasters/slideMaster1.xml" Id="Rd4c7496e80e94eff" /><Relationship Type="http://schemas.openxmlformats.org/officeDocument/2006/relationships/notesMaster" Target="/ppt/notesMasters/notesMaster1.xml" Id="R13e655fc4f3c475f" /><Relationship Type="http://schemas.openxmlformats.org/officeDocument/2006/relationships/presProps" Target="/ppt/presProps.xml" Id="R10cf251815cd4f20" /><Relationship Type="http://schemas.openxmlformats.org/officeDocument/2006/relationships/tableStyles" Target="/ppt/tableStyles.xml" Id="Rfa12b61531424afe" /><Relationship Type="http://schemas.openxmlformats.org/officeDocument/2006/relationships/slide" Target="/ppt/slides/slide1.xml" Id="R577e48c7588d4e44" /><Relationship Type="http://schemas.openxmlformats.org/officeDocument/2006/relationships/slide" Target="/ppt/slides/slide2.xml" Id="R748e314e06604f11" /><Relationship Type="http://schemas.openxmlformats.org/officeDocument/2006/relationships/slide" Target="/ppt/slides/slide3.xml" Id="R491ae7ee460c4524" /><Relationship Type="http://schemas.openxmlformats.org/officeDocument/2006/relationships/slide" Target="/ppt/slides/slide4.xml" Id="R02fbf5edfa744b81" /><Relationship Type="http://schemas.openxmlformats.org/officeDocument/2006/relationships/slide" Target="/ppt/slides/slide5.xml" Id="Ree84ca0bb17340a4" /><Relationship Type="http://schemas.openxmlformats.org/officeDocument/2006/relationships/slide" Target="/ppt/slides/slide6.xml" Id="R32fbf0cf1096437d" /><Relationship Type="http://schemas.openxmlformats.org/officeDocument/2006/relationships/slide" Target="/ppt/slides/slide7.xml" Id="R9c1ce9b856dc44c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33f415c7c640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2692457408d4ffc" /><Relationship Type="http://schemas.openxmlformats.org/officeDocument/2006/relationships/notesMaster" Target="/ppt/notesMasters/notesMaster1.xml" Id="Rd22a7b12b4944c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1eadb007394edf" /><Relationship Type="http://schemas.openxmlformats.org/officeDocument/2006/relationships/notesMaster" Target="/ppt/notesMasters/notesMaster1.xml" Id="R5836ea12e8be44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ffe5f193932747ed" /><Relationship Type="http://schemas.openxmlformats.org/officeDocument/2006/relationships/notesMaster" Target="/ppt/notesMasters/notesMaster1.xml" Id="Rb1d0f0331d704e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d30fe7b66c4cac" /><Relationship Type="http://schemas.openxmlformats.org/officeDocument/2006/relationships/notesMaster" Target="/ppt/notesMasters/notesMaster1.xml" Id="Ref93cd2f6fee451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9924b05cae6480b" /><Relationship Type="http://schemas.openxmlformats.org/officeDocument/2006/relationships/notesMaster" Target="/ppt/notesMasters/notesMaster1.xml" Id="R5f49b888243544cb" /></Relationships>
</file>

<file path=ppt/notesSlides/_rels/notesSlide6.xml.rels>&#65279;<?xml version="1.0" encoding="utf-8"?><Relationships xmlns="http://schemas.openxmlformats.org/package/2006/relationships"><Relationship Type="http://schemas.openxmlformats.org/officeDocument/2006/relationships/slide" Target="/ppt/slides/slide6.xml" Id="R0b5fa99fa502438c" /><Relationship Type="http://schemas.openxmlformats.org/officeDocument/2006/relationships/notesMaster" Target="/ppt/notesMasters/notesMaster1.xml" Id="Rf47fc2dd1b9d458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a477e0fdff64a8b" /><Relationship Type="http://schemas.openxmlformats.org/officeDocument/2006/relationships/notesMaster" Target="/ppt/notesMasters/notesMaster1.xml" Id="Rec53b3833ce3405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 à 0:30 (30 secondes)</a:t>
            </a:r>
          </a:p>
          <a:p xmlns:a="http://schemas.openxmlformats.org/drawingml/2006/main">
            <a:r>
              <a:t/>
            </a:r>
          </a:p>
          <a:p xmlns:a="http://schemas.openxmlformats.org/drawingml/2006/main">
            <a:r>
              <a:t>La cellule de veille documentaire fictive doit retrouver les articles et conserver leur provenance. Le corpus comporte 21 676 articles initiaux et cinq ajouts validés au raccordement. Le besoin combine des métadonnées structurées et du texte variable. La cadence annoncée est une cible du scénario. Elle ne constitue pas une mesure du scraping ni un engagement de service.</a:t>
            </a:r>
          </a:p>
          <a:p xmlns:a="http://schemas.openxmlformats.org/drawingml/2006/main">
            <a:r>
              <a:t/>
            </a:r>
          </a:p>
          <a:p xmlns:a="http://schemas.openxmlformats.org/drawingml/2006/main">
            <a:r>
              <a:t>Preuves et sources locales :</a:t>
            </a:r>
          </a:p>
          <a:p xmlns:a="http://schemas.openxmlformats.org/drawingml/2006/main">
            <a:r>
              <a:t>/Users/ed/Desktop/Mémoire/02_Bloc_2_Architecture/Plan_infrastructure_OSINT.pdf</a:t>
            </a:r>
          </a:p>
          <a:p xmlns:a="http://schemas.openxmlformats.org/drawingml/2006/main">
            <a:r>
              <a:t>/Users/ed/Desktop/Mémoire/02_Bloc_2_Architecture/Preuves/Contrat_collecte_TASS.json</a:t>
            </a:r>
          </a:p>
          <a:p xmlns:a="http://schemas.openxmlformats.org/drawingml/2006/main">
            <a:r>
              <a:t>/Users/ed/Desktop/Mémoire/02_Bloc_2_Architecture/Preuves/Raccordement_Observatoire.json</a:t>
            </a:r>
          </a:p>
          <a:p xmlns:a="http://schemas.openxmlformats.org/drawingml/2006/main">
            <a:r>
              <a:t/>
            </a:r>
          </a:p>
          <a:p xmlns:a="http://schemas.openxmlformats.org/drawingml/2006/main">
            <a:r>
              <a:t>Les temps sont prévus. Une répétition humaine reste à chronométrer.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 à 1:30. Le Bloc 3 produit un export figé. PostgreSQL fait autorité pour les identifiants et métadonnées ; MongoDB pour les documents chiffrés. Elasticsearch est un index dérivé reconstructible. scripts/infrastructure.py deploy prépare les secrets absents, valide Compose, construit l’image, attend les healthchecks et applique la migration additive. Deux passages ont été exécutés sur les volumes existants, dont un avec construction. Aucun corpus importé implicitement. Le dossier docker inclut la définition racine, sans duplication. Docker Desktop est un environnement virtualisé local ; aucun serveur virtuel autonome ou cloud n’a été provisionné. L’installation sur un poste vierge reste à vérifier. Sources : docker-compose.yml, docker/compose.yaml, scripts/infrastructure.py, Preuves/Complement_20261018/deploy_build.json.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à 2:10 (40 secondes)</a:t>
            </a:r>
          </a:p>
          <a:p xmlns:a="http://schemas.openxmlformats.org/drawingml/2006/main">
            <a:r>
              <a:t/>
            </a:r>
          </a:p>
          <a:p xmlns:a="http://schemas.openxmlformats.org/drawingml/2006/main">
            <a:r>
              <a:t>Le schéma relationnel porte des clés primaires et des clés étrangères. Les révisions SQL archivent les métadonnées précédentes, avec une clé composée empêchant une archive dupliquée au rejeu. MongoDB porte documents et document_revisions avec un validateur JSON. L’identifiant et l’empreinte partagés permettent un contrôle de cohérence entre moteurs. Une écriture Mongo précède le commit SQL et le checkpoint. Il n’existe pas de transaction distribuée. Un lot incomplet se rejoue avant publication. Le registre des effacements bloque le réimport. Pour les dates, la sélection utilise les jours de publication inclusifs en UTC.</a:t>
            </a:r>
          </a:p>
          <a:p xmlns:a="http://schemas.openxmlformats.org/drawingml/2006/main">
            <a:r>
              <a:t/>
            </a:r>
          </a:p>
          <a:p xmlns:a="http://schemas.openxmlformats.org/drawingml/2006/main">
            <a:r>
              <a:t>Preuves et sources locales :</a:t>
            </a:r>
          </a:p>
          <a:p xmlns:a="http://schemas.openxmlformats.org/drawingml/2006/main">
            <a:r>
              <a:t>/Users/ed/Desktop/Mémoire/02_Bloc_2_Architecture/sql/01_schema.sql</a:t>
            </a:r>
          </a:p>
          <a:p xmlns:a="http://schemas.openxmlformats.org/drawingml/2006/main">
            <a:r>
              <a:t>/Users/ed/Desktop/Mémoire/02_Bloc_2_Architecture/sql/02_revisions.sql</a:t>
            </a:r>
          </a:p>
          <a:p xmlns:a="http://schemas.openxmlformats.org/drawingml/2006/main">
            <a:r>
              <a:t>/Users/ed/Desktop/Mémoire/02_Bloc_2_Architecture/docs/sql_schema.dbml</a:t>
            </a:r>
          </a:p>
          <a:p xmlns:a="http://schemas.openxmlformats.org/drawingml/2006/main">
            <a:r>
              <a:t>/Users/ed/Desktop/Mémoire/02_Bloc_2_Architecture/docs/nosql_schema.json</a:t>
            </a:r>
          </a:p>
          <a:p xmlns:a="http://schemas.openxmlformats.org/drawingml/2006/main">
            <a:r>
              <a:t>/Users/ed/Desktop/Mémoire/02_Bloc_2_Architecture/Preuves/Revisions_collecte_TASS.json</a:t>
            </a:r>
          </a:p>
          <a:p xmlns:a="http://schemas.openxmlformats.org/drawingml/2006/main">
            <a:r>
              <a:t/>
            </a:r>
          </a:p>
          <a:p xmlns:a="http://schemas.openxmlformats.org/drawingml/2006/main">
            <a:r>
              <a:t>Les temps sont prévus. Une répétition humaine reste à chronométrer.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 à 2:50 (40 secondes)</a:t>
            </a:r>
          </a:p>
          <a:p xmlns:a="http://schemas.openxmlformats.org/drawingml/2006/main">
            <a:r>
              <a:t/>
            </a:r>
          </a:p>
          <a:p xmlns:a="http://schemas.openxmlformats.org/drawingml/2006/main">
            <a:r>
              <a:t>Les contrôles vérifient le refus des connexions sans TLS et des écritures par le compte lecteur, les contraintes de schéma et l’intégrité AES-GCM. Les textes et sauvegardes sont chiffrés. La protection au repos demeure partielle pour les métadonnées du Bloc 2 et les copies externes. Les clés se conservent séparément. Le volume chiffré du collecteur du Bloc 3 a été activé et sa migration vérifiée. La sauvegarde du Bloc 2 couvre PostgreSQL, MongoDB et les registres de droits, sans inclure automatiquement le catalogue SQLite du collecteur. La correspondance ANSSI localise les contrôles et les écarts. Il n’existe pas de certification ISO ni d’audit exhaustif.</a:t>
            </a:r>
          </a:p>
          <a:p xmlns:a="http://schemas.openxmlformats.org/drawingml/2006/main">
            <a:r>
              <a:t/>
            </a:r>
          </a:p>
          <a:p xmlns:a="http://schemas.openxmlformats.org/drawingml/2006/main">
            <a:r>
              <a:t>Preuves et sources locales :</a:t>
            </a:r>
          </a:p>
          <a:p xmlns:a="http://schemas.openxmlformats.org/drawingml/2006/main">
            <a:r>
              <a:t>/Users/ed/Desktop/Mémoire/02_Bloc_2_Architecture/Preuves/integration.json</a:t>
            </a:r>
          </a:p>
          <a:p xmlns:a="http://schemas.openxmlformats.org/drawingml/2006/main">
            <a:r>
              <a:t>/Users/ed/Desktop/Mémoire/02_Bloc_2_Architecture/Preuves/Collecte_TASS/Volume_chiffre.json</a:t>
            </a:r>
          </a:p>
          <a:p xmlns:a="http://schemas.openxmlformats.org/drawingml/2006/main">
            <a:r>
              <a:t>/Users/ed/Desktop/Mémoire/02_Bloc_2_Architecture/Preuves/Collecte_TASS/restore.json</a:t>
            </a:r>
          </a:p>
          <a:p xmlns:a="http://schemas.openxmlformats.org/drawingml/2006/main">
            <a:r>
              <a:t>/Users/ed/Desktop/Mémoire/02_Bloc_2_Architecture/docs/Correspondance_ANSSI_Bloc2.md</a:t>
            </a:r>
          </a:p>
          <a:p xmlns:a="http://schemas.openxmlformats.org/drawingml/2006/main">
            <a:r>
              <a:t>/Users/ed/Desktop/Mémoire/02_Bloc_2_Architecture/scripts/backup_restore.py</a:t>
            </a:r>
          </a:p>
          <a:p xmlns:a="http://schemas.openxmlformats.org/drawingml/2006/main">
            <a:r>
              <a:t/>
            </a:r>
          </a:p>
          <a:p xmlns:a="http://schemas.openxmlformats.org/drawingml/2006/main">
            <a:r>
              <a:t>Les temps sont prévus. Une répétition humaine reste à chronométrer.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2:50 à 3:30. Les trois essais synthétiques sont des mesures antérieures sur une version identifiée : 60 000, 600 000 et 6 millions de lignes par moteur, une exécution par taille. Ils ne sont pas relancés dans cette révision et ne couvrent ni scraping, ni NER, ni Elasticsearch à ces volumes. Le relevé à droite est nouveau, au repos le 18 octobre : trois prélèvements sains sur app, PostgreSQL, MongoDB et Elasticsearch. scripts/infrastructure.py monitor mesure CPU, mémoire, réseau et disque. Les compteurs réseau/disque sont cumulatifs. Seuil mémoire choisi : 85 %, testé à 1 % pour déclencher une alerte et le code de sortie 2. Services absents, arrêtés ou non sains signalés. La boucle reste au premier plan, sans notification distante ni contrôle de fraîcheur. Le healthcheck HTTP ne prouve pas une lecture des données ; huit tests d’intégration distincts vérifient les données, droits, TLS et intégrité. Sources : Preuves/benchmarks.json, Preuves/Complement_20261018/monitor_final.jsonl, alert_memory.jsonl, integration.json, tests.log.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3:30 à 4:30 (60 secondes)</a:t>
            </a:r>
          </a:p>
          <a:p xmlns:a="http://schemas.openxmlformats.org/drawingml/2006/main">
            <a:r>
              <a:t/>
            </a:r>
          </a:p>
          <a:p xmlns:a="http://schemas.openxmlformats.org/drawingml/2006/main">
            <a:r>
              <a:t>Montrer la capture de l’article 2035207 en mode degraded_index_snapshot. L’arrêt réel de SQL et Mongo laisse cet article consultable dans l’index. Le retour des bases rétablit le chemin primaire avec le même contenu. Les traces contrôlent également le masquage des identifiants effacés pendant la panne. Si l’on lance la vidéo architecture expliquée, choisir uniquement la séquence de 57 à 97 secondes et l’inclure dans cette minute. La vidéo locale d’exécution montre aussi l’import de trois articles fictifs et la concordance des moteurs. Ce secours assure la lecture uniquement. L’ingestion dépend des bases. La restauration testée utilise un espace isolé et ne constitue pas un basculement automatique après perte du poste.</a:t>
            </a:r>
          </a:p>
          <a:p xmlns:a="http://schemas.openxmlformats.org/drawingml/2006/main">
            <a:r>
              <a:t/>
            </a:r>
          </a:p>
          <a:p xmlns:a="http://schemas.openxmlformats.org/drawingml/2006/main">
            <a:r>
              <a:t>Preuves et sources locales :</a:t>
            </a:r>
          </a:p>
          <a:p xmlns:a="http://schemas.openxmlformats.org/drawingml/2006/main">
            <a:r>
              <a:t>/Users/ed/Desktop/Mémoire/02_Bloc_2_Architecture/Demonstration_architecture_expliquee.mp4</a:t>
            </a:r>
          </a:p>
          <a:p xmlns:a="http://schemas.openxmlformats.org/drawingml/2006/main">
            <a:r>
              <a:t>/Users/ed/Desktop/Mémoire/02_Bloc_2_Architecture/Demonstration_locale_OSINT.mp4</a:t>
            </a:r>
          </a:p>
          <a:p xmlns:a="http://schemas.openxmlformats.org/drawingml/2006/main">
            <a:r>
              <a:t>/Users/ed/Desktop/Mémoire/02_Bloc_2_Architecture/Preuves/continuity.json</a:t>
            </a:r>
          </a:p>
          <a:p xmlns:a="http://schemas.openxmlformats.org/drawingml/2006/main">
            <a:r>
              <a:t>/Users/ed/Desktop/Mémoire/02_Bloc_2_Architecture/Preuves/Video_architecture_expliquee.json</a:t>
            </a:r>
          </a:p>
          <a:p xmlns:a="http://schemas.openxmlformats.org/drawingml/2006/main">
            <a:r>
              <a:t>/Users/ed/Desktop/Mémoire/02_Bloc_2_Architecture/Preuves/Collecte_TASS/restore.json</a:t>
            </a:r>
          </a:p>
          <a:p xmlns:a="http://schemas.openxmlformats.org/drawingml/2006/main">
            <a:r>
              <a:t/>
            </a:r>
          </a:p>
          <a:p xmlns:a="http://schemas.openxmlformats.org/drawingml/2006/main">
            <a:r>
              <a:t>Les temps sont prévus. Une répétition humaine reste à chronométrer.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4:30 à 5:00 (30 secondes)</a:t>
            </a:r>
          </a:p>
          <a:p xmlns:a="http://schemas.openxmlformats.org/drawingml/2006/main">
            <a:r>
              <a:t/>
            </a:r>
          </a:p>
          <a:p xmlns:a="http://schemas.openxmlformats.org/drawingml/2006/main">
            <a:r>
              <a:t>Le projet démontre une infrastructure locale exécutée et documentée. Un seul hôte reste un point de défaillance. Aucune exploitation externe en production ni disponibilité contractuelle n’a été attestée. Les cinq articles nouveaux du raccordement n’ont pas d’inférence NER dans cette recette. Une collecte et un entraînement sont des opérations distinctes. Pour aller en exploitation, il faudra traiter l’hébergement, les sauvegardes hors machine, la rotation des clés et les mesures représentatives du parcours complet. La démarche SQL/NoSQL reprend le cours Data Architecture for AI de Mathieu Larboullet. L’adaptation et ce support ont été préparés avec l’assistance de Codex et restent à maîtriser par Edouard Cappaert. Questions possibles : pourquoi trois moteurs, que couvre exactement le secours, et que mesurent les six millions de lignes ? Les réponses et les limites se retrouvent dans le guide oral.</a:t>
            </a:r>
          </a:p>
          <a:p xmlns:a="http://schemas.openxmlformats.org/drawingml/2006/main">
            <a:r>
              <a:t/>
            </a:r>
          </a:p>
          <a:p xmlns:a="http://schemas.openxmlformats.org/drawingml/2006/main">
            <a:r>
              <a:t>Preuves et sources locales :</a:t>
            </a:r>
          </a:p>
          <a:p xmlns:a="http://schemas.openxmlformats.org/drawingml/2006/main">
            <a:r>
              <a:t>/Users/ed/Desktop/Mémoire/02_Bloc_2_Architecture/Preparation_orale_Bloc2.md</a:t>
            </a:r>
          </a:p>
          <a:p xmlns:a="http://schemas.openxmlformats.org/drawingml/2006/main">
            <a:r>
              <a:t>/Users/ed/Desktop/Mémoire/02_Bloc_2_Architecture/Plan_infrastructure_OSINT.pdf</a:t>
            </a:r>
          </a:p>
          <a:p xmlns:a="http://schemas.openxmlformats.org/drawingml/2006/main">
            <a:r>
              <a:t>/Users/ed/Desktop/Mémoire/02_Bloc_2_Architecture/docs/Collecte_stockages_securite.md</a:t>
            </a:r>
          </a:p>
          <a:p xmlns:a="http://schemas.openxmlformats.org/drawingml/2006/main">
            <a:r>
              <a:t>/Users/ed/Desktop/Mémoire/02_Bloc_2_Architecture/verification/Finalisation_Bloc2.json</a:t>
            </a:r>
          </a:p>
          <a:p xmlns:a="http://schemas.openxmlformats.org/drawingml/2006/main">
            <a:r>
              <a:t/>
            </a:r>
          </a:p>
          <a:p xmlns:a="http://schemas.openxmlformats.org/drawingml/2006/main">
            <a:r>
              <a:t>Les temps sont prévus. Une répétition humaine reste à chronométrer.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76dc23bb69416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164424dbee4a2a" /><Relationship Type="http://schemas.openxmlformats.org/officeDocument/2006/relationships/slideLayout" Target="/ppt/slideLayouts/slideLayout1.xml" Id="R29a86c0c61174f6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a86c0c61174f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12849e0975c4128" /><Relationship Type="http://schemas.openxmlformats.org/officeDocument/2006/relationships/notesSlide" Target="/ppt/notesSlides/notesSlide1.xml" Id="R1328ca45e18a48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c303429d32f4f23" /><Relationship Type="http://schemas.openxmlformats.org/officeDocument/2006/relationships/image" Target="/ppt/media/image.png" Id="R455888f597f74ee4" /><Relationship Type="http://schemas.openxmlformats.org/officeDocument/2006/relationships/notesSlide" Target="/ppt/notesSlides/notesSlide2.xml" Id="R31581a98f1aa408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c56eb2558034aa5" /><Relationship Type="http://schemas.openxmlformats.org/officeDocument/2006/relationships/notesSlide" Target="/ppt/notesSlides/notesSlide3.xml" Id="Rda5eb371d66a4f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ea6c12e3f1341c8" /><Relationship Type="http://schemas.openxmlformats.org/officeDocument/2006/relationships/notesSlide" Target="/ppt/notesSlides/notesSlide4.xml" Id="Rd2680c32be6d440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5005aa1e17940b7" /><Relationship Type="http://schemas.openxmlformats.org/officeDocument/2006/relationships/image" Target="/ppt/media/image2.png" Id="R48f4c9cf8d14415a" /><Relationship Type="http://schemas.openxmlformats.org/officeDocument/2006/relationships/notesSlide" Target="/ppt/notesSlides/notesSlide5.xml" Id="R3f3db4bbf2cc4fe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457b89ae4d84125" /><Relationship Type="http://schemas.openxmlformats.org/officeDocument/2006/relationships/image" Target="/ppt/media/image3.png" Id="Rd2547accf3a64a72" /><Relationship Type="http://schemas.openxmlformats.org/officeDocument/2006/relationships/notesSlide" Target="/ppt/notesSlides/notesSlide6.xml" Id="R2aac1f286a60427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5538598676f419c" /><Relationship Type="http://schemas.openxmlformats.org/officeDocument/2006/relationships/notesSlide" Target="/ppt/notesSlides/notesSlide7.xml" Id="Rc9d0ae191dbf49e0" /></Relationships>
</file>

<file path=ppt/slides/slide1.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4EA6EFF-F761-4EF5-A1B1-9928928A4C80}"/>
              </a:ext>
            </a:extLst>
          </p:cNvPr>
          <p:cNvSpPr>
            <a:spLocks xmlns:a="http://schemas.openxmlformats.org/drawingml/2006/main" noGrp="1"/>
          </p:cNvSpPr>
          <p:nvPr/>
        </p:nvSpPr>
        <p:spPr>
          <a:xfrm xmlns:a="http://schemas.openxmlformats.org/drawingml/2006/main">
            <a:off x="609600" y="5715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0795F"/>
                </a:solidFill>
                <a:latin typeface="Arial"/>
                <a:ea typeface="Arial"/>
                <a:cs typeface="Arial"/>
              </a:defRPr>
            </a:pPr>
            <a:r>
              <a:rPr sz="2175" b="1">
                <a:solidFill>
                  <a:srgbClr val="10795F"/>
                </a:solidFill>
                <a:latin typeface="Arial"/>
                <a:ea typeface="Arial"/>
                <a:cs typeface="Arial"/>
              </a:rPr>
              <a:t>Bloc 2</a:t>
            </a:r>
          </a:p>
        </p:txBody>
      </p:sp>
      <p:sp>
        <p:nvSpPr>
          <p:cNvPr id="2" name="">
            <a:extLst xmlns:a="http://schemas.openxmlformats.org/drawingml/2006/main">
              <a:ext uri="{FF2B5EF4-FFF2-40B4-BE49-F238E27FC236}">
                <a16:creationId xmlns:a16="http://schemas.microsoft.com/office/drawing/2014/main" id="{B788E1CE-848E-41AF-AC06-99FC4E26571E}"/>
              </a:ext>
            </a:extLst>
          </p:cNvPr>
          <p:cNvSpPr>
            <a:spLocks xmlns:a="http://schemas.openxmlformats.org/drawingml/2006/main" noGrp="1"/>
          </p:cNvSpPr>
          <p:nvPr/>
        </p:nvSpPr>
        <p:spPr>
          <a:xfrm xmlns:a="http://schemas.openxmlformats.org/drawingml/2006/main">
            <a:off x="609600" y="1419225"/>
            <a:ext cx="109728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950" b="1">
                <a:solidFill>
                  <a:srgbClr val="14303E"/>
                </a:solidFill>
                <a:latin typeface="Arial"/>
                <a:ea typeface="Arial"/>
                <a:cs typeface="Arial"/>
              </a:defRPr>
            </a:pPr>
            <a:r>
              <a:rPr sz="4950" b="1">
                <a:solidFill>
                  <a:srgbClr val="14303E"/>
                </a:solidFill>
                <a:latin typeface="Arial"/>
                <a:ea typeface="Arial"/>
                <a:cs typeface="Arial"/>
              </a:rPr>
              <a:t>Architecture des</a:t>
            </a:r>
          </a:p>
          <a:p xmlns:a="http://schemas.openxmlformats.org/drawingml/2006/main">
            <a:pPr>
              <a:buNone/>
              <a:defRPr sz="4950" b="1">
                <a:solidFill>
                  <a:srgbClr val="14303E"/>
                </a:solidFill>
                <a:latin typeface="Arial"/>
                <a:ea typeface="Arial"/>
                <a:cs typeface="Arial"/>
              </a:defRPr>
            </a:pPr>
            <a:r>
              <a:rPr sz="4950" b="1">
                <a:solidFill>
                  <a:srgbClr val="14303E"/>
                </a:solidFill>
                <a:latin typeface="Arial"/>
                <a:ea typeface="Arial"/>
                <a:cs typeface="Arial"/>
              </a:rPr>
              <a:t>données OSINT</a:t>
            </a:r>
          </a:p>
        </p:txBody>
      </p:sp>
      <p:sp>
        <p:nvSpPr>
          <p:cNvPr id="3" name="">
            <a:extLst xmlns:a="http://schemas.openxmlformats.org/drawingml/2006/main">
              <a:ext uri="{FF2B5EF4-FFF2-40B4-BE49-F238E27FC236}">
                <a16:creationId xmlns:a16="http://schemas.microsoft.com/office/drawing/2014/main" id="{7C65E7BE-1DE3-410D-948A-52CCC2658D88}"/>
              </a:ext>
            </a:extLst>
          </p:cNvPr>
          <p:cNvSpPr>
            <a:spLocks xmlns:a="http://schemas.openxmlformats.org/drawingml/2006/main" noGrp="1"/>
          </p:cNvSpPr>
          <p:nvPr/>
        </p:nvSpPr>
        <p:spPr>
          <a:xfrm xmlns:a="http://schemas.openxmlformats.org/drawingml/2006/main">
            <a:off x="609600" y="347662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4303E"/>
                </a:solidFill>
                <a:latin typeface="Arial"/>
                <a:ea typeface="Arial"/>
                <a:cs typeface="Arial"/>
              </a:defRPr>
            </a:pPr>
            <a:r>
              <a:rPr sz="2250" b="0">
                <a:solidFill>
                  <a:srgbClr val="14303E"/>
                </a:solidFill>
                <a:latin typeface="Arial"/>
                <a:ea typeface="Arial"/>
                <a:cs typeface="Arial"/>
              </a:rPr>
              <a:t>Retrouver un article TASS et vérifier sa provenance</a:t>
            </a:r>
          </a:p>
        </p:txBody>
      </p:sp>
      <p:sp>
        <p:nvSpPr>
          <p:cNvPr id="4" name="">
            <a:extLst xmlns:a="http://schemas.openxmlformats.org/drawingml/2006/main">
              <a:ext uri="{FF2B5EF4-FFF2-40B4-BE49-F238E27FC236}">
                <a16:creationId xmlns:a16="http://schemas.microsoft.com/office/drawing/2014/main" id="{22C886E8-E7A7-4B57-9F3D-0AF3F6A23B9A}"/>
              </a:ext>
            </a:extLst>
          </p:cNvPr>
          <p:cNvSpPr>
            <a:spLocks xmlns:a="http://schemas.openxmlformats.org/drawingml/2006/main" noGrp="1"/>
          </p:cNvSpPr>
          <p:nvPr/>
        </p:nvSpPr>
        <p:spPr>
          <a:xfrm xmlns:a="http://schemas.openxmlformats.org/drawingml/2006/main">
            <a:off x="609600" y="430530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10795F"/>
                </a:solidFill>
                <a:latin typeface="Arial"/>
                <a:ea typeface="Arial"/>
                <a:cs typeface="Arial"/>
              </a:defRPr>
            </a:pPr>
            <a:r>
              <a:rPr sz="2475" b="1">
                <a:solidFill>
                  <a:srgbClr val="10795F"/>
                </a:solidFill>
                <a:latin typeface="Arial"/>
                <a:ea typeface="Arial"/>
                <a:cs typeface="Arial"/>
              </a:rPr>
              <a:t>21 681 articles dans les stockages au raccordement</a:t>
            </a:r>
          </a:p>
        </p:txBody>
      </p:sp>
      <p:sp>
        <p:nvSpPr>
          <p:cNvPr id="5" name="">
            <a:extLst xmlns:a="http://schemas.openxmlformats.org/drawingml/2006/main">
              <a:ext uri="{FF2B5EF4-FFF2-40B4-BE49-F238E27FC236}">
                <a16:creationId xmlns:a16="http://schemas.microsoft.com/office/drawing/2014/main" id="{EC23A911-6C88-4BE6-895B-2F50F73C4987}"/>
              </a:ext>
            </a:extLst>
          </p:cNvPr>
          <p:cNvSpPr>
            <a:spLocks xmlns:a="http://schemas.openxmlformats.org/drawingml/2006/main" noGrp="1"/>
          </p:cNvSpPr>
          <p:nvPr/>
        </p:nvSpPr>
        <p:spPr>
          <a:xfrm xmlns:a="http://schemas.openxmlformats.org/drawingml/2006/main">
            <a:off x="609600" y="5153025"/>
            <a:ext cx="10820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26778"/>
                </a:solidFill>
                <a:latin typeface="Arial"/>
                <a:ea typeface="Arial"/>
                <a:cs typeface="Arial"/>
              </a:defRPr>
            </a:pPr>
            <a:r>
              <a:rPr sz="1800" b="0">
                <a:solidFill>
                  <a:srgbClr val="526778"/>
                </a:solidFill>
                <a:latin typeface="Arial"/>
                <a:ea typeface="Arial"/>
                <a:cs typeface="Arial"/>
              </a:rPr>
              <a:t>Scénario : un lot quotidien de 1 000 articles en moins de 15 minutes</a:t>
            </a:r>
          </a:p>
          <a:p xmlns:a="http://schemas.openxmlformats.org/drawingml/2006/main">
            <a:pPr>
              <a:buNone/>
              <a:defRPr sz="1800" b="0">
                <a:solidFill>
                  <a:srgbClr val="526778"/>
                </a:solidFill>
                <a:latin typeface="Arial"/>
                <a:ea typeface="Arial"/>
                <a:cs typeface="Arial"/>
              </a:defRPr>
            </a:pPr>
            <a:r>
              <a:rPr sz="1800" b="0">
                <a:solidFill>
                  <a:srgbClr val="526778"/>
                </a:solidFill>
                <a:latin typeface="Arial"/>
                <a:ea typeface="Arial"/>
                <a:cs typeface="Arial"/>
              </a:rPr>
              <a:t>Hypothèse de dimensionnement à confirmer sur le parcours complet</a:t>
            </a:r>
          </a:p>
        </p:txBody>
      </p:sp>
      <p:sp>
        <p:nvSpPr>
          <p:cNvPr id="6" name="">
            <a:extLst xmlns:a="http://schemas.openxmlformats.org/drawingml/2006/main">
              <a:ext uri="{FF2B5EF4-FFF2-40B4-BE49-F238E27FC236}">
                <a16:creationId xmlns:a16="http://schemas.microsoft.com/office/drawing/2014/main" id="{F92D14BC-6C89-429C-8F2F-ADFAE2F8A6B0}"/>
              </a:ext>
            </a:extLst>
          </p:cNvPr>
          <p:cNvSpPr>
            <a:spLocks xmlns:a="http://schemas.openxmlformats.org/drawingml/2006/main" noGrp="1"/>
          </p:cNvSpPr>
          <p:nvPr/>
        </p:nvSpPr>
        <p:spPr>
          <a:xfrm xmlns:a="http://schemas.openxmlformats.org/drawingml/2006/main">
            <a:off x="609600" y="643890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26778"/>
                </a:solidFill>
                <a:latin typeface="Arial"/>
                <a:ea typeface="Arial"/>
                <a:cs typeface="Arial"/>
              </a:defRPr>
            </a:pPr>
            <a:r>
              <a:rPr sz="1125" b="0">
                <a:solidFill>
                  <a:srgbClr val="526778"/>
                </a:solidFill>
                <a:latin typeface="Arial"/>
                <a:ea typeface="Arial"/>
                <a:cs typeface="Arial"/>
              </a:rPr>
              <a:t>Edouard Cappaert · Soutenance du mémoire · 18 octobre 2026</a:t>
            </a:r>
          </a:p>
        </p:txBody>
      </p:sp>
    </p:spTree>
    <p:extLst>
      <p:ext uri="{BB962C8B-B14F-4D97-AF65-F5344CB8AC3E}">
        <p14:creationId xmlns:p14="http://schemas.microsoft.com/office/powerpoint/2010/main" val="762424252"/>
      </p:ext>
    </p:extLst>
  </p:cSld>
</p:sld>
</file>

<file path=ppt/slides/slide2.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74EA4C0-986E-4272-BC27-1B5556D2CEB2}"/>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4303E"/>
                </a:solidFill>
                <a:latin typeface="Arial"/>
                <a:ea typeface="Arial"/>
                <a:cs typeface="Arial"/>
              </a:defRPr>
            </a:pPr>
            <a:r>
              <a:rPr sz="3300" b="1">
                <a:solidFill>
                  <a:srgbClr val="14303E"/>
                </a:solidFill>
                <a:latin typeface="Arial"/>
                <a:ea typeface="Arial"/>
                <a:cs typeface="Arial"/>
              </a:rPr>
              <a:t>Architecture et rôle des stockages</a:t>
            </a:r>
          </a:p>
        </p:txBody>
      </p:sp>
      <p:sp>
        <p:nvSpPr>
          <p:cNvPr id="2" name="">
            <a:extLst xmlns:a="http://schemas.openxmlformats.org/drawingml/2006/main">
              <a:ext uri="{FF2B5EF4-FFF2-40B4-BE49-F238E27FC236}">
                <a16:creationId xmlns:a16="http://schemas.microsoft.com/office/drawing/2014/main" id="{F12D918D-99BC-4115-83F6-86D2A8BAE8CB}"/>
              </a:ext>
            </a:extLst>
          </p:cNvPr>
          <p:cNvSpPr>
            <a:spLocks xmlns:a="http://schemas.openxmlformats.org/drawingml/2006/main" noGrp="1"/>
          </p:cNvSpPr>
          <p:nvPr/>
        </p:nvSpPr>
        <p:spPr>
          <a:xfrm xmlns:a="http://schemas.openxmlformats.org/drawingml/2006/main">
            <a:off x="609600" y="64389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26778"/>
                </a:solidFill>
                <a:latin typeface="Arial"/>
                <a:ea typeface="Arial"/>
                <a:cs typeface="Arial"/>
              </a:defRPr>
            </a:pPr>
            <a:r>
              <a:rPr sz="1125" b="0">
                <a:solidFill>
                  <a:srgbClr val="526778"/>
                </a:solidFill>
                <a:latin typeface="Arial"/>
                <a:ea typeface="Arial"/>
                <a:cs typeface="Arial"/>
              </a:rPr>
              <a:t>Edouard Cappaert · Bloc 2 · 18 octobre 2026 · 2 / 7</a:t>
            </a:r>
          </a:p>
        </p:txBody>
      </p:sp>
      <p:sp>
        <p:nvSpPr>
          <p:cNvPr id="3" name="">
            <a:extLst xmlns:a="http://schemas.openxmlformats.org/drawingml/2006/main">
              <a:ext uri="{FF2B5EF4-FFF2-40B4-BE49-F238E27FC236}">
                <a16:creationId xmlns:a16="http://schemas.microsoft.com/office/drawing/2014/main" id="{A4884556-B129-48C2-AA19-7EA6AE515D5C}"/>
              </a:ext>
            </a:extLst>
          </p:cNvPr>
          <p:cNvSpPr>
            <a:spLocks xmlns:a="http://schemas.openxmlformats.org/drawingml/2006/main" noGrp="1"/>
          </p:cNvSpPr>
          <p:nvPr/>
        </p:nvSpPr>
        <p:spPr>
          <a:xfrm xmlns:a="http://schemas.openxmlformats.org/drawingml/2006/main">
            <a:off x="609600" y="13906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303E"/>
                </a:solidFill>
                <a:latin typeface="Arial"/>
                <a:ea typeface="Arial"/>
                <a:cs typeface="Arial"/>
              </a:defRPr>
            </a:pPr>
            <a:r>
              <a:rPr sz="1875" b="0">
                <a:solidFill>
                  <a:srgbClr val="14303E"/>
                </a:solidFill>
                <a:latin typeface="Arial"/>
                <a:ea typeface="Arial"/>
                <a:cs typeface="Arial"/>
              </a:rPr>
              <a:t>Docker Compose : déploiement local, volumes et réseaux déclarés</a:t>
            </a:r>
          </a:p>
        </p:txBody>
      </p:sp>
      <p:pic>
        <p:nvPicPr>
          <p:cNvPr id="8" name="">
            <a:extLst xmlns:a="http://schemas.openxmlformats.org/drawingml/2006/main">
              <a:ext uri="{FF2B5EF4-FFF2-40B4-BE49-F238E27FC236}">
                <a16:creationId xmlns:a16="http://schemas.microsoft.com/office/drawing/2014/main" id="{45E8B61F-4878-47A2-81A4-A2DA3F3F7069}"/>
              </a:ext>
            </a:extLst>
          </p:cNvPr>
          <p:cNvPicPr>
            <a:picLocks xmlns:a="http://schemas.openxmlformats.org/drawingml/2006/main" noChangeAspect="1"/>
          </p:cNvPicPr>
          <p:nvPr/>
        </p:nvPicPr>
        <p:blipFill>
          <a:blip xmlns:r="http://schemas.openxmlformats.org/officeDocument/2006/relationships" xmlns:a="http://schemas.openxmlformats.org/drawingml/2006/main" r:embed="R455888f597f74ee4"/>
          <a:stretch xmlns:a="http://schemas.openxmlformats.org/drawingml/2006/main"/>
        </p:blipFill>
        <p:spPr>
          <a:xfrm xmlns:a="http://schemas.openxmlformats.org/drawingml/2006/main">
            <a:off x="571500" y="1988465"/>
            <a:ext cx="11049000" cy="4157420"/>
          </a:xfrm>
          <a:prstGeom xmlns:a="http://schemas.openxmlformats.org/drawingml/2006/main" prst="rect">
            <a:avLst/>
          </a:prstGeom>
        </p:spPr>
      </p:pic>
    </p:spTree>
    <p:extLst>
      <p:ext uri="{BB962C8B-B14F-4D97-AF65-F5344CB8AC3E}">
        <p14:creationId xmlns:p14="http://schemas.microsoft.com/office/powerpoint/2010/main" val="278711089"/>
      </p:ext>
    </p:extLst>
  </p:cSld>
</p:sld>
</file>

<file path=ppt/slides/slide3.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D2362BB-4501-42B9-AE42-3E64D9CDC7F4}"/>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4303E"/>
                </a:solidFill>
                <a:latin typeface="Arial"/>
                <a:ea typeface="Arial"/>
                <a:cs typeface="Arial"/>
              </a:defRPr>
            </a:pPr>
            <a:r>
              <a:rPr sz="3300" b="1">
                <a:solidFill>
                  <a:srgbClr val="14303E"/>
                </a:solidFill>
                <a:latin typeface="Arial"/>
                <a:ea typeface="Arial"/>
                <a:cs typeface="Arial"/>
              </a:rPr>
              <a:t>Un identifiant relie SQL et MongoDB</a:t>
            </a:r>
          </a:p>
        </p:txBody>
      </p:sp>
      <p:sp>
        <p:nvSpPr>
          <p:cNvPr id="2" name="">
            <a:extLst xmlns:a="http://schemas.openxmlformats.org/drawingml/2006/main">
              <a:ext uri="{FF2B5EF4-FFF2-40B4-BE49-F238E27FC236}">
                <a16:creationId xmlns:a16="http://schemas.microsoft.com/office/drawing/2014/main" id="{79DC9A3F-9D86-4A28-8720-CA7E797C3D6C}"/>
              </a:ext>
            </a:extLst>
          </p:cNvPr>
          <p:cNvSpPr>
            <a:spLocks xmlns:a="http://schemas.openxmlformats.org/drawingml/2006/main" noGrp="1"/>
          </p:cNvSpPr>
          <p:nvPr/>
        </p:nvSpPr>
        <p:spPr>
          <a:xfrm xmlns:a="http://schemas.openxmlformats.org/drawingml/2006/main">
            <a:off x="609600" y="64389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26778"/>
                </a:solidFill>
                <a:latin typeface="Arial"/>
                <a:ea typeface="Arial"/>
                <a:cs typeface="Arial"/>
              </a:defRPr>
            </a:pPr>
            <a:r>
              <a:rPr sz="1125" b="0">
                <a:solidFill>
                  <a:srgbClr val="526778"/>
                </a:solidFill>
                <a:latin typeface="Arial"/>
                <a:ea typeface="Arial"/>
                <a:cs typeface="Arial"/>
              </a:rPr>
              <a:t>Edouard Cappaert · Bloc 2 · 18 octobre 2026 · 3 / 7</a:t>
            </a:r>
          </a:p>
        </p:txBody>
      </p:sp>
      <p:graphicFrame>
        <p:nvGraphicFramePr>
          <p:cNvPr id="8" name="">
            <a:extLst xmlns:a="http://schemas.openxmlformats.org/drawingml/2006/main">
              <a:ext uri="{FF2B5EF4-FFF2-40B4-BE49-F238E27FC236}">
                <a16:creationId xmlns:a16="http://schemas.microsoft.com/office/drawing/2014/main" id="{3B1D368B-435F-4B21-966B-20A6E18360FA}"/>
              </a:ext>
            </a:extLst>
          </p:cNvPr>
          <p:cNvGraphicFramePr/>
          <p:nvPr/>
        </p:nvGraphicFramePr>
        <p:xfrm>
          <a:off xmlns:a="http://schemas.openxmlformats.org/drawingml/2006/main" x="609600" y="1476375"/>
          <a:ext xmlns:a="http://schemas.openxmlformats.org/drawingml/2006/main" cx="10972800" cy="3305175"/>
        </p:xfrm>
        <a:graphic xmlns:a="http://schemas.openxmlformats.org/drawingml/2006/main">
          <a:graphicData uri="http://schemas.openxmlformats.org/drawingml/2006/table">
            <a:tbl>
              <a:tblPr/>
              <a:tblGrid>
                <a:gridCol w="2143125"/>
                <a:gridCol w="4333875"/>
                <a:gridCol w="4495800"/>
              </a:tblGrid>
              <a:tr h="661035">
                <a:tc>
                  <a:txBody>
                    <a:bodyPr/>
                    <a:lstStyle/>
                    <a:p>
                      <a:r>
                        <a:rPr sz="1800" b="1">
                          <a:solidFill>
                            <a:srgbClr val="FFFFFF"/>
                          </a:solidFill>
                          <a:latin typeface="Arial"/>
                          <a:ea typeface="Arial"/>
                          <a:cs typeface="Arial"/>
                        </a:rPr>
                        <a:t>Entité SQL</a:t>
                      </a:r>
                    </a:p>
                  </a:txBody>
                  <a:tcPr marL="133350" marR="133350" marT="114300" marB="114300" anchor="ctr">
                    <a:solidFill>
                      <a:srgbClr val="10795F"/>
                    </a:solidFill>
                  </a:tcPr>
                </a:tc>
                <a:tc>
                  <a:txBody>
                    <a:bodyPr/>
                    <a:lstStyle/>
                    <a:p>
                      <a:r>
                        <a:rPr sz="1800" b="1">
                          <a:solidFill>
                            <a:srgbClr val="FFFFFF"/>
                          </a:solidFill>
                          <a:latin typeface="Arial"/>
                          <a:ea typeface="Arial"/>
                          <a:cs typeface="Arial"/>
                        </a:rPr>
                        <a:t>Clé et relations</a:t>
                      </a:r>
                    </a:p>
                  </a:txBody>
                  <a:tcPr marL="133350" marR="133350" marT="114300" marB="114300" anchor="ctr">
                    <a:solidFill>
                      <a:srgbClr val="10795F"/>
                    </a:solidFill>
                  </a:tcPr>
                </a:tc>
                <a:tc>
                  <a:txBody>
                    <a:bodyPr/>
                    <a:lstStyle/>
                    <a:p>
                      <a:r>
                        <a:rPr sz="1800" b="1">
                          <a:solidFill>
                            <a:srgbClr val="FFFFFF"/>
                          </a:solidFill>
                          <a:latin typeface="Arial"/>
                          <a:ea typeface="Arial"/>
                          <a:cs typeface="Arial"/>
                        </a:rPr>
                        <a:t>Rôle</a:t>
                      </a:r>
                    </a:p>
                  </a:txBody>
                  <a:tcPr marL="133350" marR="133350" marT="114300" marB="114300" anchor="ctr">
                    <a:solidFill>
                      <a:srgbClr val="10795F"/>
                    </a:solidFill>
                  </a:tcPr>
                </a:tc>
              </a:tr>
              <a:tr h="661035">
                <a:tc>
                  <a:txBody>
                    <a:bodyPr/>
                    <a:lstStyle/>
                    <a:p>
                      <a:r>
                        <a:rPr sz="1800" b="0">
                          <a:solidFill>
                            <a:srgbClr val="14303E"/>
                          </a:solidFill>
                          <a:latin typeface="Arial"/>
                          <a:ea typeface="Arial"/>
                          <a:cs typeface="Arial"/>
                        </a:rPr>
                        <a:t>sources</a:t>
                      </a:r>
                    </a:p>
                  </a:txBody>
                  <a:tcPr marL="133350" marR="133350" marT="114300" marB="114300" anchor="ctr">
                    <a:solidFill>
                      <a:srgbClr val="FFFFFF"/>
                    </a:solidFill>
                  </a:tcPr>
                </a:tc>
                <a:tc>
                  <a:txBody>
                    <a:bodyPr/>
                    <a:lstStyle/>
                    <a:p>
                      <a:r>
                        <a:rPr sz="1800" b="0">
                          <a:solidFill>
                            <a:srgbClr val="14303E"/>
                          </a:solidFill>
                          <a:latin typeface="Arial"/>
                          <a:ea typeface="Arial"/>
                          <a:cs typeface="Arial"/>
                        </a:rPr>
                        <a:t>source_id</a:t>
                      </a:r>
                    </a:p>
                  </a:txBody>
                  <a:tcPr marL="133350" marR="133350" marT="114300" marB="114300" anchor="ctr">
                    <a:solidFill>
                      <a:srgbClr val="FFFFFF"/>
                    </a:solidFill>
                  </a:tcPr>
                </a:tc>
                <a:tc>
                  <a:txBody>
                    <a:bodyPr/>
                    <a:lstStyle/>
                    <a:p>
                      <a:r>
                        <a:rPr sz="1800" b="0">
                          <a:solidFill>
                            <a:srgbClr val="14303E"/>
                          </a:solidFill>
                          <a:latin typeface="Arial"/>
                          <a:ea typeface="Arial"/>
                          <a:cs typeface="Arial"/>
                        </a:rPr>
                        <a:t>Origine des articles</a:t>
                      </a:r>
                    </a:p>
                  </a:txBody>
                  <a:tcPr marL="133350" marR="133350" marT="114300" marB="114300" anchor="ctr">
                    <a:solidFill>
                      <a:srgbClr val="FFFFFF"/>
                    </a:solidFill>
                  </a:tcPr>
                </a:tc>
              </a:tr>
              <a:tr h="661035">
                <a:tc>
                  <a:txBody>
                    <a:bodyPr/>
                    <a:lstStyle/>
                    <a:p>
                      <a:r>
                        <a:rPr sz="1800" b="0">
                          <a:solidFill>
                            <a:srgbClr val="14303E"/>
                          </a:solidFill>
                          <a:latin typeface="Arial"/>
                          <a:ea typeface="Arial"/>
                          <a:cs typeface="Arial"/>
                        </a:rPr>
                        <a:t>runs</a:t>
                      </a:r>
                    </a:p>
                  </a:txBody>
                  <a:tcPr marL="133350" marR="133350" marT="114300" marB="114300" anchor="ctr">
                    <a:solidFill>
                      <a:srgbClr val="F4F7F9"/>
                    </a:solidFill>
                  </a:tcPr>
                </a:tc>
                <a:tc>
                  <a:txBody>
                    <a:bodyPr/>
                    <a:lstStyle/>
                    <a:p>
                      <a:r>
                        <a:rPr sz="1800" b="0">
                          <a:solidFill>
                            <a:srgbClr val="14303E"/>
                          </a:solidFill>
                          <a:latin typeface="Arial"/>
                          <a:ea typeface="Arial"/>
                          <a:cs typeface="Arial"/>
                        </a:rPr>
                        <a:t>run_id</a:t>
                      </a:r>
                    </a:p>
                  </a:txBody>
                  <a:tcPr marL="133350" marR="133350" marT="114300" marB="114300" anchor="ctr">
                    <a:solidFill>
                      <a:srgbClr val="F4F7F9"/>
                    </a:solidFill>
                  </a:tcPr>
                </a:tc>
                <a:tc>
                  <a:txBody>
                    <a:bodyPr/>
                    <a:lstStyle/>
                    <a:p>
                      <a:r>
                        <a:rPr sz="1800" b="0">
                          <a:solidFill>
                            <a:srgbClr val="14303E"/>
                          </a:solidFill>
                          <a:latin typeface="Arial"/>
                          <a:ea typeface="Arial"/>
                          <a:cs typeface="Arial"/>
                        </a:rPr>
                        <a:t>Exécution et point de reprise</a:t>
                      </a:r>
                    </a:p>
                  </a:txBody>
                  <a:tcPr marL="133350" marR="133350" marT="114300" marB="114300" anchor="ctr">
                    <a:solidFill>
                      <a:srgbClr val="F4F7F9"/>
                    </a:solidFill>
                  </a:tcPr>
                </a:tc>
              </a:tr>
              <a:tr h="661035">
                <a:tc>
                  <a:txBody>
                    <a:bodyPr/>
                    <a:lstStyle/>
                    <a:p>
                      <a:r>
                        <a:rPr sz="1800" b="0">
                          <a:solidFill>
                            <a:srgbClr val="14303E"/>
                          </a:solidFill>
                          <a:latin typeface="Arial"/>
                          <a:ea typeface="Arial"/>
                          <a:cs typeface="Arial"/>
                        </a:rPr>
                        <a:t>articles</a:t>
                      </a:r>
                    </a:p>
                  </a:txBody>
                  <a:tcPr marL="133350" marR="133350" marT="114300" marB="114300" anchor="ctr">
                    <a:solidFill>
                      <a:srgbClr val="FFFFFF"/>
                    </a:solidFill>
                  </a:tcPr>
                </a:tc>
                <a:tc>
                  <a:txBody>
                    <a:bodyPr/>
                    <a:lstStyle/>
                    <a:p>
                      <a:r>
                        <a:rPr sz="1800" b="0">
                          <a:solidFill>
                            <a:srgbClr val="14303E"/>
                          </a:solidFill>
                          <a:latin typeface="Arial"/>
                          <a:ea typeface="Arial"/>
                          <a:cs typeface="Arial"/>
                        </a:rPr>
                        <a:t>article_id, source_id, run_id</a:t>
                      </a:r>
                    </a:p>
                  </a:txBody>
                  <a:tcPr marL="133350" marR="133350" marT="114300" marB="114300" anchor="ctr">
                    <a:solidFill>
                      <a:srgbClr val="FFFFFF"/>
                    </a:solidFill>
                  </a:tcPr>
                </a:tc>
                <a:tc>
                  <a:txBody>
                    <a:bodyPr/>
                    <a:lstStyle/>
                    <a:p>
                      <a:r>
                        <a:rPr sz="1800" b="0">
                          <a:solidFill>
                            <a:srgbClr val="14303E"/>
                          </a:solidFill>
                          <a:latin typeface="Arial"/>
                          <a:ea typeface="Arial"/>
                          <a:cs typeface="Arial"/>
                        </a:rPr>
                        <a:t>Dates et empreinte du contenu</a:t>
                      </a:r>
                    </a:p>
                  </a:txBody>
                  <a:tcPr marL="133350" marR="133350" marT="114300" marB="114300" anchor="ctr">
                    <a:solidFill>
                      <a:srgbClr val="FFFFFF"/>
                    </a:solidFill>
                  </a:tcPr>
                </a:tc>
              </a:tr>
              <a:tr h="661035">
                <a:tc>
                  <a:txBody>
                    <a:bodyPr/>
                    <a:lstStyle/>
                    <a:p>
                      <a:r>
                        <a:rPr sz="1800" b="0">
                          <a:solidFill>
                            <a:srgbClr val="14303E"/>
                          </a:solidFill>
                          <a:latin typeface="Arial"/>
                          <a:ea typeface="Arial"/>
                          <a:cs typeface="Arial"/>
                        </a:rPr>
                        <a:t>article_revisions</a:t>
                      </a:r>
                    </a:p>
                  </a:txBody>
                  <a:tcPr marL="133350" marR="133350" marT="114300" marB="114300" anchor="ctr">
                    <a:solidFill>
                      <a:srgbClr val="F4F7F9"/>
                    </a:solidFill>
                  </a:tcPr>
                </a:tc>
                <a:tc>
                  <a:txBody>
                    <a:bodyPr/>
                    <a:lstStyle/>
                    <a:p>
                      <a:r>
                        <a:rPr sz="1800" b="0">
                          <a:solidFill>
                            <a:srgbClr val="14303E"/>
                          </a:solidFill>
                          <a:latin typeface="Arial"/>
                          <a:ea typeface="Arial"/>
                          <a:cs typeface="Arial"/>
                        </a:rPr>
                        <a:t>article_id + content_sha256</a:t>
                      </a:r>
                    </a:p>
                  </a:txBody>
                  <a:tcPr marL="133350" marR="133350" marT="114300" marB="114300" anchor="ctr">
                    <a:solidFill>
                      <a:srgbClr val="F4F7F9"/>
                    </a:solidFill>
                  </a:tcPr>
                </a:tc>
                <a:tc>
                  <a:txBody>
                    <a:bodyPr/>
                    <a:lstStyle/>
                    <a:p>
                      <a:r>
                        <a:rPr sz="1800" b="0">
                          <a:solidFill>
                            <a:srgbClr val="14303E"/>
                          </a:solidFill>
                          <a:latin typeface="Arial"/>
                          <a:ea typeface="Arial"/>
                          <a:cs typeface="Arial"/>
                        </a:rPr>
                        <a:t>Métadonnées précédentes</a:t>
                      </a:r>
                    </a:p>
                  </a:txBody>
                  <a:tcPr marL="133350" marR="133350" marT="114300" marB="114300" anchor="ctr">
                    <a:solidFill>
                      <a:srgbClr val="F4F7F9"/>
                    </a:solidFill>
                  </a:tcPr>
                </a:tc>
              </a:tr>
            </a:tbl>
          </a:graphicData>
        </a:graphic>
      </p:graphicFrame>
      <p:sp>
        <p:nvSpPr>
          <p:cNvPr id="4" name="">
            <a:extLst xmlns:a="http://schemas.openxmlformats.org/drawingml/2006/main">
              <a:ext uri="{FF2B5EF4-FFF2-40B4-BE49-F238E27FC236}">
                <a16:creationId xmlns:a16="http://schemas.microsoft.com/office/drawing/2014/main" id="{6720EE03-B608-479C-B6E6-0D16DE954789}"/>
              </a:ext>
            </a:extLst>
          </p:cNvPr>
          <p:cNvSpPr>
            <a:spLocks xmlns:a="http://schemas.openxmlformats.org/drawingml/2006/main" noGrp="1"/>
          </p:cNvSpPr>
          <p:nvPr/>
        </p:nvSpPr>
        <p:spPr>
          <a:xfrm xmlns:a="http://schemas.openxmlformats.org/drawingml/2006/main">
            <a:off x="609600" y="51244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0795F"/>
                </a:solidFill>
                <a:latin typeface="Arial"/>
                <a:ea typeface="Arial"/>
                <a:cs typeface="Arial"/>
              </a:defRPr>
            </a:pPr>
            <a:r>
              <a:rPr sz="2025" b="1">
                <a:solidFill>
                  <a:srgbClr val="10795F"/>
                </a:solidFill>
                <a:latin typeface="Arial"/>
                <a:ea typeface="Arial"/>
                <a:cs typeface="Arial"/>
              </a:rPr>
              <a:t>MongoDB conserve le JSON et les révisions du texte chiffré</a:t>
            </a:r>
          </a:p>
        </p:txBody>
      </p:sp>
      <p:sp>
        <p:nvSpPr>
          <p:cNvPr id="5" name="">
            <a:extLst xmlns:a="http://schemas.openxmlformats.org/drawingml/2006/main">
              <a:ext uri="{FF2B5EF4-FFF2-40B4-BE49-F238E27FC236}">
                <a16:creationId xmlns:a16="http://schemas.microsoft.com/office/drawing/2014/main" id="{CE6EAC90-2794-43EE-8552-974566688E6A}"/>
              </a:ext>
            </a:extLst>
          </p:cNvPr>
          <p:cNvSpPr>
            <a:spLocks xmlns:a="http://schemas.openxmlformats.org/drawingml/2006/main" noGrp="1"/>
          </p:cNvSpPr>
          <p:nvPr/>
        </p:nvSpPr>
        <p:spPr>
          <a:xfrm xmlns:a="http://schemas.openxmlformats.org/drawingml/2006/main">
            <a:off x="609600" y="5619750"/>
            <a:ext cx="10972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4303E"/>
                </a:solidFill>
                <a:latin typeface="Arial"/>
                <a:ea typeface="Arial"/>
                <a:cs typeface="Arial"/>
              </a:defRPr>
            </a:pPr>
            <a:r>
              <a:rPr sz="1800" b="0">
                <a:solidFill>
                  <a:srgbClr val="14303E"/>
                </a:solidFill>
                <a:latin typeface="Arial"/>
                <a:ea typeface="Arial"/>
                <a:cs typeface="Arial"/>
              </a:rPr>
              <a:t>Identifiant et empreinte communs. Le rejeu évite les doublons.</a:t>
            </a:r>
          </a:p>
          <a:p xmlns:a="http://schemas.openxmlformats.org/drawingml/2006/main">
            <a:pPr>
              <a:buNone/>
              <a:defRPr sz="1800" b="0">
                <a:solidFill>
                  <a:srgbClr val="14303E"/>
                </a:solidFill>
                <a:latin typeface="Arial"/>
                <a:ea typeface="Arial"/>
                <a:cs typeface="Arial"/>
              </a:defRPr>
            </a:pPr>
            <a:r>
              <a:rPr sz="1800" b="0">
                <a:solidFill>
                  <a:srgbClr val="14303E"/>
                </a:solidFill>
                <a:latin typeface="Arial"/>
                <a:ea typeface="Arial"/>
                <a:cs typeface="Arial"/>
              </a:rPr>
              <a:t>Le registre erasures conserve les exclusions après effacement.</a:t>
            </a:r>
          </a:p>
        </p:txBody>
      </p:sp>
    </p:spTree>
    <p:extLst>
      <p:ext uri="{BB962C8B-B14F-4D97-AF65-F5344CB8AC3E}">
        <p14:creationId xmlns:p14="http://schemas.microsoft.com/office/powerpoint/2010/main" val="839428895"/>
      </p:ext>
    </p:extLst>
  </p:cSld>
</p:sld>
</file>

<file path=ppt/slides/slide4.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7C1F8AF-6B2B-4273-8F40-459C0EC2F8C7}"/>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4303E"/>
                </a:solidFill>
                <a:latin typeface="Arial"/>
                <a:ea typeface="Arial"/>
                <a:cs typeface="Arial"/>
              </a:defRPr>
            </a:pPr>
            <a:r>
              <a:rPr sz="3300" b="1">
                <a:solidFill>
                  <a:srgbClr val="14303E"/>
                </a:solidFill>
                <a:latin typeface="Arial"/>
                <a:ea typeface="Arial"/>
                <a:cs typeface="Arial"/>
              </a:rPr>
              <a:t>Sécurité et sauvegarde</a:t>
            </a:r>
          </a:p>
        </p:txBody>
      </p:sp>
      <p:sp>
        <p:nvSpPr>
          <p:cNvPr id="2" name="">
            <a:extLst xmlns:a="http://schemas.openxmlformats.org/drawingml/2006/main">
              <a:ext uri="{FF2B5EF4-FFF2-40B4-BE49-F238E27FC236}">
                <a16:creationId xmlns:a16="http://schemas.microsoft.com/office/drawing/2014/main" id="{B59D98CC-8A5E-4862-A10F-370A4D3B0991}"/>
              </a:ext>
            </a:extLst>
          </p:cNvPr>
          <p:cNvSpPr>
            <a:spLocks xmlns:a="http://schemas.openxmlformats.org/drawingml/2006/main" noGrp="1"/>
          </p:cNvSpPr>
          <p:nvPr/>
        </p:nvSpPr>
        <p:spPr>
          <a:xfrm xmlns:a="http://schemas.openxmlformats.org/drawingml/2006/main">
            <a:off x="609600" y="64389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26778"/>
                </a:solidFill>
                <a:latin typeface="Arial"/>
                <a:ea typeface="Arial"/>
                <a:cs typeface="Arial"/>
              </a:defRPr>
            </a:pPr>
            <a:r>
              <a:rPr sz="1125" b="0">
                <a:solidFill>
                  <a:srgbClr val="526778"/>
                </a:solidFill>
                <a:latin typeface="Arial"/>
                <a:ea typeface="Arial"/>
                <a:cs typeface="Arial"/>
              </a:rPr>
              <a:t>Edouard Cappaert · Bloc 2 · 18 octobre 2026 · 4 / 7</a:t>
            </a:r>
          </a:p>
        </p:txBody>
      </p:sp>
      <p:graphicFrame>
        <p:nvGraphicFramePr>
          <p:cNvPr id="7" name="">
            <a:extLst xmlns:a="http://schemas.openxmlformats.org/drawingml/2006/main">
              <a:ext uri="{FF2B5EF4-FFF2-40B4-BE49-F238E27FC236}">
                <a16:creationId xmlns:a16="http://schemas.microsoft.com/office/drawing/2014/main" id="{D97BEDE5-574C-49CC-A4C9-97C5AB07DFA2}"/>
              </a:ext>
            </a:extLst>
          </p:cNvPr>
          <p:cNvGraphicFramePr/>
          <p:nvPr/>
        </p:nvGraphicFramePr>
        <p:xfrm>
          <a:off xmlns:a="http://schemas.openxmlformats.org/drawingml/2006/main" x="609600" y="1562100"/>
          <a:ext xmlns:a="http://schemas.openxmlformats.org/drawingml/2006/main" cx="10972800" cy="4038600"/>
        </p:xfrm>
        <a:graphic xmlns:a="http://schemas.openxmlformats.org/drawingml/2006/main">
          <a:graphicData uri="http://schemas.openxmlformats.org/drawingml/2006/table">
            <a:tbl>
              <a:tblPr/>
              <a:tblGrid>
                <a:gridCol w="1952625"/>
                <a:gridCol w="4857750"/>
                <a:gridCol w="4162425"/>
              </a:tblGrid>
              <a:tr h="807720">
                <a:tc>
                  <a:txBody>
                    <a:bodyPr/>
                    <a:lstStyle/>
                    <a:p>
                      <a:r>
                        <a:rPr sz="1800" b="1">
                          <a:solidFill>
                            <a:srgbClr val="FFFFFF"/>
                          </a:solidFill>
                          <a:latin typeface="Arial"/>
                          <a:ea typeface="Arial"/>
                          <a:cs typeface="Arial"/>
                        </a:rPr>
                        <a:t>Protection</a:t>
                      </a:r>
                    </a:p>
                  </a:txBody>
                  <a:tcPr marL="133350" marR="133350" marT="114300" marB="114300" anchor="ctr">
                    <a:solidFill>
                      <a:srgbClr val="10795F"/>
                    </a:solidFill>
                  </a:tcPr>
                </a:tc>
                <a:tc>
                  <a:txBody>
                    <a:bodyPr/>
                    <a:lstStyle/>
                    <a:p>
                      <a:r>
                        <a:rPr sz="1800" b="1">
                          <a:solidFill>
                            <a:srgbClr val="FFFFFF"/>
                          </a:solidFill>
                          <a:latin typeface="Arial"/>
                          <a:ea typeface="Arial"/>
                          <a:cs typeface="Arial"/>
                        </a:rPr>
                        <a:t>Mécanisme livré</a:t>
                      </a:r>
                    </a:p>
                  </a:txBody>
                  <a:tcPr marL="133350" marR="133350" marT="114300" marB="114300" anchor="ctr">
                    <a:solidFill>
                      <a:srgbClr val="10795F"/>
                    </a:solidFill>
                  </a:tcPr>
                </a:tc>
                <a:tc>
                  <a:txBody>
                    <a:bodyPr/>
                    <a:lstStyle/>
                    <a:p>
                      <a:r>
                        <a:rPr sz="1800" b="1">
                          <a:solidFill>
                            <a:srgbClr val="FFFFFF"/>
                          </a:solidFill>
                          <a:latin typeface="Arial"/>
                          <a:ea typeface="Arial"/>
                          <a:cs typeface="Arial"/>
                        </a:rPr>
                        <a:t>Limite</a:t>
                      </a:r>
                    </a:p>
                  </a:txBody>
                  <a:tcPr marL="133350" marR="133350" marT="114300" marB="114300" anchor="ctr">
                    <a:solidFill>
                      <a:srgbClr val="10795F"/>
                    </a:solidFill>
                  </a:tcPr>
                </a:tc>
              </a:tr>
              <a:tr h="807720">
                <a:tc>
                  <a:txBody>
                    <a:bodyPr/>
                    <a:lstStyle/>
                    <a:p>
                      <a:r>
                        <a:rPr sz="1800" b="0">
                          <a:solidFill>
                            <a:srgbClr val="14303E"/>
                          </a:solidFill>
                          <a:latin typeface="Arial"/>
                          <a:ea typeface="Arial"/>
                          <a:cs typeface="Arial"/>
                        </a:rPr>
                        <a:t>Transport</a:t>
                      </a:r>
                    </a:p>
                  </a:txBody>
                  <a:tcPr marL="133350" marR="133350" marT="114300" marB="114300" anchor="ctr">
                    <a:solidFill>
                      <a:srgbClr val="FFFFFF"/>
                    </a:solidFill>
                  </a:tcPr>
                </a:tc>
                <a:tc>
                  <a:txBody>
                    <a:bodyPr/>
                    <a:lstStyle/>
                    <a:p>
                      <a:r>
                        <a:rPr sz="1800" b="0">
                          <a:solidFill>
                            <a:srgbClr val="14303E"/>
                          </a:solidFill>
                          <a:latin typeface="Arial"/>
                          <a:ea typeface="Arial"/>
                          <a:cs typeface="Arial"/>
                        </a:rPr>
                        <a:t>TLS vers les bases et API HTTPS</a:t>
                      </a:r>
                    </a:p>
                  </a:txBody>
                  <a:tcPr marL="133350" marR="133350" marT="114300" marB="114300" anchor="ctr">
                    <a:solidFill>
                      <a:srgbClr val="FFFFFF"/>
                    </a:solidFill>
                  </a:tcPr>
                </a:tc>
                <a:tc>
                  <a:txBody>
                    <a:bodyPr/>
                    <a:lstStyle/>
                    <a:p>
                      <a:r>
                        <a:rPr sz="1800" b="0">
                          <a:solidFill>
                            <a:srgbClr val="14303E"/>
                          </a:solidFill>
                          <a:latin typeface="Arial"/>
                          <a:ea typeface="Arial"/>
                          <a:cs typeface="Arial"/>
                        </a:rPr>
                        <a:t>Autorité de laboratoire locale</a:t>
                      </a:r>
                    </a:p>
                  </a:txBody>
                  <a:tcPr marL="133350" marR="133350" marT="114300" marB="114300" anchor="ctr">
                    <a:solidFill>
                      <a:srgbClr val="FFFFFF"/>
                    </a:solidFill>
                  </a:tcPr>
                </a:tc>
              </a:tr>
              <a:tr h="807720">
                <a:tc>
                  <a:txBody>
                    <a:bodyPr/>
                    <a:lstStyle/>
                    <a:p>
                      <a:r>
                        <a:rPr sz="1800" b="0">
                          <a:solidFill>
                            <a:srgbClr val="14303E"/>
                          </a:solidFill>
                          <a:latin typeface="Arial"/>
                          <a:ea typeface="Arial"/>
                          <a:cs typeface="Arial"/>
                        </a:rPr>
                        <a:t>Accès</a:t>
                      </a:r>
                    </a:p>
                  </a:txBody>
                  <a:tcPr marL="133350" marR="133350" marT="114300" marB="114300" anchor="ctr">
                    <a:solidFill>
                      <a:srgbClr val="F4F7F9"/>
                    </a:solidFill>
                  </a:tcPr>
                </a:tc>
                <a:tc>
                  <a:txBody>
                    <a:bodyPr/>
                    <a:lstStyle/>
                    <a:p>
                      <a:r>
                        <a:rPr sz="1800" b="0">
                          <a:solidFill>
                            <a:srgbClr val="14303E"/>
                          </a:solidFill>
                          <a:latin typeface="Arial"/>
                          <a:ea typeface="Arial"/>
                          <a:cs typeface="Arial"/>
                        </a:rPr>
                        <a:t>Rôles lecteur et écrivain séparés</a:t>
                      </a:r>
                    </a:p>
                  </a:txBody>
                  <a:tcPr marL="133350" marR="133350" marT="114300" marB="114300" anchor="ctr">
                    <a:solidFill>
                      <a:srgbClr val="F4F7F9"/>
                    </a:solidFill>
                  </a:tcPr>
                </a:tc>
                <a:tc>
                  <a:txBody>
                    <a:bodyPr/>
                    <a:lstStyle/>
                    <a:p>
                      <a:r>
                        <a:rPr sz="1800" b="0">
                          <a:solidFill>
                            <a:srgbClr val="14303E"/>
                          </a:solidFill>
                          <a:latin typeface="Arial"/>
                          <a:ea typeface="Arial"/>
                          <a:cs typeface="Arial"/>
                        </a:rPr>
                        <a:t>Administration locale puissante</a:t>
                      </a:r>
                    </a:p>
                  </a:txBody>
                  <a:tcPr marL="133350" marR="133350" marT="114300" marB="114300" anchor="ctr">
                    <a:solidFill>
                      <a:srgbClr val="F4F7F9"/>
                    </a:solidFill>
                  </a:tcPr>
                </a:tc>
              </a:tr>
              <a:tr h="807720">
                <a:tc>
                  <a:txBody>
                    <a:bodyPr/>
                    <a:lstStyle/>
                    <a:p>
                      <a:r>
                        <a:rPr sz="1800" b="0">
                          <a:solidFill>
                            <a:srgbClr val="14303E"/>
                          </a:solidFill>
                          <a:latin typeface="Arial"/>
                          <a:ea typeface="Arial"/>
                          <a:cs typeface="Arial"/>
                        </a:rPr>
                        <a:t>Textes</a:t>
                      </a:r>
                    </a:p>
                  </a:txBody>
                  <a:tcPr marL="133350" marR="133350" marT="114300" marB="114300" anchor="ctr">
                    <a:solidFill>
                      <a:srgbClr val="FFFFFF"/>
                    </a:solidFill>
                  </a:tcPr>
                </a:tc>
                <a:tc>
                  <a:txBody>
                    <a:bodyPr/>
                    <a:lstStyle/>
                    <a:p>
                      <a:r>
                        <a:rPr sz="1800" b="0">
                          <a:solidFill>
                            <a:srgbClr val="14303E"/>
                          </a:solidFill>
                          <a:latin typeface="Arial"/>
                          <a:ea typeface="Arial"/>
                          <a:cs typeface="Arial"/>
                        </a:rPr>
                        <a:t>Chiffrement AES-256-GCM</a:t>
                      </a:r>
                    </a:p>
                  </a:txBody>
                  <a:tcPr marL="133350" marR="133350" marT="114300" marB="114300" anchor="ctr">
                    <a:solidFill>
                      <a:srgbClr val="FFFFFF"/>
                    </a:solidFill>
                  </a:tcPr>
                </a:tc>
                <a:tc>
                  <a:txBody>
                    <a:bodyPr/>
                    <a:lstStyle/>
                    <a:p>
                      <a:r>
                        <a:rPr sz="1800" b="0">
                          <a:solidFill>
                            <a:srgbClr val="14303E"/>
                          </a:solidFill>
                          <a:latin typeface="Arial"/>
                          <a:ea typeface="Arial"/>
                          <a:cs typeface="Arial"/>
                        </a:rPr>
                        <a:t>Métadonnées partiellement protégées</a:t>
                      </a:r>
                    </a:p>
                  </a:txBody>
                  <a:tcPr marL="133350" marR="133350" marT="114300" marB="114300" anchor="ctr">
                    <a:solidFill>
                      <a:srgbClr val="FFFFFF"/>
                    </a:solidFill>
                  </a:tcPr>
                </a:tc>
              </a:tr>
              <a:tr h="807720">
                <a:tc>
                  <a:txBody>
                    <a:bodyPr/>
                    <a:lstStyle/>
                    <a:p>
                      <a:r>
                        <a:rPr sz="1800" b="0">
                          <a:solidFill>
                            <a:srgbClr val="14303E"/>
                          </a:solidFill>
                          <a:latin typeface="Arial"/>
                          <a:ea typeface="Arial"/>
                          <a:cs typeface="Arial"/>
                        </a:rPr>
                        <a:t>Sauvegarde</a:t>
                      </a:r>
                    </a:p>
                  </a:txBody>
                  <a:tcPr marL="133350" marR="133350" marT="114300" marB="114300" anchor="ctr">
                    <a:solidFill>
                      <a:srgbClr val="F4F7F9"/>
                    </a:solidFill>
                  </a:tcPr>
                </a:tc>
                <a:tc>
                  <a:txBody>
                    <a:bodyPr/>
                    <a:lstStyle/>
                    <a:p>
                      <a:r>
                        <a:rPr sz="1800" b="0">
                          <a:solidFill>
                            <a:srgbClr val="14303E"/>
                          </a:solidFill>
                          <a:latin typeface="Arial"/>
                          <a:ea typeface="Arial"/>
                          <a:cs typeface="Arial"/>
                        </a:rPr>
                        <a:t>Archive chiffrée et restauration testée</a:t>
                      </a:r>
                    </a:p>
                  </a:txBody>
                  <a:tcPr marL="133350" marR="133350" marT="114300" marB="114300" anchor="ctr">
                    <a:solidFill>
                      <a:srgbClr val="F4F7F9"/>
                    </a:solidFill>
                  </a:tcPr>
                </a:tc>
                <a:tc>
                  <a:txBody>
                    <a:bodyPr/>
                    <a:lstStyle/>
                    <a:p>
                      <a:r>
                        <a:rPr sz="1800" b="0">
                          <a:solidFill>
                            <a:srgbClr val="14303E"/>
                          </a:solidFill>
                          <a:latin typeface="Arial"/>
                          <a:ea typeface="Arial"/>
                          <a:cs typeface="Arial"/>
                        </a:rPr>
                        <a:t>Copie hors machine à organiser</a:t>
                      </a:r>
                    </a:p>
                  </a:txBody>
                  <a:tcPr marL="133350" marR="133350" marT="114300" marB="114300" anchor="ctr">
                    <a:solidFill>
                      <a:srgbClr val="F4F7F9"/>
                    </a:solidFill>
                  </a:tcPr>
                </a:tc>
              </a:tr>
            </a:tbl>
          </a:graphicData>
        </a:graphic>
      </p:graphicFrame>
      <p:sp>
        <p:nvSpPr>
          <p:cNvPr id="4" name="">
            <a:extLst xmlns:a="http://schemas.openxmlformats.org/drawingml/2006/main">
              <a:ext uri="{FF2B5EF4-FFF2-40B4-BE49-F238E27FC236}">
                <a16:creationId xmlns:a16="http://schemas.microsoft.com/office/drawing/2014/main" id="{AC724328-CC49-4665-B4A2-47E7C206A718}"/>
              </a:ext>
            </a:extLst>
          </p:cNvPr>
          <p:cNvSpPr>
            <a:spLocks xmlns:a="http://schemas.openxmlformats.org/drawingml/2006/main" noGrp="1"/>
          </p:cNvSpPr>
          <p:nvPr/>
        </p:nvSpPr>
        <p:spPr>
          <a:xfrm xmlns:a="http://schemas.openxmlformats.org/drawingml/2006/main">
            <a:off x="609600" y="5886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10795F"/>
                </a:solidFill>
                <a:latin typeface="Arial"/>
                <a:ea typeface="Arial"/>
                <a:cs typeface="Arial"/>
              </a:defRPr>
            </a:pPr>
            <a:r>
              <a:rPr sz="1875" b="1">
                <a:solidFill>
                  <a:srgbClr val="10795F"/>
                </a:solidFill>
                <a:latin typeface="Arial"/>
                <a:ea typeface="Arial"/>
                <a:cs typeface="Arial"/>
              </a:rPr>
              <a:t>Les secrets sont générés localement et exclus du dépôt</a:t>
            </a:r>
          </a:p>
        </p:txBody>
      </p:sp>
    </p:spTree>
    <p:extLst>
      <p:ext uri="{BB962C8B-B14F-4D97-AF65-F5344CB8AC3E}">
        <p14:creationId xmlns:p14="http://schemas.microsoft.com/office/powerpoint/2010/main" val="1780826256"/>
      </p:ext>
    </p:extLst>
  </p:cSld>
</p:sld>
</file>

<file path=ppt/slides/slide5.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AECF78-CA69-4EAC-9BBF-28CD07B713F2}"/>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4303E"/>
                </a:solidFill>
                <a:latin typeface="Arial"/>
                <a:ea typeface="Arial"/>
                <a:cs typeface="Arial"/>
              </a:defRPr>
            </a:pPr>
            <a:r>
              <a:rPr sz="3300" b="1">
                <a:solidFill>
                  <a:srgbClr val="14303E"/>
                </a:solidFill>
                <a:latin typeface="Arial"/>
                <a:ea typeface="Arial"/>
                <a:cs typeface="Arial"/>
              </a:rPr>
              <a:t>Mesures de charge et monitoring</a:t>
            </a:r>
          </a:p>
        </p:txBody>
      </p:sp>
      <p:sp>
        <p:nvSpPr>
          <p:cNvPr id="2" name="">
            <a:extLst xmlns:a="http://schemas.openxmlformats.org/drawingml/2006/main">
              <a:ext uri="{FF2B5EF4-FFF2-40B4-BE49-F238E27FC236}">
                <a16:creationId xmlns:a16="http://schemas.microsoft.com/office/drawing/2014/main" id="{AFC27C69-A4EA-412E-BAD5-FE9D95C49064}"/>
              </a:ext>
            </a:extLst>
          </p:cNvPr>
          <p:cNvSpPr>
            <a:spLocks xmlns:a="http://schemas.openxmlformats.org/drawingml/2006/main" noGrp="1"/>
          </p:cNvSpPr>
          <p:nvPr/>
        </p:nvSpPr>
        <p:spPr>
          <a:xfrm xmlns:a="http://schemas.openxmlformats.org/drawingml/2006/main">
            <a:off x="609600" y="64389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26778"/>
                </a:solidFill>
                <a:latin typeface="Arial"/>
                <a:ea typeface="Arial"/>
                <a:cs typeface="Arial"/>
              </a:defRPr>
            </a:pPr>
            <a:r>
              <a:rPr sz="1125" b="0">
                <a:solidFill>
                  <a:srgbClr val="526778"/>
                </a:solidFill>
                <a:latin typeface="Arial"/>
                <a:ea typeface="Arial"/>
                <a:cs typeface="Arial"/>
              </a:rPr>
              <a:t>Edouard Cappaert · Bloc 2 · 18 octobre 2026 · 5 / 7</a:t>
            </a:r>
          </a:p>
        </p:txBody>
      </p:sp>
      <p:graphicFrame>
        <p:nvGraphicFramePr>
          <p:cNvPr id="10" name="">
            <a:extLst xmlns:a="http://schemas.openxmlformats.org/drawingml/2006/main">
              <a:ext uri="{FF2B5EF4-FFF2-40B4-BE49-F238E27FC236}">
                <a16:creationId xmlns:a16="http://schemas.microsoft.com/office/drawing/2014/main" id="{5FB72528-F9D7-4CCF-9989-22EDD589D0BE}"/>
              </a:ext>
            </a:extLst>
          </p:cNvPr>
          <p:cNvGraphicFramePr/>
          <p:nvPr/>
        </p:nvGraphicFramePr>
        <p:xfrm>
          <a:off xmlns:a="http://schemas.openxmlformats.org/drawingml/2006/main" x="609600" y="1752600"/>
          <a:ext xmlns:a="http://schemas.openxmlformats.org/drawingml/2006/main" cx="5143500" cy="2762250"/>
        </p:xfrm>
        <a:graphic xmlns:a="http://schemas.openxmlformats.org/drawingml/2006/main">
          <a:graphicData uri="http://schemas.openxmlformats.org/drawingml/2006/table">
            <a:tbl>
              <a:tblPr/>
              <a:tblGrid>
                <a:gridCol w="2952750"/>
                <a:gridCol w="2190750"/>
              </a:tblGrid>
              <a:tr h="690563">
                <a:tc>
                  <a:txBody>
                    <a:bodyPr/>
                    <a:lstStyle/>
                    <a:p>
                      <a:r>
                        <a:rPr sz="2025" b="1">
                          <a:solidFill>
                            <a:srgbClr val="FFFFFF"/>
                          </a:solidFill>
                          <a:latin typeface="Arial"/>
                          <a:ea typeface="Arial"/>
                          <a:cs typeface="Arial"/>
                        </a:rPr>
                        <a:t>Lignes par base</a:t>
                      </a:r>
                    </a:p>
                  </a:txBody>
                  <a:tcPr marL="133350" marR="133350" marT="114300" marB="114300" anchor="ctr">
                    <a:solidFill>
                      <a:srgbClr val="10795F"/>
                    </a:solidFill>
                  </a:tcPr>
                </a:tc>
                <a:tc>
                  <a:txBody>
                    <a:bodyPr/>
                    <a:lstStyle/>
                    <a:p>
                      <a:r>
                        <a:rPr sz="2025" b="1">
                          <a:solidFill>
                            <a:srgbClr val="FFFFFF"/>
                          </a:solidFill>
                          <a:latin typeface="Arial"/>
                          <a:ea typeface="Arial"/>
                          <a:cs typeface="Arial"/>
                        </a:rPr>
                        <a:t>Ingestion</a:t>
                      </a:r>
                    </a:p>
                  </a:txBody>
                  <a:tcPr marL="133350" marR="133350" marT="114300" marB="114300" anchor="ctr">
                    <a:solidFill>
                      <a:srgbClr val="10795F"/>
                    </a:solidFill>
                  </a:tcPr>
                </a:tc>
              </a:tr>
              <a:tr h="690563">
                <a:tc>
                  <a:txBody>
                    <a:bodyPr/>
                    <a:lstStyle/>
                    <a:p>
                      <a:r>
                        <a:rPr sz="2025" b="0">
                          <a:solidFill>
                            <a:srgbClr val="14303E"/>
                          </a:solidFill>
                          <a:latin typeface="Arial"/>
                          <a:ea typeface="Arial"/>
                          <a:cs typeface="Arial"/>
                        </a:rPr>
                        <a:t>60 000</a:t>
                      </a:r>
                    </a:p>
                  </a:txBody>
                  <a:tcPr marL="133350" marR="133350" marT="114300" marB="114300" anchor="ctr">
                    <a:solidFill>
                      <a:srgbClr val="FFFFFF"/>
                    </a:solidFill>
                  </a:tcPr>
                </a:tc>
                <a:tc>
                  <a:txBody>
                    <a:bodyPr/>
                    <a:lstStyle/>
                    <a:p>
                      <a:r>
                        <a:rPr sz="2025" b="0">
                          <a:solidFill>
                            <a:srgbClr val="14303E"/>
                          </a:solidFill>
                          <a:latin typeface="Arial"/>
                          <a:ea typeface="Arial"/>
                          <a:cs typeface="Arial"/>
                        </a:rPr>
                        <a:t>3,528 s</a:t>
                      </a:r>
                    </a:p>
                  </a:txBody>
                  <a:tcPr marL="133350" marR="133350" marT="114300" marB="114300" anchor="ctr">
                    <a:solidFill>
                      <a:srgbClr val="FFFFFF"/>
                    </a:solidFill>
                  </a:tcPr>
                </a:tc>
              </a:tr>
              <a:tr h="690563">
                <a:tc>
                  <a:txBody>
                    <a:bodyPr/>
                    <a:lstStyle/>
                    <a:p>
                      <a:r>
                        <a:rPr sz="2025" b="0">
                          <a:solidFill>
                            <a:srgbClr val="14303E"/>
                          </a:solidFill>
                          <a:latin typeface="Arial"/>
                          <a:ea typeface="Arial"/>
                          <a:cs typeface="Arial"/>
                        </a:rPr>
                        <a:t>600 000</a:t>
                      </a:r>
                    </a:p>
                  </a:txBody>
                  <a:tcPr marL="133350" marR="133350" marT="114300" marB="114300" anchor="ctr">
                    <a:solidFill>
                      <a:srgbClr val="F4F7F9"/>
                    </a:solidFill>
                  </a:tcPr>
                </a:tc>
                <a:tc>
                  <a:txBody>
                    <a:bodyPr/>
                    <a:lstStyle/>
                    <a:p>
                      <a:r>
                        <a:rPr sz="2025" b="0">
                          <a:solidFill>
                            <a:srgbClr val="14303E"/>
                          </a:solidFill>
                          <a:latin typeface="Arial"/>
                          <a:ea typeface="Arial"/>
                          <a:cs typeface="Arial"/>
                        </a:rPr>
                        <a:t>34,318 s</a:t>
                      </a:r>
                    </a:p>
                  </a:txBody>
                  <a:tcPr marL="133350" marR="133350" marT="114300" marB="114300" anchor="ctr">
                    <a:solidFill>
                      <a:srgbClr val="F4F7F9"/>
                    </a:solidFill>
                  </a:tcPr>
                </a:tc>
              </a:tr>
              <a:tr h="690563">
                <a:tc>
                  <a:txBody>
                    <a:bodyPr/>
                    <a:lstStyle/>
                    <a:p>
                      <a:r>
                        <a:rPr sz="2025" b="0">
                          <a:solidFill>
                            <a:srgbClr val="14303E"/>
                          </a:solidFill>
                          <a:latin typeface="Arial"/>
                          <a:ea typeface="Arial"/>
                          <a:cs typeface="Arial"/>
                        </a:rPr>
                        <a:t>6 000 000</a:t>
                      </a:r>
                    </a:p>
                  </a:txBody>
                  <a:tcPr marL="133350" marR="133350" marT="114300" marB="114300" anchor="ctr">
                    <a:solidFill>
                      <a:srgbClr val="FFFFFF"/>
                    </a:solidFill>
                  </a:tcPr>
                </a:tc>
                <a:tc>
                  <a:txBody>
                    <a:bodyPr/>
                    <a:lstStyle/>
                    <a:p>
                      <a:r>
                        <a:rPr sz="2025" b="0">
                          <a:solidFill>
                            <a:srgbClr val="14303E"/>
                          </a:solidFill>
                          <a:latin typeface="Arial"/>
                          <a:ea typeface="Arial"/>
                          <a:cs typeface="Arial"/>
                        </a:rPr>
                        <a:t>324,236 s</a:t>
                      </a:r>
                    </a:p>
                  </a:txBody>
                  <a:tcPr marL="133350" marR="133350" marT="114300" marB="114300" anchor="ctr">
                    <a:solidFill>
                      <a:srgbClr val="FFFFFF"/>
                    </a:solidFill>
                  </a:tcPr>
                </a:tc>
              </a:tr>
            </a:tbl>
          </a:graphicData>
        </a:graphic>
      </p:graphicFrame>
      <p:pic>
        <p:nvPicPr>
          <p:cNvPr id="11" name="">
            <a:extLst xmlns:a="http://schemas.openxmlformats.org/drawingml/2006/main">
              <a:ext uri="{FF2B5EF4-FFF2-40B4-BE49-F238E27FC236}">
                <a16:creationId xmlns:a16="http://schemas.microsoft.com/office/drawing/2014/main" id="{0961B9F9-88D4-4F15-A0A8-1717F3A88EEF}"/>
              </a:ext>
            </a:extLst>
          </p:cNvPr>
          <p:cNvPicPr>
            <a:picLocks xmlns:a="http://schemas.openxmlformats.org/drawingml/2006/main" noChangeAspect="1"/>
          </p:cNvPicPr>
          <p:nvPr/>
        </p:nvPicPr>
        <p:blipFill>
          <a:blip xmlns:r="http://schemas.openxmlformats.org/officeDocument/2006/relationships" xmlns:a="http://schemas.openxmlformats.org/drawingml/2006/main" r:embed="R48f4c9cf8d14415a"/>
          <a:srcRect xmlns:a="http://schemas.openxmlformats.org/drawingml/2006/main" l="0" t="55" r="0" b="55"/>
          <a:stretch xmlns:a="http://schemas.openxmlformats.org/drawingml/2006/main">
            <a:fillRect l="0" t="0" r="0" b="0"/>
          </a:stretch>
        </p:blipFill>
        <p:spPr>
          <a:xfrm xmlns:a="http://schemas.openxmlformats.org/drawingml/2006/main">
            <a:off x="6134100" y="1731309"/>
            <a:ext cx="5448300" cy="320488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4966153-6791-47EB-8165-60A2F4C3660D}"/>
              </a:ext>
            </a:extLst>
          </p:cNvPr>
          <p:cNvSpPr>
            <a:spLocks xmlns:a="http://schemas.openxmlformats.org/drawingml/2006/main" noGrp="1"/>
          </p:cNvSpPr>
          <p:nvPr/>
        </p:nvSpPr>
        <p:spPr>
          <a:xfrm xmlns:a="http://schemas.openxmlformats.org/drawingml/2006/main">
            <a:off x="609600" y="476250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0795F"/>
                </a:solidFill>
                <a:latin typeface="Arial"/>
                <a:ea typeface="Arial"/>
                <a:cs typeface="Arial"/>
              </a:defRPr>
            </a:pPr>
            <a:r>
              <a:rPr sz="2025" b="1">
                <a:solidFill>
                  <a:srgbClr val="10795F"/>
                </a:solidFill>
                <a:latin typeface="Arial"/>
                <a:ea typeface="Arial"/>
                <a:cs typeface="Arial"/>
              </a:rPr>
              <a:t>PostgreSQL et MongoDB</a:t>
            </a:r>
          </a:p>
        </p:txBody>
      </p:sp>
      <p:sp>
        <p:nvSpPr>
          <p:cNvPr id="6" name="">
            <a:extLst xmlns:a="http://schemas.openxmlformats.org/drawingml/2006/main">
              <a:ext uri="{FF2B5EF4-FFF2-40B4-BE49-F238E27FC236}">
                <a16:creationId xmlns:a16="http://schemas.microsoft.com/office/drawing/2014/main" id="{E1615E29-F385-4490-B078-B0274AB07C0E}"/>
              </a:ext>
            </a:extLst>
          </p:cNvPr>
          <p:cNvSpPr>
            <a:spLocks xmlns:a="http://schemas.openxmlformats.org/drawingml/2006/main" noGrp="1"/>
          </p:cNvSpPr>
          <p:nvPr/>
        </p:nvSpPr>
        <p:spPr>
          <a:xfrm xmlns:a="http://schemas.openxmlformats.org/drawingml/2006/main">
            <a:off x="6134100" y="5172075"/>
            <a:ext cx="5448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0795F"/>
                </a:solidFill>
                <a:latin typeface="Arial"/>
                <a:ea typeface="Arial"/>
                <a:cs typeface="Arial"/>
              </a:defRPr>
            </a:pPr>
            <a:r>
              <a:rPr sz="1950" b="1">
                <a:solidFill>
                  <a:srgbClr val="10795F"/>
                </a:solidFill>
                <a:latin typeface="Arial"/>
                <a:ea typeface="Arial"/>
                <a:cs typeface="Arial"/>
              </a:rPr>
              <a:t>Surveillance locale et alertes</a:t>
            </a:r>
          </a:p>
        </p:txBody>
      </p:sp>
      <p:sp>
        <p:nvSpPr>
          <p:cNvPr id="7" name="">
            <a:extLst xmlns:a="http://schemas.openxmlformats.org/drawingml/2006/main">
              <a:ext uri="{FF2B5EF4-FFF2-40B4-BE49-F238E27FC236}">
                <a16:creationId xmlns:a16="http://schemas.microsoft.com/office/drawing/2014/main" id="{C62D966B-43A9-46F6-A022-B5CA72C7CD5F}"/>
              </a:ext>
            </a:extLst>
          </p:cNvPr>
          <p:cNvSpPr>
            <a:spLocks xmlns:a="http://schemas.openxmlformats.org/drawingml/2006/main" noGrp="1"/>
          </p:cNvSpPr>
          <p:nvPr/>
        </p:nvSpPr>
        <p:spPr>
          <a:xfrm xmlns:a="http://schemas.openxmlformats.org/drawingml/2006/main">
            <a:off x="609600" y="57435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778"/>
                </a:solidFill>
                <a:latin typeface="Arial"/>
                <a:ea typeface="Arial"/>
                <a:cs typeface="Arial"/>
              </a:defRPr>
            </a:pPr>
            <a:r>
              <a:rPr sz="1725" b="0">
                <a:solidFill>
                  <a:srgbClr val="526778"/>
                </a:solidFill>
                <a:latin typeface="Arial"/>
                <a:ea typeface="Arial"/>
                <a:cs typeface="Arial"/>
              </a:rPr>
              <a:t>Données synthétiques. Une exécution par taille.</a:t>
            </a:r>
          </a:p>
          <a:p xmlns:a="http://schemas.openxmlformats.org/drawingml/2006/main">
            <a:pPr>
              <a:buNone/>
              <a:defRPr sz="1725" b="0">
                <a:solidFill>
                  <a:srgbClr val="526778"/>
                </a:solidFill>
                <a:latin typeface="Arial"/>
                <a:ea typeface="Arial"/>
                <a:cs typeface="Arial"/>
              </a:defRPr>
            </a:pPr>
            <a:r>
              <a:rPr sz="1725" b="0">
                <a:solidFill>
                  <a:srgbClr val="526778"/>
                </a:solidFill>
                <a:latin typeface="Arial"/>
                <a:ea typeface="Arial"/>
                <a:cs typeface="Arial"/>
              </a:rPr>
              <a:t>Ces mesures excluent le scraping, le NER et Elasticsearch à ces volumes.</a:t>
            </a:r>
          </a:p>
        </p:txBody>
      </p:sp>
    </p:spTree>
    <p:extLst>
      <p:ext uri="{BB962C8B-B14F-4D97-AF65-F5344CB8AC3E}">
        <p14:creationId xmlns:p14="http://schemas.microsoft.com/office/powerpoint/2010/main" val="81193913"/>
      </p:ext>
    </p:extLst>
  </p:cSld>
</p:sld>
</file>

<file path=ppt/slides/slide6.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5BB37F5-25F1-4CC2-BF90-CA5EFA456B76}"/>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4303E"/>
                </a:solidFill>
                <a:latin typeface="Arial"/>
                <a:ea typeface="Arial"/>
                <a:cs typeface="Arial"/>
              </a:defRPr>
            </a:pPr>
            <a:r>
              <a:rPr sz="3300" b="1">
                <a:solidFill>
                  <a:srgbClr val="14303E"/>
                </a:solidFill>
                <a:latin typeface="Arial"/>
                <a:ea typeface="Arial"/>
                <a:cs typeface="Arial"/>
              </a:rPr>
              <a:t>Lecture pendant une panne des bases</a:t>
            </a:r>
          </a:p>
        </p:txBody>
      </p:sp>
      <p:sp>
        <p:nvSpPr>
          <p:cNvPr id="2" name="">
            <a:extLst xmlns:a="http://schemas.openxmlformats.org/drawingml/2006/main">
              <a:ext uri="{FF2B5EF4-FFF2-40B4-BE49-F238E27FC236}">
                <a16:creationId xmlns:a16="http://schemas.microsoft.com/office/drawing/2014/main" id="{69B31338-B996-4A42-86E6-2C21E2442595}"/>
              </a:ext>
            </a:extLst>
          </p:cNvPr>
          <p:cNvSpPr>
            <a:spLocks xmlns:a="http://schemas.openxmlformats.org/drawingml/2006/main" noGrp="1"/>
          </p:cNvSpPr>
          <p:nvPr/>
        </p:nvSpPr>
        <p:spPr>
          <a:xfrm xmlns:a="http://schemas.openxmlformats.org/drawingml/2006/main">
            <a:off x="609600" y="64389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26778"/>
                </a:solidFill>
                <a:latin typeface="Arial"/>
                <a:ea typeface="Arial"/>
                <a:cs typeface="Arial"/>
              </a:defRPr>
            </a:pPr>
            <a:r>
              <a:rPr sz="1125" b="0">
                <a:solidFill>
                  <a:srgbClr val="526778"/>
                </a:solidFill>
                <a:latin typeface="Arial"/>
                <a:ea typeface="Arial"/>
                <a:cs typeface="Arial"/>
              </a:rPr>
              <a:t>Edouard Cappaert · Bloc 2 · 18 octobre 2026 · 6 / 7</a:t>
            </a:r>
          </a:p>
        </p:txBody>
      </p:sp>
      <p:pic>
        <p:nvPicPr>
          <p:cNvPr id="12" name="">
            <a:extLst xmlns:a="http://schemas.openxmlformats.org/drawingml/2006/main">
              <a:ext uri="{FF2B5EF4-FFF2-40B4-BE49-F238E27FC236}">
                <a16:creationId xmlns:a16="http://schemas.microsoft.com/office/drawing/2014/main" id="{7172C26E-8FCF-49C2-A187-B5E1F4764AF1}"/>
              </a:ext>
            </a:extLst>
          </p:cNvPr>
          <p:cNvPicPr>
            <a:picLocks xmlns:a="http://schemas.openxmlformats.org/drawingml/2006/main" noChangeAspect="1"/>
          </p:cNvPicPr>
          <p:nvPr/>
        </p:nvPicPr>
        <p:blipFill>
          <a:blip xmlns:r="http://schemas.openxmlformats.org/officeDocument/2006/relationships" xmlns:a="http://schemas.openxmlformats.org/drawingml/2006/main" r:embed="Rd2547accf3a64a72"/>
          <a:stretch xmlns:a="http://schemas.openxmlformats.org/drawingml/2006/main"/>
        </p:blipFill>
        <p:spPr>
          <a:xfrm xmlns:a="http://schemas.openxmlformats.org/drawingml/2006/main">
            <a:off x="609600" y="2043113"/>
            <a:ext cx="6858000" cy="2428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1834F20-11FD-4A39-B2D8-47811479D2A4}"/>
              </a:ext>
            </a:extLst>
          </p:cNvPr>
          <p:cNvSpPr>
            <a:spLocks xmlns:a="http://schemas.openxmlformats.org/drawingml/2006/main" noGrp="1"/>
          </p:cNvSpPr>
          <p:nvPr/>
        </p:nvSpPr>
        <p:spPr>
          <a:xfrm xmlns:a="http://schemas.openxmlformats.org/drawingml/2006/main">
            <a:off x="609600" y="4972050"/>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10795F"/>
                </a:solidFill>
                <a:latin typeface="Arial"/>
                <a:ea typeface="Arial"/>
                <a:cs typeface="Arial"/>
              </a:defRPr>
            </a:pPr>
            <a:r>
              <a:rPr sz="1875" b="1">
                <a:solidFill>
                  <a:srgbClr val="10795F"/>
                </a:solidFill>
                <a:latin typeface="Arial"/>
                <a:ea typeface="Arial"/>
                <a:cs typeface="Arial"/>
              </a:rPr>
              <a:t>Article 2035207</a:t>
            </a:r>
          </a:p>
        </p:txBody>
      </p:sp>
      <p:sp>
        <p:nvSpPr>
          <p:cNvPr id="5" name="">
            <a:extLst xmlns:a="http://schemas.openxmlformats.org/drawingml/2006/main">
              <a:ext uri="{FF2B5EF4-FFF2-40B4-BE49-F238E27FC236}">
                <a16:creationId xmlns:a16="http://schemas.microsoft.com/office/drawing/2014/main" id="{CF106148-9152-46B6-B103-3C96F53D10C4}"/>
              </a:ext>
            </a:extLst>
          </p:cNvPr>
          <p:cNvSpPr>
            <a:spLocks xmlns:a="http://schemas.openxmlformats.org/drawingml/2006/main" noGrp="1"/>
          </p:cNvSpPr>
          <p:nvPr/>
        </p:nvSpPr>
        <p:spPr>
          <a:xfrm xmlns:a="http://schemas.openxmlformats.org/drawingml/2006/main">
            <a:off x="609600" y="5381625"/>
            <a:ext cx="685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303E"/>
                </a:solidFill>
                <a:latin typeface="Arial"/>
                <a:ea typeface="Arial"/>
                <a:cs typeface="Arial"/>
              </a:defRPr>
            </a:pPr>
            <a:r>
              <a:rPr sz="1725" b="0">
                <a:solidFill>
                  <a:srgbClr val="14303E"/>
                </a:solidFill>
                <a:latin typeface="Arial"/>
                <a:ea typeface="Arial"/>
                <a:cs typeface="Arial"/>
              </a:rPr>
              <a:t>Mode : degraded_index_snapshot</a:t>
            </a:r>
          </a:p>
        </p:txBody>
      </p:sp>
      <p:sp>
        <p:nvSpPr>
          <p:cNvPr id="6" name="">
            <a:extLst xmlns:a="http://schemas.openxmlformats.org/drawingml/2006/main">
              <a:ext uri="{FF2B5EF4-FFF2-40B4-BE49-F238E27FC236}">
                <a16:creationId xmlns:a16="http://schemas.microsoft.com/office/drawing/2014/main" id="{C91B91FB-A6A5-4AA2-88F2-227F9EA511F0}"/>
              </a:ext>
            </a:extLst>
          </p:cNvPr>
          <p:cNvSpPr>
            <a:spLocks xmlns:a="http://schemas.openxmlformats.org/drawingml/2006/main" noGrp="1"/>
          </p:cNvSpPr>
          <p:nvPr/>
        </p:nvSpPr>
        <p:spPr>
          <a:xfrm xmlns:a="http://schemas.openxmlformats.org/drawingml/2006/main">
            <a:off x="7848600" y="1762125"/>
            <a:ext cx="3733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4303E"/>
                </a:solidFill>
                <a:latin typeface="Arial"/>
                <a:ea typeface="Arial"/>
                <a:cs typeface="Arial"/>
              </a:defRPr>
            </a:pPr>
            <a:r>
              <a:rPr sz="2100" b="1">
                <a:solidFill>
                  <a:srgbClr val="14303E"/>
                </a:solidFill>
                <a:latin typeface="Arial"/>
                <a:ea typeface="Arial"/>
                <a:cs typeface="Arial"/>
              </a:rPr>
              <a:t>PostgreSQL et MongoDB arrêtés</a:t>
            </a:r>
          </a:p>
        </p:txBody>
      </p:sp>
      <p:sp>
        <p:nvSpPr>
          <p:cNvPr id="7" name="">
            <a:extLst xmlns:a="http://schemas.openxmlformats.org/drawingml/2006/main">
              <a:ext uri="{FF2B5EF4-FFF2-40B4-BE49-F238E27FC236}">
                <a16:creationId xmlns:a16="http://schemas.microsoft.com/office/drawing/2014/main" id="{5682C39B-8A3B-4D43-8076-1638C6B544C0}"/>
              </a:ext>
            </a:extLst>
          </p:cNvPr>
          <p:cNvSpPr>
            <a:spLocks xmlns:a="http://schemas.openxmlformats.org/drawingml/2006/main" noGrp="1"/>
          </p:cNvSpPr>
          <p:nvPr/>
        </p:nvSpPr>
        <p:spPr>
          <a:xfrm xmlns:a="http://schemas.openxmlformats.org/drawingml/2006/main">
            <a:off x="7848600" y="2990850"/>
            <a:ext cx="3733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0795F"/>
                </a:solidFill>
                <a:latin typeface="Arial"/>
                <a:ea typeface="Arial"/>
                <a:cs typeface="Arial"/>
              </a:defRPr>
            </a:pPr>
            <a:r>
              <a:rPr sz="2025" b="1">
                <a:solidFill>
                  <a:srgbClr val="10795F"/>
                </a:solidFill>
                <a:latin typeface="Arial"/>
                <a:ea typeface="Arial"/>
                <a:cs typeface="Arial"/>
              </a:rPr>
              <a:t>L’application lit le même article</a:t>
            </a:r>
          </a:p>
          <a:p xmlns:a="http://schemas.openxmlformats.org/drawingml/2006/main">
            <a:pPr>
              <a:buNone/>
              <a:defRPr sz="2025" b="1">
                <a:solidFill>
                  <a:srgbClr val="10795F"/>
                </a:solidFill>
                <a:latin typeface="Arial"/>
                <a:ea typeface="Arial"/>
                <a:cs typeface="Arial"/>
              </a:defRPr>
            </a:pPr>
            <a:r>
              <a:rPr sz="2025" b="1">
                <a:solidFill>
                  <a:srgbClr val="10795F"/>
                </a:solidFill>
                <a:latin typeface="Arial"/>
                <a:ea typeface="Arial"/>
                <a:cs typeface="Arial"/>
              </a:rPr>
              <a:t>depuis le dernier index</a:t>
            </a:r>
          </a:p>
        </p:txBody>
      </p:sp>
      <p:sp>
        <p:nvSpPr>
          <p:cNvPr id="8" name="">
            <a:extLst xmlns:a="http://schemas.openxmlformats.org/drawingml/2006/main">
              <a:ext uri="{FF2B5EF4-FFF2-40B4-BE49-F238E27FC236}">
                <a16:creationId xmlns:a16="http://schemas.microsoft.com/office/drawing/2014/main" id="{B6AE3689-5558-433F-B3E9-1B752224E26E}"/>
              </a:ext>
            </a:extLst>
          </p:cNvPr>
          <p:cNvSpPr>
            <a:spLocks xmlns:a="http://schemas.openxmlformats.org/drawingml/2006/main" noGrp="1"/>
          </p:cNvSpPr>
          <p:nvPr/>
        </p:nvSpPr>
        <p:spPr>
          <a:xfrm xmlns:a="http://schemas.openxmlformats.org/drawingml/2006/main">
            <a:off x="7848600" y="4619625"/>
            <a:ext cx="3733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303E"/>
                </a:solidFill>
                <a:latin typeface="Arial"/>
                <a:ea typeface="Arial"/>
                <a:cs typeface="Arial"/>
              </a:defRPr>
            </a:pPr>
            <a:r>
              <a:rPr sz="1875" b="0">
                <a:solidFill>
                  <a:srgbClr val="14303E"/>
                </a:solidFill>
                <a:latin typeface="Arial"/>
                <a:ea typeface="Arial"/>
                <a:cs typeface="Arial"/>
              </a:rPr>
              <a:t>Après redémarrage,</a:t>
            </a:r>
          </a:p>
          <a:p xmlns:a="http://schemas.openxmlformats.org/drawingml/2006/main">
            <a:pPr>
              <a:buNone/>
              <a:defRPr sz="1875" b="0">
                <a:solidFill>
                  <a:srgbClr val="14303E"/>
                </a:solidFill>
                <a:latin typeface="Arial"/>
                <a:ea typeface="Arial"/>
                <a:cs typeface="Arial"/>
              </a:defRPr>
            </a:pPr>
            <a:r>
              <a:rPr sz="1875" b="0">
                <a:solidFill>
                  <a:srgbClr val="14303E"/>
                </a:solidFill>
                <a:latin typeface="Arial"/>
                <a:ea typeface="Arial"/>
                <a:cs typeface="Arial"/>
              </a:rPr>
              <a:t>la lecture primaire revient</a:t>
            </a:r>
          </a:p>
        </p:txBody>
      </p:sp>
      <p:sp>
        <p:nvSpPr>
          <p:cNvPr id="9" name="">
            <a:extLst xmlns:a="http://schemas.openxmlformats.org/drawingml/2006/main">
              <a:ext uri="{FF2B5EF4-FFF2-40B4-BE49-F238E27FC236}">
                <a16:creationId xmlns:a16="http://schemas.microsoft.com/office/drawing/2014/main" id="{8BE9B8C8-0EE6-4A33-B25B-36AFFCFB8841}"/>
              </a:ext>
            </a:extLst>
          </p:cNvPr>
          <p:cNvSpPr>
            <a:spLocks xmlns:a="http://schemas.openxmlformats.org/drawingml/2006/main" noGrp="1"/>
          </p:cNvSpPr>
          <p:nvPr/>
        </p:nvSpPr>
        <p:spPr>
          <a:xfrm xmlns:a="http://schemas.openxmlformats.org/drawingml/2006/main">
            <a:off x="609600" y="58959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26778"/>
                </a:solidFill>
                <a:latin typeface="Arial"/>
                <a:ea typeface="Arial"/>
                <a:cs typeface="Arial"/>
              </a:defRPr>
            </a:pPr>
            <a:r>
              <a:rPr sz="1800" b="0">
                <a:solidFill>
                  <a:srgbClr val="526778"/>
                </a:solidFill>
                <a:latin typeface="Arial"/>
                <a:ea typeface="Arial"/>
                <a:cs typeface="Arial"/>
              </a:rPr>
              <a:t>Continuité de lecture sur le même hôte. La fraîcheur dépend du dernier index.</a:t>
            </a:r>
          </a:p>
        </p:txBody>
      </p:sp>
    </p:spTree>
    <p:extLst>
      <p:ext uri="{BB962C8B-B14F-4D97-AF65-F5344CB8AC3E}">
        <p14:creationId xmlns:p14="http://schemas.microsoft.com/office/powerpoint/2010/main" val="298133758"/>
      </p:ext>
    </p:extLst>
  </p:cSld>
</p:sld>
</file>

<file path=ppt/slides/slide7.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1F5CF93-6136-4403-ABBE-A2E9AE4438EA}"/>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4303E"/>
                </a:solidFill>
                <a:latin typeface="Arial"/>
                <a:ea typeface="Arial"/>
                <a:cs typeface="Arial"/>
              </a:defRPr>
            </a:pPr>
            <a:r>
              <a:rPr sz="3300" b="1">
                <a:solidFill>
                  <a:srgbClr val="14303E"/>
                </a:solidFill>
                <a:latin typeface="Arial"/>
                <a:ea typeface="Arial"/>
                <a:cs typeface="Arial"/>
              </a:rPr>
              <a:t>Résultats et limites du prototype</a:t>
            </a:r>
          </a:p>
        </p:txBody>
      </p:sp>
      <p:sp>
        <p:nvSpPr>
          <p:cNvPr id="2" name="">
            <a:extLst xmlns:a="http://schemas.openxmlformats.org/drawingml/2006/main">
              <a:ext uri="{FF2B5EF4-FFF2-40B4-BE49-F238E27FC236}">
                <a16:creationId xmlns:a16="http://schemas.microsoft.com/office/drawing/2014/main" id="{86C72B25-02A7-488B-887E-9AF14BF4FC2F}"/>
              </a:ext>
            </a:extLst>
          </p:cNvPr>
          <p:cNvSpPr>
            <a:spLocks xmlns:a="http://schemas.openxmlformats.org/drawingml/2006/main" noGrp="1"/>
          </p:cNvSpPr>
          <p:nvPr/>
        </p:nvSpPr>
        <p:spPr>
          <a:xfrm xmlns:a="http://schemas.openxmlformats.org/drawingml/2006/main">
            <a:off x="609600" y="64389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26778"/>
                </a:solidFill>
                <a:latin typeface="Arial"/>
                <a:ea typeface="Arial"/>
                <a:cs typeface="Arial"/>
              </a:defRPr>
            </a:pPr>
            <a:r>
              <a:rPr sz="1125" b="0">
                <a:solidFill>
                  <a:srgbClr val="526778"/>
                </a:solidFill>
                <a:latin typeface="Arial"/>
                <a:ea typeface="Arial"/>
                <a:cs typeface="Arial"/>
              </a:rPr>
              <a:t>Edouard Cappaert · Bloc 2 · 18 octobre 2026 · 7 / 7</a:t>
            </a:r>
          </a:p>
        </p:txBody>
      </p:sp>
      <p:sp>
        <p:nvSpPr>
          <p:cNvPr id="3" name="">
            <a:extLst xmlns:a="http://schemas.openxmlformats.org/drawingml/2006/main">
              <a:ext uri="{FF2B5EF4-FFF2-40B4-BE49-F238E27FC236}">
                <a16:creationId xmlns:a16="http://schemas.microsoft.com/office/drawing/2014/main" id="{6594CD3C-E4DC-417E-8485-A788E286E236}"/>
              </a:ext>
            </a:extLst>
          </p:cNvPr>
          <p:cNvSpPr>
            <a:spLocks xmlns:a="http://schemas.openxmlformats.org/drawingml/2006/main" noGrp="1"/>
          </p:cNvSpPr>
          <p:nvPr/>
        </p:nvSpPr>
        <p:spPr>
          <a:xfrm xmlns:a="http://schemas.openxmlformats.org/drawingml/2006/main">
            <a:off x="609600" y="16383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0795F"/>
                </a:solidFill>
                <a:latin typeface="Arial"/>
                <a:ea typeface="Arial"/>
                <a:cs typeface="Arial"/>
              </a:defRPr>
            </a:pPr>
            <a:r>
              <a:rPr sz="2400" b="1">
                <a:solidFill>
                  <a:srgbClr val="10795F"/>
                </a:solidFill>
                <a:latin typeface="Arial"/>
                <a:ea typeface="Arial"/>
                <a:cs typeface="Arial"/>
              </a:rPr>
              <a:t>Démontré sur le poste local</a:t>
            </a:r>
          </a:p>
        </p:txBody>
      </p:sp>
      <p:sp>
        <p:nvSpPr>
          <p:cNvPr id="4" name="">
            <a:extLst xmlns:a="http://schemas.openxmlformats.org/drawingml/2006/main">
              <a:ext uri="{FF2B5EF4-FFF2-40B4-BE49-F238E27FC236}">
                <a16:creationId xmlns:a16="http://schemas.microsoft.com/office/drawing/2014/main" id="{12775F86-E5E8-4524-99E9-BCC9577C3C7A}"/>
              </a:ext>
            </a:extLst>
          </p:cNvPr>
          <p:cNvSpPr>
            <a:spLocks xmlns:a="http://schemas.openxmlformats.org/drawingml/2006/main" noGrp="1"/>
          </p:cNvSpPr>
          <p:nvPr/>
        </p:nvSpPr>
        <p:spPr>
          <a:xfrm xmlns:a="http://schemas.openxmlformats.org/drawingml/2006/main">
            <a:off x="609600" y="2305050"/>
            <a:ext cx="109728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303E"/>
                </a:solidFill>
                <a:latin typeface="Arial"/>
                <a:ea typeface="Arial"/>
                <a:cs typeface="Arial"/>
              </a:defRPr>
            </a:pPr>
            <a:r>
              <a:rPr sz="2175" b="0">
                <a:solidFill>
                  <a:srgbClr val="14303E"/>
                </a:solidFill>
                <a:latin typeface="Arial"/>
                <a:ea typeface="Arial"/>
                <a:cs typeface="Arial"/>
              </a:rPr>
              <a:t>Déploiement, cohérence et surveillance locale</a:t>
            </a:r>
          </a:p>
          <a:p xmlns:a="http://schemas.openxmlformats.org/drawingml/2006/main">
            <a:pPr>
              <a:buNone/>
              <a:defRPr sz="2175" b="0">
                <a:solidFill>
                  <a:srgbClr val="14303E"/>
                </a:solidFill>
                <a:latin typeface="Arial"/>
                <a:ea typeface="Arial"/>
                <a:cs typeface="Arial"/>
              </a:defRPr>
            </a:pPr>
            <a:r>
              <a:rPr sz="2175" b="0">
                <a:solidFill>
                  <a:srgbClr val="14303E"/>
                </a:solidFill>
                <a:latin typeface="Arial"/>
                <a:ea typeface="Arial"/>
                <a:cs typeface="Arial"/>
              </a:rPr>
              <a:t>Charges synthétiques et lecture de secours</a:t>
            </a:r>
          </a:p>
          <a:p xmlns:a="http://schemas.openxmlformats.org/drawingml/2006/main">
            <a:pPr>
              <a:buNone/>
              <a:defRPr sz="2175" b="0">
                <a:solidFill>
                  <a:srgbClr val="14303E"/>
                </a:solidFill>
                <a:latin typeface="Arial"/>
                <a:ea typeface="Arial"/>
                <a:cs typeface="Arial"/>
              </a:defRPr>
            </a:pPr>
            <a:r>
              <a:rPr sz="2175" b="0">
                <a:solidFill>
                  <a:srgbClr val="14303E"/>
                </a:solidFill>
                <a:latin typeface="Arial"/>
                <a:ea typeface="Arial"/>
                <a:cs typeface="Arial"/>
              </a:rPr>
              <a:t>Sauvegarde chiffrée et restauration de contrôle</a:t>
            </a:r>
          </a:p>
        </p:txBody>
      </p:sp>
      <p:sp>
        <p:nvSpPr>
          <p:cNvPr id="5" name="">
            <a:extLst xmlns:a="http://schemas.openxmlformats.org/drawingml/2006/main">
              <a:ext uri="{FF2B5EF4-FFF2-40B4-BE49-F238E27FC236}">
                <a16:creationId xmlns:a16="http://schemas.microsoft.com/office/drawing/2014/main" id="{B14D76A5-5D9E-4311-BA73-F1DB3984994B}"/>
              </a:ext>
            </a:extLst>
          </p:cNvPr>
          <p:cNvSpPr>
            <a:spLocks xmlns:a="http://schemas.openxmlformats.org/drawingml/2006/main" noGrp="1"/>
          </p:cNvSpPr>
          <p:nvPr/>
        </p:nvSpPr>
        <p:spPr>
          <a:xfrm xmlns:a="http://schemas.openxmlformats.org/drawingml/2006/main">
            <a:off x="609600" y="406717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4303E"/>
                </a:solidFill>
                <a:latin typeface="Arial"/>
                <a:ea typeface="Arial"/>
                <a:cs typeface="Arial"/>
              </a:defRPr>
            </a:pPr>
            <a:r>
              <a:rPr sz="2400" b="1">
                <a:solidFill>
                  <a:srgbClr val="14303E"/>
                </a:solidFill>
                <a:latin typeface="Arial"/>
                <a:ea typeface="Arial"/>
                <a:cs typeface="Arial"/>
              </a:rPr>
              <a:t>Avant une exploitation réelle</a:t>
            </a:r>
          </a:p>
        </p:txBody>
      </p:sp>
      <p:sp>
        <p:nvSpPr>
          <p:cNvPr id="6" name="">
            <a:extLst xmlns:a="http://schemas.openxmlformats.org/drawingml/2006/main">
              <a:ext uri="{FF2B5EF4-FFF2-40B4-BE49-F238E27FC236}">
                <a16:creationId xmlns:a16="http://schemas.microsoft.com/office/drawing/2014/main" id="{A19ED1C4-DFE5-47E2-9C13-5E5BD0CD58E9}"/>
              </a:ext>
            </a:extLst>
          </p:cNvPr>
          <p:cNvSpPr>
            <a:spLocks xmlns:a="http://schemas.openxmlformats.org/drawingml/2006/main" noGrp="1"/>
          </p:cNvSpPr>
          <p:nvPr/>
        </p:nvSpPr>
        <p:spPr>
          <a:xfrm xmlns:a="http://schemas.openxmlformats.org/drawingml/2006/main">
            <a:off x="609600" y="4733925"/>
            <a:ext cx="109728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303E"/>
                </a:solidFill>
                <a:latin typeface="Arial"/>
                <a:ea typeface="Arial"/>
                <a:cs typeface="Arial"/>
              </a:defRPr>
            </a:pPr>
            <a:r>
              <a:rPr sz="2175" b="0">
                <a:solidFill>
                  <a:srgbClr val="14303E"/>
                </a:solidFill>
                <a:latin typeface="Arial"/>
                <a:ea typeface="Arial"/>
                <a:cs typeface="Arial"/>
              </a:rPr>
              <a:t>Serveur virtuel autonome et sauvegarde hors machine</a:t>
            </a:r>
          </a:p>
          <a:p xmlns:a="http://schemas.openxmlformats.org/drawingml/2006/main">
            <a:pPr>
              <a:buNone/>
              <a:defRPr sz="2175" b="0">
                <a:solidFill>
                  <a:srgbClr val="14303E"/>
                </a:solidFill>
                <a:latin typeface="Arial"/>
                <a:ea typeface="Arial"/>
                <a:cs typeface="Arial"/>
              </a:defRPr>
            </a:pPr>
            <a:r>
              <a:rPr sz="2175" b="0">
                <a:solidFill>
                  <a:srgbClr val="14303E"/>
                </a:solidFill>
                <a:latin typeface="Arial"/>
                <a:ea typeface="Arial"/>
                <a:cs typeface="Arial"/>
              </a:rPr>
              <a:t>Compléter la protection des copies et la gestion des clés</a:t>
            </a:r>
          </a:p>
          <a:p xmlns:a="http://schemas.openxmlformats.org/drawingml/2006/main">
            <a:pPr>
              <a:buNone/>
              <a:defRPr sz="2175" b="0">
                <a:solidFill>
                  <a:srgbClr val="14303E"/>
                </a:solidFill>
                <a:latin typeface="Arial"/>
                <a:ea typeface="Arial"/>
                <a:cs typeface="Arial"/>
              </a:defRPr>
            </a:pPr>
            <a:r>
              <a:rPr sz="2175" b="0">
                <a:solidFill>
                  <a:srgbClr val="14303E"/>
                </a:solidFill>
                <a:latin typeface="Arial"/>
                <a:ea typeface="Arial"/>
                <a:cs typeface="Arial"/>
              </a:rPr>
              <a:t>Mesurer le parcours complet avec des articles représentatifs</a:t>
            </a:r>
          </a:p>
        </p:txBody>
      </p:sp>
    </p:spTree>
    <p:extLst>
      <p:ext uri="{BB962C8B-B14F-4D97-AF65-F5344CB8AC3E}">
        <p14:creationId xmlns:p14="http://schemas.microsoft.com/office/powerpoint/2010/main" val="19583730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2026-10-18T20:14:23.7190000Z</dcterms:created>
  <dcterms:modified xsi:type="dcterms:W3CDTF">2026-10-18T20:14:23.7190000Z</dcterms:modified>
</coreProperties>
</file>