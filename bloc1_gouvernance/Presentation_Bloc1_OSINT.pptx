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358489ca364bde" /><Relationship Type="http://schemas.openxmlformats.org/officeDocument/2006/relationships/extended-properties" Target="/docProps/app.xml" Id="Rec1f994ade6f42bb" /><Relationship Type="http://schemas.openxmlformats.org/officeDocument/2006/relationships/officeDocument" Target="/ppt/presentation.xml" Id="R5d7a58c93f03433c" /></Relationships>
</file>

<file path=ppt/presentation.xml><?xml version="1.0" encoding="utf-8"?>
<p:presentation xmlns:p="http://schemas.openxmlformats.org/presentationml/2006/main">
  <p:sldMasterIdLst>
    <p:sldMasterId xmlns:r="http://schemas.openxmlformats.org/officeDocument/2006/relationships" id="2147483648" r:id="R2e3daed309df4e5c"/>
  </p:sldMasterIdLst>
  <p:notesMasterIdLst>
    <p:notesMasterId xmlns:r="http://schemas.openxmlformats.org/officeDocument/2006/relationships" r:id="R26184b24b4704d3e"/>
  </p:notesMasterIdLst>
  <p:sldIdLst>
    <p:sldId xmlns:r="http://schemas.openxmlformats.org/officeDocument/2006/relationships" id="256" r:id="R5b7cf66b55c94f17"/>
    <p:sldId xmlns:r="http://schemas.openxmlformats.org/officeDocument/2006/relationships" id="257" r:id="Rc66b60e722fe46ef"/>
    <p:sldId xmlns:r="http://schemas.openxmlformats.org/officeDocument/2006/relationships" id="258" r:id="R03ef55fccbdd4179"/>
    <p:sldId xmlns:r="http://schemas.openxmlformats.org/officeDocument/2006/relationships" id="259" r:id="R7399a060741145a4"/>
    <p:sldId xmlns:r="http://schemas.openxmlformats.org/officeDocument/2006/relationships" id="260" r:id="R6f28ae2011974692"/>
    <p:sldId xmlns:r="http://schemas.openxmlformats.org/officeDocument/2006/relationships" id="261" r:id="Rafadf43f642c4c6f"/>
    <p:sldId xmlns:r="http://schemas.openxmlformats.org/officeDocument/2006/relationships" id="262" r:id="R74a0d6636a184e9c"/>
    <p:sldId xmlns:r="http://schemas.openxmlformats.org/officeDocument/2006/relationships" id="263" r:id="R02559e0e607b4fd7"/>
    <p:sldId xmlns:r="http://schemas.openxmlformats.org/officeDocument/2006/relationships" id="264" r:id="R12df02b968464f85"/>
    <p:sldId xmlns:r="http://schemas.openxmlformats.org/officeDocument/2006/relationships" id="265" r:id="R7dcd26b5de434440"/>
    <p:sldId xmlns:r="http://schemas.openxmlformats.org/officeDocument/2006/relationships" id="266" r:id="R9a938a9221f4453e"/>
    <p:sldId xmlns:r="http://schemas.openxmlformats.org/officeDocument/2006/relationships" id="267" r:id="R9efb3084ae7a45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0df16199744886" /><Relationship Type="http://schemas.openxmlformats.org/officeDocument/2006/relationships/slideMaster" Target="/ppt/slideMasters/slideMaster1.xml" Id="R2e3daed309df4e5c" /><Relationship Type="http://schemas.openxmlformats.org/officeDocument/2006/relationships/notesMaster" Target="/ppt/notesMasters/notesMaster1.xml" Id="R26184b24b4704d3e" /><Relationship Type="http://schemas.openxmlformats.org/officeDocument/2006/relationships/presProps" Target="/ppt/presProps.xml" Id="R8a2bb97a3c3e4b67" /><Relationship Type="http://schemas.openxmlformats.org/officeDocument/2006/relationships/tableStyles" Target="/ppt/tableStyles.xml" Id="R0e63cef518744a57" /><Relationship Type="http://schemas.openxmlformats.org/officeDocument/2006/relationships/slide" Target="/ppt/slides/slide1.xml" Id="R5b7cf66b55c94f17" /><Relationship Type="http://schemas.openxmlformats.org/officeDocument/2006/relationships/slide" Target="/ppt/slides/slide2.xml" Id="Rc66b60e722fe46ef" /><Relationship Type="http://schemas.openxmlformats.org/officeDocument/2006/relationships/slide" Target="/ppt/slides/slide3.xml" Id="R03ef55fccbdd4179" /><Relationship Type="http://schemas.openxmlformats.org/officeDocument/2006/relationships/slide" Target="/ppt/slides/slide4.xml" Id="R7399a060741145a4" /><Relationship Type="http://schemas.openxmlformats.org/officeDocument/2006/relationships/slide" Target="/ppt/slides/slide5.xml" Id="R6f28ae2011974692" /><Relationship Type="http://schemas.openxmlformats.org/officeDocument/2006/relationships/slide" Target="/ppt/slides/slide6.xml" Id="Rafadf43f642c4c6f" /><Relationship Type="http://schemas.openxmlformats.org/officeDocument/2006/relationships/slide" Target="/ppt/slides/slide7.xml" Id="R74a0d6636a184e9c" /><Relationship Type="http://schemas.openxmlformats.org/officeDocument/2006/relationships/slide" Target="/ppt/slides/slide8.xml" Id="R02559e0e607b4fd7" /><Relationship Type="http://schemas.openxmlformats.org/officeDocument/2006/relationships/slide" Target="/ppt/slides/slide9.xml" Id="R12df02b968464f85" /><Relationship Type="http://schemas.openxmlformats.org/officeDocument/2006/relationships/slide" Target="/ppt/slides/slide10.xml" Id="R7dcd26b5de434440" /><Relationship Type="http://schemas.openxmlformats.org/officeDocument/2006/relationships/slide" Target="/ppt/slides/slide11.xml" Id="R9a938a9221f4453e" /><Relationship Type="http://schemas.openxmlformats.org/officeDocument/2006/relationships/slide" Target="/ppt/slides/slide12.xml" Id="R9efb3084ae7a45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02cb82014d4e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4add46764f4f02" /><Relationship Type="http://schemas.openxmlformats.org/officeDocument/2006/relationships/notesMaster" Target="/ppt/notesMasters/notesMaster1.xml" Id="Ra104d9ea89c34b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d3dbc7f7144b63" /><Relationship Type="http://schemas.openxmlformats.org/officeDocument/2006/relationships/notesMaster" Target="/ppt/notesMasters/notesMaster1.xml" Id="Rbf4ea0cfd8c348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2c848a738a40c8" /><Relationship Type="http://schemas.openxmlformats.org/officeDocument/2006/relationships/notesMaster" Target="/ppt/notesMasters/notesMaster1.xml" Id="R8bcc356bfc9c4d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469aff5c454395" /><Relationship Type="http://schemas.openxmlformats.org/officeDocument/2006/relationships/notesMaster" Target="/ppt/notesMasters/notesMaster1.xml" Id="Rd71cf5d7686149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57a0e8541b4c66" /><Relationship Type="http://schemas.openxmlformats.org/officeDocument/2006/relationships/notesMaster" Target="/ppt/notesMasters/notesMaster1.xml" Id="R695a157c8df640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192a9bc89e4544" /><Relationship Type="http://schemas.openxmlformats.org/officeDocument/2006/relationships/notesMaster" Target="/ppt/notesMasters/notesMaster1.xml" Id="R1bbaa5d016624f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c58bb4c5ab49b5" /><Relationship Type="http://schemas.openxmlformats.org/officeDocument/2006/relationships/notesMaster" Target="/ppt/notesMasters/notesMaster1.xml" Id="Rbd495d6371614c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e8014bc6934f44" /><Relationship Type="http://schemas.openxmlformats.org/officeDocument/2006/relationships/notesMaster" Target="/ppt/notesMasters/notesMaster1.xml" Id="R529adb3bd36a42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9021f08f5c40f5" /><Relationship Type="http://schemas.openxmlformats.org/officeDocument/2006/relationships/notesMaster" Target="/ppt/notesMasters/notesMaster1.xml" Id="R7893ddba123348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a72941811e4021" /><Relationship Type="http://schemas.openxmlformats.org/officeDocument/2006/relationships/notesMaster" Target="/ppt/notesMasters/notesMaster1.xml" Id="Rcaf3ecce1ee54c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a68718a8ac40ab" /><Relationship Type="http://schemas.openxmlformats.org/officeDocument/2006/relationships/notesMaster" Target="/ppt/notesMasters/notesMaster1.xml" Id="R82e8dfc315c649d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72e8fe0faf048df" /><Relationship Type="http://schemas.openxmlformats.org/officeDocument/2006/relationships/notesMaster" Target="/ppt/notesMasters/notesMaster1.xml" Id="Rcc543a6791b640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30 secondes. Répétition non effectuée.</a:t>
            </a:r>
          </a:p>
          <a:p xmlns:a="http://schemas.openxmlformats.org/drawingml/2006/main">
            <a:r>
              <a:t/>
            </a:r>
          </a:p>
          <a:p xmlns:a="http://schemas.openxmlformats.org/drawingml/2006/main">
            <a:r>
              <a:t>Présenter le sujet et le statut du document : cellule fictive avec un analyste et un responsable de veille. Le plan V1.6 décrit une politique proposée. Les contrôles techniques locaux sont distingués des procédures à réaliser. Aucune approbation réelle de direction ni conformité globale annoncée. Annoncer le parcours : besoin, données, responsabilités, règles, risques puis preuves.</a:t>
            </a:r>
          </a:p>
          <a:p xmlns:a="http://schemas.openxmlformats.org/drawingml/2006/main">
            <a:r>
              <a:t/>
            </a:r>
          </a:p>
          <a:p xmlns:a="http://schemas.openxmlformats.org/drawingml/2006/main">
            <a:r>
              <a:t>Sources : plan V1.6 p. 1, Grille_utilisation_gouvernance.md et Preuves/Harmonisation_bloc3.json.</a:t>
            </a:r>
          </a:p>
          <a:p xmlns:a="http://schemas.openxmlformats.org/drawingml/2006/main">
            <a:r>
              <a:t/>
            </a:r>
          </a:p>
          <a:p xmlns:a="http://schemas.openxmlformats.org/drawingml/2006/main">
            <a:r>
              <a:t/>
            </a:r>
          </a:p>
          <a:p xmlns:a="http://schemas.openxmlformats.org/drawingml/2006/main">
            <a:r>
              <a:t>Complément vérifié le 18 octobre 2026 :</a:t>
            </a:r>
          </a:p>
          <a:p xmlns:a="http://schemas.openxmlformats.org/drawingml/2006/main">
            <a:r>
              <a:t>Version 1.6 du 18 octobre 2026 : document principal de 10 pages, présentation de 12 diapositives. Le complément demande 8 à 10 pages et 10 à 15 diapositives. Le plan conserve contexte, cadre, responsabilités, politiques, risques, contingence, audit et conclusion. Les visuels sont intégrés au plan. Le dossier juridique reste un outil de travail distinct, sans prolonger le document principal.</a:t>
            </a:r>
          </a:p>
          <a:p xmlns:a="http://schemas.openxmlformats.org/drawingml/2006/main">
            <a:r>
              <a:t/>
            </a:r>
          </a:p>
          <a:p xmlns:a="http://schemas.openxmlformats.org/drawingml/2006/main">
            <a:r>
              <a:t>Référence actuelle : Plan de gouvernance V1.6, p. 1. Budget de 15 minutes prévu, sans répétition chronométrée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70 secondes. Répétition non effectuée.</a:t>
            </a:r>
          </a:p>
          <a:p xmlns:a="http://schemas.openxmlformats.org/drawingml/2006/main">
            <a:r>
              <a:t/>
            </a:r>
          </a:p>
          <a:p xmlns:a="http://schemas.openxmlformats.org/drawingml/2006/main">
            <a:r>
              <a:t>Partir d’une demande de veille sur une période. Présenter les trois vues du mini-site local Bloc 3. RV approuve le périmètre dans le scénario ; ce visa n’est pas implémenté dans l’interface. Les mots-clés filtrent après téléchargement. Suivi rend les compteurs et limites visibles. Corpus affiche les textes et versions. L’export sélectionne la base locale, donc peut dépasser la limite du dernier job. Une période sans résultat ne prouve pas l’absence de publications TASS. La collecte et l’inférence sont deux opérations distinctes. Source : Collecte_TASS.md et Execution_PRD_TASS.md.</a:t>
            </a:r>
          </a:p>
          <a:p xmlns:a="http://schemas.openxmlformats.org/drawingml/2006/main">
            <a:r>
              <a:t/>
            </a:r>
          </a:p>
          <a:p xmlns:a="http://schemas.openxmlformats.org/drawingml/2006/main">
            <a:r>
              <a:t>Sources : plan V1.6 p. 2, Grille_utilisation_gouvernance.md et Preuves/Harmonisation_bloc3.json.</a:t>
            </a:r>
          </a:p>
          <a:p xmlns:a="http://schemas.openxmlformats.org/drawingml/2006/main">
            <a:r>
              <a:t/>
            </a:r>
          </a:p>
          <a:p xmlns:a="http://schemas.openxmlformats.org/drawingml/2006/main">
            <a:r>
              <a:t/>
            </a:r>
          </a:p>
          <a:p xmlns:a="http://schemas.openxmlformats.org/drawingml/2006/main">
            <a:r>
              <a:t>Complément vérifié le 18 octobre 2026 :</a:t>
            </a:r>
          </a:p>
          <a:p xmlns:a="http://schemas.openxmlformats.org/drawingml/2006/main">
            <a:r>
              <a:t>Le mode périodique ajouté au Bloc 3 fait autoriser une cadence et une fenêtre glissante. Le quota et les reprises limitent la couverture. L’essai automatique sur source fictive ne démontre pas une exploitation TASS permanente. Source : Bloc 3, Preuves/Complement_20261018/Flux_continu.json. La présente révision documentaire n’active aucune collecte.</a:t>
            </a:r>
          </a:p>
          <a:p xmlns:a="http://schemas.openxmlformats.org/drawingml/2006/main">
            <a:r>
              <a:t/>
            </a:r>
          </a:p>
          <a:p xmlns:a="http://schemas.openxmlformats.org/drawingml/2006/main">
            <a:r>
              <a:t>Référence actuelle : Plan de gouvernance V1.6, p. 2. Budget de 15 minutes prévu, sans répétition chronométrée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Budget indicatif : 60 secondes. Expliquer séparément corpus, collecte, stockages et index de mentions.</a:t>
            </a:r>
          </a:p>
          <a:p xmlns:a="http://schemas.openxmlformats.org/drawingml/2006/main">
            <a:r>
              <a:t/>
            </a:r>
          </a:p>
          <a:p xmlns:a="http://schemas.openxmlformats.org/drawingml/2006/main">
            <a:r>
              <a:t>Complément vérifié le 18 octobre 2026 :</a:t>
            </a:r>
          </a:p>
          <a:p xmlns:a="http://schemas.openxmlformats.org/drawingml/2006/main">
            <a:r>
              <a:t>Constats datés : cinq articles ajoutés lors de la recette réseau, stockages SQL/Mongo encore concordants à 21 681 au 18 octobre. Les 39 511 mentions concernent l’inférence initiale ; une inférence manuelle distincte sur cinq articles ajoute neuf mentions, soit 39 520 dans l’index de ce raccordement. Aucune amélioration des poids ni qualité humaine n’en est déduite. Sources : Bloc 2, Preuves/Complement_20261018/integration.json ; Bloc 4, Preuves/Raccordement_manuel_5_articles.json. Le diagnostic sur 42 articles contre propositions IA donne F1 32,73 %, sans attestation humaine.</a:t>
            </a:r>
          </a:p>
          <a:p xmlns:a="http://schemas.openxmlformats.org/drawingml/2006/main">
            <a:r>
              <a:t/>
            </a:r>
          </a:p>
          <a:p xmlns:a="http://schemas.openxmlformats.org/drawingml/2006/main">
            <a:r>
              <a:t>Référence actuelle : Plan de gouvernance V1.6, p. 2. Budget de 15 minutes prévu, sans répétition chronométrée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90 secondes. Répétition non effectuée.</a:t>
            </a:r>
          </a:p>
          <a:p xmlns:a="http://schemas.openxmlformats.org/drawingml/2006/main">
            <a:r>
              <a:t/>
            </a:r>
          </a:p>
          <a:p xmlns:a="http://schemas.openxmlformats.org/drawingml/2006/main">
            <a:r>
              <a:t>Distinguer règle contraignante, méthode volontaire et demande de la grille. Le fait d’obtenir un fichier dans un cours ne démontre pas un droit de redistribution. Le RGPD reste pertinent puisque des personnes peuvent être citées dans le texte. Ne pas affirmer qu’ISO 27001 est une obligation de certification. Le référentiel RGAA aide à vérifier l’accessibilité, tandis que l’assujettissement légal dépend de l’organisme. Le thème militaire ne rend pas automatiquement NIS 2 applicable. Le calendrier IA a évolué en 2026 : la qualification doit reposer sur la version actuelle du texte et le futur usage. La consultation de robots.txt et les requêtes bornées sont des contrôles du collecteur. Ils ne prouvent ni base légale ni autorisation de redistribution. Qualifier CGU et droits. La simplification du cours Books sur l’absence de données personnelles ne s’applique pas automatiquement à TASS.</a:t>
            </a:r>
          </a:p>
          <a:p xmlns:a="http://schemas.openxmlformats.org/drawingml/2006/main">
            <a:r>
              <a:t/>
            </a:r>
          </a:p>
          <a:p xmlns:a="http://schemas.openxmlformats.org/drawingml/2006/main">
            <a:r>
              <a:t>Sources : plan V1.6 p. 2, Grille_utilisation_gouvernance.md et Preuves/Harmonisation_bloc3.json.</a:t>
            </a:r>
          </a:p>
          <a:p xmlns:a="http://schemas.openxmlformats.org/drawingml/2006/main">
            <a:r>
              <a:t>S1 RGPD, règlement (UE) 2016/679, notamment art. 5-6, 9-10, 12-22, 25, 28, 30, 32-39 et 44 et suivants</a:t>
            </a:r>
          </a:p>
          <a:p xmlns:a="http://schemas.openxmlformats.org/drawingml/2006/main">
            <a:r>
              <a:t>https://eur-lex.europa.eu/eli/reg/2016/679/oj/fra</a:t>
            </a:r>
          </a:p>
          <a:p xmlns:a="http://schemas.openxmlformats.org/drawingml/2006/main">
            <a:r>
              <a:t>S2 Loi du 6 janvier 1978 modifiée, Informatique et Libertés</a:t>
            </a:r>
          </a:p>
          <a:p xmlns:a="http://schemas.openxmlformats.org/drawingml/2006/main">
            <a:r>
              <a:t>https://www.legifrance.gouv.fr/loda/id/JORFTEXT000000886460</a:t>
            </a:r>
          </a:p>
          <a:p xmlns:a="http://schemas.openxmlformats.org/drawingml/2006/main">
            <a:r>
              <a:t>S3 CNIL, recommandations aux réutilisateurs de données publiées sur Internet</a:t>
            </a:r>
          </a:p>
          <a:p xmlns:a="http://schemas.openxmlformats.org/drawingml/2006/main">
            <a:r>
              <a:t>https://cnil.fr/sites/cnil/files/2024-06/recommandations_reutilisateurs_donnees_publiees_sur_internet.pdf</a:t>
            </a:r>
          </a:p>
          <a:p xmlns:a="http://schemas.openxmlformats.org/drawingml/2006/main">
            <a:r>
              <a:t>S10 Commission européenne, AI Act, état du calendrier et des obligations</a:t>
            </a:r>
          </a:p>
          <a:p xmlns:a="http://schemas.openxmlformats.org/drawingml/2006/main">
            <a:r>
              <a:t>https://digital-strategy.ec.europa.eu/en/policies/regulatory-framework-ai</a:t>
            </a:r>
          </a:p>
          <a:p xmlns:a="http://schemas.openxmlformats.org/drawingml/2006/main">
            <a:r>
              <a:t>S11 RGAA, référentiel et champ d’application</a:t>
            </a:r>
          </a:p>
          <a:p xmlns:a="http://schemas.openxmlformats.org/drawingml/2006/main">
            <a:r>
              <a:t>https://accessibilite.numerique.gouv.fr/obligations/champ-application/</a:t>
            </a:r>
          </a:p>
          <a:p xmlns:a="http://schemas.openxmlformats.org/drawingml/2006/main">
            <a:r>
              <a:t>S12 ISO/IEC 27001:2022, management de la sécurité</a:t>
            </a:r>
          </a:p>
          <a:p xmlns:a="http://schemas.openxmlformats.org/drawingml/2006/main">
            <a:r>
              <a:t>https://www.iso.org/standard/27001</a:t>
            </a:r>
          </a:p>
          <a:p xmlns:a="http://schemas.openxmlformats.org/drawingml/2006/main">
            <a:r>
              <a:t>S13 ISO/IEC 27701:2025, management de la vie privée</a:t>
            </a:r>
          </a:p>
          <a:p xmlns:a="http://schemas.openxmlformats.org/drawingml/2006/main">
            <a:r>
              <a:t>https://www.iso.org/standard/27701</a:t>
            </a:r>
          </a:p>
          <a:p xmlns:a="http://schemas.openxmlformats.org/drawingml/2006/main">
            <a:r>
              <a:t>S17 CNIL, intérêt légitime et collecte par moissonnage, 19 juin 2025</a:t>
            </a:r>
          </a:p>
          <a:p xmlns:a="http://schemas.openxmlformats.org/drawingml/2006/main">
            <a:r>
              <a:t>https://www.cnil.fr/fr/focus-interet-legitime-collecte-par-moissonnage</a:t>
            </a:r>
          </a:p>
          <a:p xmlns:a="http://schemas.openxmlformats.org/drawingml/2006/main">
            <a:r>
              <a:t>S18 CNIL, protection des données dans la collecte et la gestion, 8 avril 2024</a:t>
            </a:r>
          </a:p>
          <a:p xmlns:a="http://schemas.openxmlformats.org/drawingml/2006/main">
            <a:r>
              <a:t>https://www.cnil.fr/fr/tenir-compte-de-la-protection-des-donnees-dans-la-collecte-et-la-gestion-des-donnees</a:t>
            </a:r>
          </a:p>
          <a:p xmlns:a="http://schemas.openxmlformats.org/drawingml/2006/main">
            <a:r>
              <a:t/>
            </a:r>
          </a:p>
          <a:p xmlns:a="http://schemas.openxmlformats.org/drawingml/2006/main">
            <a:r>
              <a:t>Référence actuelle : Plan de gouvernance V1.6, p. 2. Budget de 15 minutes prévu, sans répétition chronométrée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90 secondes. Répétition non effectuée.</a:t>
            </a:r>
          </a:p>
          <a:p xmlns:a="http://schemas.openxmlformats.org/drawingml/2006/main">
            <a:r>
              <a:t/>
            </a:r>
          </a:p>
          <a:p xmlns:a="http://schemas.openxmlformats.org/drawingml/2006/main">
            <a:r>
              <a:t>Expliquer la différence entre décider et conseiller. Un DPO ne porte pas les décisions à la place du responsable de traitement. La matrice RACI du plan attribue une seule autorité A à chaque activité et distingue les tâches des contributeurs R. Dans une petite structure, des fonctions peuvent être cumulées, mais une correction doit bénéficier d’un contrôle distinct. Les personnes citées, l’école, le jury, les fournisseurs et les titulaires des droits sur les textes sont aussi des parties prenantes. Le registre des décisions conserve les arbitrages et les échéances. Les responsabilités sont organisationnelles. Le mini-site ne possède pas de comptes individuels ni de séparation de permissions AN/RV. Le jeton CSRF protège une commande, sans identifier son utilisateur. Les traces récentes utilisent le compte système du serveur, sans distinguer plusieurs personnes sur une session partagée.</a:t>
            </a:r>
          </a:p>
          <a:p xmlns:a="http://schemas.openxmlformats.org/drawingml/2006/main">
            <a:r>
              <a:t/>
            </a:r>
          </a:p>
          <a:p xmlns:a="http://schemas.openxmlformats.org/drawingml/2006/main">
            <a:r>
              <a:t>Sources : plan V1.6 p. 3 et 6, Grille_utilisation_gouvernance.md et Preuves/Harmonisation_bloc3.json.</a:t>
            </a:r>
          </a:p>
          <a:p xmlns:a="http://schemas.openxmlformats.org/drawingml/2006/main">
            <a:r>
              <a:t>S1 RGPD, règlement (UE) 2016/679, notamment art. 5-6, 9-10, 12-22, 25, 28, 30, 32-39 et 44 et suivants</a:t>
            </a:r>
          </a:p>
          <a:p xmlns:a="http://schemas.openxmlformats.org/drawingml/2006/main">
            <a:r>
              <a:t>https://eur-lex.europa.eu/eli/reg/2016/679/oj/fra</a:t>
            </a:r>
          </a:p>
          <a:p xmlns:a="http://schemas.openxmlformats.org/drawingml/2006/main">
            <a:r>
              <a:t/>
            </a:r>
          </a:p>
          <a:p xmlns:a="http://schemas.openxmlformats.org/drawingml/2006/main">
            <a:r>
              <a:t>Référence actuelle : Plan de gouvernance V1.6, p. 3. Budget de 15 minutes prévu, sans répétition chronométrée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100 secondes. Répétition non effectuée.</a:t>
            </a:r>
          </a:p>
          <a:p xmlns:a="http://schemas.openxmlformats.org/drawingml/2006/main">
            <a:r>
              <a:t/>
            </a:r>
          </a:p>
          <a:p xmlns:a="http://schemas.openxmlformats.org/drawingml/2006/main">
            <a:r>
              <a:t>Suivre un article avec son URL, sa date de publication et sa date de collecte, son job et son empreinte. Une mise à jour conserve une ancienne version. Bloc 2 archive les anciennes révisions, tandis qu’Elasticsearch montre la version courante. Une inférence doit utiliser la même empreinte que le texte affiché. Les cinq nouveaux articles ne sont pas automatiquement analysés et aucune sélection de dates ne lance l’entraînement. La référence humaine indépendante manque encore. Sources : Plan p. 4, Execution_PRD_TASS.md et Contrat_collecte_TASS.json. Une rectification accordée retire les anciennes versions incorrectes et impose la correction au rejeu. Ce mécanisme ne remplace pas la validation humaine des annotations.</a:t>
            </a:r>
          </a:p>
          <a:p xmlns:a="http://schemas.openxmlformats.org/drawingml/2006/main">
            <a:r>
              <a:t/>
            </a:r>
          </a:p>
          <a:p xmlns:a="http://schemas.openxmlformats.org/drawingml/2006/main">
            <a:r>
              <a:t>Sources : plan V1.6 p. 4, Grille_utilisation_gouvernance.md et Preuves/Harmonisation_bloc3.json.</a:t>
            </a:r>
          </a:p>
          <a:p xmlns:a="http://schemas.openxmlformats.org/drawingml/2006/main">
            <a:r>
              <a:t/>
            </a:r>
          </a:p>
          <a:p xmlns:a="http://schemas.openxmlformats.org/drawingml/2006/main">
            <a:r>
              <a:t/>
            </a:r>
          </a:p>
          <a:p xmlns:a="http://schemas.openxmlformats.org/drawingml/2006/main">
            <a:r>
              <a:t>Référence actuelle : Plan de gouvernance V1.6, p. 4. Budget de 15 minutes prévu, sans répétition chronométrée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95 secondes. Répétition non effectuée.</a:t>
            </a:r>
          </a:p>
          <a:p xmlns:a="http://schemas.openxmlformats.org/drawingml/2006/main">
            <a:r>
              <a:t/>
            </a:r>
          </a:p>
          <a:p xmlns:a="http://schemas.openxmlformats.org/drawingml/2006/main">
            <a:r>
              <a:t>Expliquer intérêt, nécessité et mise en balance séparément pour T01 (collecte et veille) et T02 (développement du modèle). J02 contient les analyses ; J03 examine les neuf critères AIPD ; J04 est un projet d’analyse d’impact. Ces documents ne valent pas autorisation réelle. J05 fournit une notice prête à personnaliser : identité, contact réel et diffusion restent à établir. Le tri des contenus sensibles n’est pas automatisé dans le Bloc 3. Host, origine et CSRF sont testés ; le mini-site ne possède pas de comptes applicatifs individuels. Avant partage distant, revoir accès et sécurité. S01 encadre tout prestataire et transfert. Le volume AES-256 du Bloc 3 est activé : 69 fichiers du collecteur et 19 historiques ont été vérifiés par empreinte, avec 21 681 articles conservés lors de la migration. Le lanceur exige le montage chiffré, sans remplacement en clair. Ce constat ne couvre ni tout le Mac ni les copies externes. Journaux : compte système, date et références, sans textes ni mots-clés libres. Sources : plan V1.6 p. 4-7 et 16 ; Dossier_juridique_et_procedures_OSINT.pdf J02-J05 ; Bloc 3 Preuves/Collecte_TASS/Volume_chiffre.json ; Preuves/Qualification_juridique.json.</a:t>
            </a:r>
          </a:p>
          <a:p xmlns:a="http://schemas.openxmlformats.org/drawingml/2006/main">
            <a:r>
              <a:t/>
            </a:r>
          </a:p>
          <a:p xmlns:a="http://schemas.openxmlformats.org/drawingml/2006/main">
            <a:r>
              <a:t>Sources : plan V1.6 p. 4 et 5, Grille_utilisation_gouvernance.md et Preuves/Harmonisation_bloc3.json.</a:t>
            </a:r>
          </a:p>
          <a:p xmlns:a="http://schemas.openxmlformats.org/drawingml/2006/main">
            <a:r>
              <a:t>S4 CNIL, intérêt légitime : nécessité et mise en balance</a:t>
            </a:r>
          </a:p>
          <a:p xmlns:a="http://schemas.openxmlformats.org/drawingml/2006/main">
            <a:r>
              <a:t>https://www.cnil.fr/fr/les-bases-legales/interet-legitime</a:t>
            </a:r>
          </a:p>
          <a:p xmlns:a="http://schemas.openxmlformats.org/drawingml/2006/main">
            <a:r>
              <a:t>S5 CNIL, IA : réaliser une analyse d’impact si nécessaire</a:t>
            </a:r>
          </a:p>
          <a:p xmlns:a="http://schemas.openxmlformats.org/drawingml/2006/main">
            <a:r>
              <a:t>https://www.cnil.fr/fr/realiser-une-analyse-dimpact-si-necessaire</a:t>
            </a:r>
          </a:p>
          <a:p xmlns:a="http://schemas.openxmlformats.org/drawingml/2006/main">
            <a:r>
              <a:t>S8 CNIL, contrats entre responsable de traitement et sous-traitant</a:t>
            </a:r>
          </a:p>
          <a:p xmlns:a="http://schemas.openxmlformats.org/drawingml/2006/main">
            <a:r>
              <a:t>https://www.cnil.fr/fr/clauses-contractuelles-types-entre-responsable-de-traitement-et-sous-traitant</a:t>
            </a:r>
          </a:p>
          <a:p xmlns:a="http://schemas.openxmlformats.org/drawingml/2006/main">
            <a:r>
              <a:t>S9 CNIL, identifier et traiter les transferts hors UE</a:t>
            </a:r>
          </a:p>
          <a:p xmlns:a="http://schemas.openxmlformats.org/drawingml/2006/main">
            <a:r>
              <a:t>https://www.cnil.fr/fr/responsables-de-traitement-comment-identifier-et-traiter-des-transferts-de-donnees-hors-ue</a:t>
            </a:r>
          </a:p>
          <a:p xmlns:a="http://schemas.openxmlformats.org/drawingml/2006/main">
            <a:r>
              <a:t/>
            </a:r>
          </a:p>
          <a:p xmlns:a="http://schemas.openxmlformats.org/drawingml/2006/main">
            <a:r>
              <a:t>Référence actuelle : Plan de gouvernance V1.6, p. 4 et 5. Budget de 15 minutes prévu, sans répétition chronométrée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85 secondes. Répétition non effectuée.</a:t>
            </a:r>
          </a:p>
          <a:p xmlns:a="http://schemas.openxmlformats.org/drawingml/2006/main">
            <a:r>
              <a:t/>
            </a:r>
          </a:p>
          <a:p xmlns:a="http://schemas.openxmlformats.org/drawingml/2006/main">
            <a:r>
              <a:t>Présenter une demande fictive d’une personne citée sans la traiter comme une demande réelle. DIR décide après qualification. Le mécanisme travaille par identifiant d’article, pas par nom. Le test Bloc 3 vérifie anciennes versions, exports et non-réintroduction. Bloc 2 teste aussi ses révisions. Ces purges logiques ne prouvent pas un effacement physique de tous les supports ni le désapprentissage. Les copies sorties du périmètre sont inventoriées et suivies manuellement. Les durées sont des choix proposés et leur purge par échéance reste à mettre en œuvre. Sources : tests/collection.py, Revisions_collecte_TASS.json et Grille_utilisation_gouvernance.md. Les commandes administratives d’accès, rectification et effacement utilisent ID et référence opaque. Les tests vérifient copies gérées, secours et restauration, sans garantir la purge des annotations, modèles ou copies externes. Le registre de correction Bloc 2 est chiffré.</a:t>
            </a:r>
          </a:p>
          <a:p xmlns:a="http://schemas.openxmlformats.org/drawingml/2006/main">
            <a:r>
              <a:t/>
            </a:r>
          </a:p>
          <a:p xmlns:a="http://schemas.openxmlformats.org/drawingml/2006/main">
            <a:r>
              <a:t>Sources : plan V1.6 p. 5, Grille_utilisation_gouvernance.md et Preuves/Harmonisation_bloc3.json.</a:t>
            </a:r>
          </a:p>
          <a:p xmlns:a="http://schemas.openxmlformats.org/drawingml/2006/main">
            <a:r>
              <a:t>S1 RGPD, règlement (UE) 2016/679, notamment art. 5-6, 9-10, 12-22, 25, 28, 30, 32-39 et 44 et suivants</a:t>
            </a:r>
          </a:p>
          <a:p xmlns:a="http://schemas.openxmlformats.org/drawingml/2006/main">
            <a:r>
              <a:t>https://eur-lex.europa.eu/eli/reg/2016/679/oj/fra</a:t>
            </a:r>
          </a:p>
          <a:p xmlns:a="http://schemas.openxmlformats.org/drawingml/2006/main">
            <a:r>
              <a:t>S7 CNIL, les durées de conservation des données</a:t>
            </a:r>
          </a:p>
          <a:p xmlns:a="http://schemas.openxmlformats.org/drawingml/2006/main">
            <a:r>
              <a:t>https://www.cnil.fr/fr/passer-laction/les-durees-de-conservation-des-donnees</a:t>
            </a:r>
          </a:p>
          <a:p xmlns:a="http://schemas.openxmlformats.org/drawingml/2006/main">
            <a:r>
              <a:t>S15 CNIL, chapitre III du RGPD, droits des personnes</a:t>
            </a:r>
          </a:p>
          <a:p xmlns:a="http://schemas.openxmlformats.org/drawingml/2006/main">
            <a:r>
              <a:t>https://www.cnil.fr/fr/reglement-europeen-protection-donnees/chapitre3</a:t>
            </a:r>
          </a:p>
          <a:p xmlns:a="http://schemas.openxmlformats.org/drawingml/2006/main">
            <a:r>
              <a:t/>
            </a:r>
          </a:p>
          <a:p xmlns:a="http://schemas.openxmlformats.org/drawingml/2006/main">
            <a:r>
              <a:t>Référence actuelle : Plan de gouvernance V1.6, p. 5. Budget de 15 minutes prévu, sans répétition chronométrée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90 secondes. Répétition non effectuée.</a:t>
            </a:r>
          </a:p>
          <a:p xmlns:a="http://schemas.openxmlformats.org/drawingml/2006/main">
            <a:r>
              <a:t/>
            </a:r>
          </a:p>
          <a:p xmlns:a="http://schemas.openxmlformats.org/drawingml/2006/main">
            <a:r>
              <a:t>La cotation combine probabilité et impact de 1 à 4. Les seuils sont des choix de travail, pas des critères de certification. Un manquement légal ne devient pas acceptable parce que son score serait faible. Le registre contient dix risques, leur cause, leur impact puis une mesure, un pilote, une échéance et une preuve. Les scores résiduels sont des cibles tant que les contrôles ne sont pas réalisés. Les premières mesures portent sur les clés et le TLS, la qualification juridique, puis les défauts de traçabilité et la perte d’artefacts. L’assurance ou le fournisseur ne supprime pas la responsabilité. La V1.6 conserve les dix risques et leurs traitements. R01 inclut la protection des copies Bloc 3 et le maintien du volume activé et le contrôle de son montage, R02 le scraping, R07 les exports, R08 les versions et la recollecte, R10 les changements TASS. Les tests existants ne valident pas les scores résiduels estimés.</a:t>
            </a:r>
          </a:p>
          <a:p xmlns:a="http://schemas.openxmlformats.org/drawingml/2006/main">
            <a:r>
              <a:t/>
            </a:r>
          </a:p>
          <a:p xmlns:a="http://schemas.openxmlformats.org/drawingml/2006/main">
            <a:r>
              <a:t>Sources : plan V1.6 p. 6 et 7, Grille_utilisation_gouvernance.md et Preuves/Harmonisation_bloc3.json.</a:t>
            </a:r>
          </a:p>
          <a:p xmlns:a="http://schemas.openxmlformats.org/drawingml/2006/main">
            <a:r>
              <a:t/>
            </a:r>
          </a:p>
          <a:p xmlns:a="http://schemas.openxmlformats.org/drawingml/2006/main">
            <a:r>
              <a:t/>
            </a:r>
          </a:p>
          <a:p xmlns:a="http://schemas.openxmlformats.org/drawingml/2006/main">
            <a:r>
              <a:t>Complément vérifié le 18 octobre 2026 :</a:t>
            </a:r>
          </a:p>
          <a:p xmlns:a="http://schemas.openxmlformats.org/drawingml/2006/main">
            <a:r>
              <a:t>La cotation et les dix cibles résiduelles restent des estimations du scénario. Les contrôles nouveaux ne clôturent pas automatiquement R01 à R10. Le plan p. 6 décrit causes et impacts, p. 7 les mesures, pilotes, échéances et preuves. Toute obligation légale insatisfaite bloque l’usage, même si la cotation est faible.</a:t>
            </a:r>
          </a:p>
          <a:p xmlns:a="http://schemas.openxmlformats.org/drawingml/2006/main">
            <a:r>
              <a:t/>
            </a:r>
          </a:p>
          <a:p xmlns:a="http://schemas.openxmlformats.org/drawingml/2006/main">
            <a:r>
              <a:t>Référence actuelle : Plan de gouvernance V1.6, p. 6 et 7. Budget de 15 minutes prévu, sans répétition chronométrée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70 secondes. Répétition non effectuée.</a:t>
            </a:r>
          </a:p>
          <a:p xmlns:a="http://schemas.openxmlformats.org/drawingml/2006/main">
            <a:r>
              <a:t/>
            </a:r>
          </a:p>
          <a:p xmlns:a="http://schemas.openxmlformats.org/drawingml/2006/main">
            <a:r>
              <a:t>Le délai de 72 heures se rapporte à la notification à l’autorité lorsque les conditions sont réunies. Ne pas l’appliquer automatiquement à toute panne ou à l’information des personnes. En cas de risque élevé, les personnes sont informées sans retard injustifié sous réserve des exceptions du texte. Les violations sans notification restent documentées. Pour une panne, le plan prévoit restauration isolée et contrôle des données à effacer avant reprise. RTO et RPO décrivent des objectifs proposés et non des performances mesurées. Le mode dégradé suspend les indicateurs non fiables et permet de consulter les sources déjà vérifiées. Dans Bloc 3, un worker détruit est relancé automatiquement avec checkpoint. Un arrêt volontaire exige une reprise manuelle. En cas de changement TASS ou refus, suspendre et revoir la source. La reprise de processus ne remplace pas une sauvegarde. Les objectifs RTO/RPO restent ceux du scénario et ne sont pas des temps mesurés. Les tests fictifs couvrent permissions, corruption, confinement et reprise. La copie de secours reste sur le même Mac ; elle ne démontre pas une sauvegarde hors poste ni un incident réel.</a:t>
            </a:r>
          </a:p>
          <a:p xmlns:a="http://schemas.openxmlformats.org/drawingml/2006/main">
            <a:r>
              <a:t/>
            </a:r>
          </a:p>
          <a:p xmlns:a="http://schemas.openxmlformats.org/drawingml/2006/main">
            <a:r>
              <a:t>Sources : plan V1.6 p. 8, Grille_utilisation_gouvernance.md et Preuves/Harmonisation_bloc3.json.</a:t>
            </a:r>
          </a:p>
          <a:p xmlns:a="http://schemas.openxmlformats.org/drawingml/2006/main">
            <a:r>
              <a:t>S1 RGPD, règlement (UE) 2016/679, notamment art. 5-6, 9-10, 12-22, 25, 28, 30, 32-39 et 44 et suivants</a:t>
            </a:r>
          </a:p>
          <a:p xmlns:a="http://schemas.openxmlformats.org/drawingml/2006/main">
            <a:r>
              <a:t>https://eur-lex.europa.eu/eli/reg/2016/679/oj/fra</a:t>
            </a:r>
          </a:p>
          <a:p xmlns:a="http://schemas.openxmlformats.org/drawingml/2006/main">
            <a:r>
              <a:t>S16 CNIL, notifier une violation de données personnelles</a:t>
            </a:r>
          </a:p>
          <a:p xmlns:a="http://schemas.openxmlformats.org/drawingml/2006/main">
            <a:r>
              <a:t>https://www.cnil.fr/fr/services-en-ligne/notifier-une-violation-de-donnees-personnelles</a:t>
            </a:r>
          </a:p>
          <a:p xmlns:a="http://schemas.openxmlformats.org/drawingml/2006/main">
            <a:r>
              <a:t/>
            </a:r>
          </a:p>
          <a:p xmlns:a="http://schemas.openxmlformats.org/drawingml/2006/main">
            <a:r>
              <a:t>Référence actuelle : Plan de gouvernance V1.6, p. 8. Budget de 15 minutes prévu, sans répétition chronométrée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70 secondes. Répétition non effectuée.</a:t>
            </a:r>
          </a:p>
          <a:p xmlns:a="http://schemas.openxmlformats.org/drawingml/2006/main">
            <a:r>
              <a:t/>
            </a:r>
          </a:p>
          <a:p xmlns:a="http://schemas.openxmlformats.org/drawingml/2006/main">
            <a:r>
              <a:t>L’audit doit suivre des cas concrets et conserver les résultats, pas seulement vérifier qu’un document existe. Un article, un accès refusé, une demande d’effacement et une restauration donnent des parcours observables. Les indicateurs précisent leurs dénominateurs ; l’absence de demandes se distingue d’un taux de réussite. La veille utilise les sources officielles et entraîne des actions avec responsables et dates. L’accessibilité est également contrôlée : clavier, zoom, contrastes, alternatives textuelles et sous-titres. Il reste à conduire des tests réels et une relecture indépendante. Utiliser la grille d’utilisation associée pour relier collecte, export et demande de droits aux critères. Les tests de disposition Chrome et zoom CSS ne remplacent pas une revue complète d’accessibilité. Les visas d’export, la formation et la revue humaine restent à réaliser.</a:t>
            </a:r>
          </a:p>
          <a:p xmlns:a="http://schemas.openxmlformats.org/drawingml/2006/main">
            <a:r>
              <a:t/>
            </a:r>
          </a:p>
          <a:p xmlns:a="http://schemas.openxmlformats.org/drawingml/2006/main">
            <a:r>
              <a:t>Sources : plan V1.6 p. 5 et 9, Grille_utilisation_gouvernance.md et Preuves/Harmonisation_bloc3.json.</a:t>
            </a:r>
          </a:p>
          <a:p xmlns:a="http://schemas.openxmlformats.org/drawingml/2006/main">
            <a:r>
              <a:t>S11 RGAA, référentiel et champ d’application</a:t>
            </a:r>
          </a:p>
          <a:p xmlns:a="http://schemas.openxmlformats.org/drawingml/2006/main">
            <a:r>
              <a:t>https://accessibilite.numerique.gouv.fr/obligations/champ-application/</a:t>
            </a:r>
          </a:p>
          <a:p xmlns:a="http://schemas.openxmlformats.org/drawingml/2006/main">
            <a:r>
              <a:t/>
            </a:r>
          </a:p>
          <a:p xmlns:a="http://schemas.openxmlformats.org/drawingml/2006/main">
            <a:r>
              <a:t>Complément vérifié le 18 octobre 2026 :</a:t>
            </a:r>
          </a:p>
          <a:p xmlns:a="http://schemas.openxmlformats.org/drawingml/2006/main">
            <a:r>
              <a:t>La formation proposée dure 45 minutes : données publiques et droits 10 min, limites NER 10 min, note et demande de droits 15 min, correction 10 min. Le support est accessible et adapté aux rôles. Une erreur impose un rattrapage avant accès. Conserver présence, réponses et corrections. Revue de collaboration mensuelle : RV rassemble besoins, TECH propose, DIR arbitre, RPD conseille ; un relecteur distinct vérifie la clôture. Ni formation ni audit indépendant réalisés ne sont revendiqués.</a:t>
            </a:r>
          </a:p>
          <a:p xmlns:a="http://schemas.openxmlformats.org/drawingml/2006/main">
            <a:r>
              <a:t/>
            </a:r>
          </a:p>
          <a:p xmlns:a="http://schemas.openxmlformats.org/drawingml/2006/main">
            <a:r>
              <a:t>Référence actuelle : Plan de gouvernance V1.6, p. 5 et 9. Budget de 15 minutes prévu, sans répétition chronométrée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50 secondes. Répétition non effectuée.</a:t>
            </a:r>
          </a:p>
          <a:p xmlns:a="http://schemas.openxmlformats.org/drawingml/2006/main">
            <a:r>
              <a:t/>
            </a:r>
          </a:p>
          <a:p xmlns:a="http://schemas.openxmlformats.org/drawingml/2006/main">
            <a:r>
              <a:t>Rappeler que le Bloc 1 évalue une étude de cas et un plan de gouvernance. Le plan V1.6 et les fiches J01-J07 sont rédigés : source, bases T01/T02, projet d’AIPD, notice et procédures. Le volume AES-256 du Bloc 3 est activé et sa migration vérifiée. Les tests locaux d’accès et de droits sont disponibles, sans demande réelle ni conformité globale attestées. Les droits d’usage effectifs, les décisions, les coordonnées réelles, la diffusion de la notice, les copies externes, la revue humaine et le contrôle complet d’accessibilité restent à établir. Le support est prévu pour quinze minutes ; aucune répétition chronométrée n’est attestée. Expliquer les liens : Bloc 1 définit décisions et règles, Bloc 3 collecte et trace, Bloc 2 protège les stockages, Bloc 4 encadre modèle et évaluation. Terminer : tout constat diffusé doit rester sourcé, contextualisé et relu. Sources : plan V1.6 p. 4, 5 et 9 ; Dossier_juridique_et_procedures_OSINT.pdf J01-J07 ; Preuves/Qualification_juridique.json ; Bloc 3 Preuves/Collecte_TASS/Volume_chiffre.json.</a:t>
            </a:r>
          </a:p>
          <a:p xmlns:a="http://schemas.openxmlformats.org/drawingml/2006/main">
            <a:r>
              <a:t/>
            </a:r>
          </a:p>
          <a:p xmlns:a="http://schemas.openxmlformats.org/drawingml/2006/main">
            <a:r>
              <a:t>Sources : plan V1.6 p. 4, 5 et 9, Grille_utilisation_gouvernance.md et Preuves/Harmonisation_bloc3.json.</a:t>
            </a:r>
          </a:p>
          <a:p xmlns:a="http://schemas.openxmlformats.org/drawingml/2006/main">
            <a:r>
              <a:t/>
            </a:r>
          </a:p>
          <a:p xmlns:a="http://schemas.openxmlformats.org/drawingml/2006/main">
            <a:r>
              <a:t/>
            </a:r>
          </a:p>
          <a:p xmlns:a="http://schemas.openxmlformats.org/drawingml/2006/main">
            <a:r>
              <a:t>Complément vérifié le 18 octobre 2026 :</a:t>
            </a:r>
          </a:p>
          <a:p xmlns:a="http://schemas.openxmlformats.org/drawingml/2006/main">
            <a:r>
              <a:t>Le document principal est autonome en 10 pages et ne renvoie pas à un ancien rapport. Les références et traces sont localisées en page 10. Le dossier juridique J01-J07 conserve les formulaires de travail séparément. Les droits d’usage, coordonnées réelles, visas, formation, audit indépendant, revue humaine et copie hors machine restent à établir ou réaliser. Aucun acte juridique ou validation du jury n’est inventé.</a:t>
            </a:r>
          </a:p>
          <a:p xmlns:a="http://schemas.openxmlformats.org/drawingml/2006/main">
            <a:r>
              <a:t/>
            </a:r>
          </a:p>
          <a:p xmlns:a="http://schemas.openxmlformats.org/drawingml/2006/main">
            <a:r>
              <a:t>Référence actuelle : Plan de gouvernance V1.6, p. 9. Budget de 15 minutes prévu, sans répétition chronométrée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c3e41f17d945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447ac2b39945f3" /><Relationship Type="http://schemas.openxmlformats.org/officeDocument/2006/relationships/slideLayout" Target="/ppt/slideLayouts/slideLayout1.xml" Id="Ra9aa230712444d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aa230712444d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f1ca1231e44549" /><Relationship Type="http://schemas.openxmlformats.org/officeDocument/2006/relationships/notesSlide" Target="/ppt/notesSlides/notesSlide1.xml" Id="Ra014a9c0673c45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76b3c1d6f148b4" /><Relationship Type="http://schemas.openxmlformats.org/officeDocument/2006/relationships/notesSlide" Target="/ppt/notesSlides/notesSlide2.xml" Id="R3dd70ca4dc6742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166013d4c24483" /><Relationship Type="http://schemas.openxmlformats.org/officeDocument/2006/relationships/notesSlide" Target="/ppt/notesSlides/notesSlide3.xml" Id="R31e43899183749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9715bcd35141ef" /><Relationship Type="http://schemas.openxmlformats.org/officeDocument/2006/relationships/notesSlide" Target="/ppt/notesSlides/notesSlide4.xml" Id="R74c2dd65dfbe4e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251776656a4c05" /><Relationship Type="http://schemas.openxmlformats.org/officeDocument/2006/relationships/notesSlide" Target="/ppt/notesSlides/notesSlide5.xml" Id="R78b1bb08f47a4b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c072ad0bec54ed7" /><Relationship Type="http://schemas.openxmlformats.org/officeDocument/2006/relationships/notesSlide" Target="/ppt/notesSlides/notesSlide6.xml" Id="R17963bcf0b9649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5e998844a94faf" /><Relationship Type="http://schemas.openxmlformats.org/officeDocument/2006/relationships/notesSlide" Target="/ppt/notesSlides/notesSlide7.xml" Id="R52a4f6de6bff45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028a0f5b5894397" /><Relationship Type="http://schemas.openxmlformats.org/officeDocument/2006/relationships/notesSlide" Target="/ppt/notesSlides/notesSlide8.xml" Id="Rd5cf0950d45f42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3a04dc9ec84986" /><Relationship Type="http://schemas.openxmlformats.org/officeDocument/2006/relationships/notesSlide" Target="/ppt/notesSlides/notesSlide9.xml" Id="R5314749c09a94e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9d4cd998ce94702" /><Relationship Type="http://schemas.openxmlformats.org/officeDocument/2006/relationships/notesSlide" Target="/ppt/notesSlides/notesSlide10.xml" Id="Reda89c7f9f0b4b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0b5f47eb2df4f63" /><Relationship Type="http://schemas.openxmlformats.org/officeDocument/2006/relationships/notesSlide" Target="/ppt/notesSlides/notesSlide11.xml" Id="R09746ef1c8084fc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c75bdb6e2384bbf" /><Relationship Type="http://schemas.openxmlformats.org/officeDocument/2006/relationships/notesSlide" Target="/ppt/notesSlides/notesSlide12.xml" Id="R793c9ded6aa5428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3E5FBA-7FAF-432D-B620-47778A5C260E}"/>
              </a:ext>
            </a:extLst>
          </p:cNvPr>
          <p:cNvSpPr>
            <a:spLocks xmlns:a="http://schemas.openxmlformats.org/drawingml/2006/main" noGrp="1"/>
          </p:cNvSpPr>
          <p:nvPr/>
        </p:nvSpPr>
        <p:spPr>
          <a:xfrm xmlns:a="http://schemas.openxmlformats.org/drawingml/2006/main">
            <a:off x="685800" y="4286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825" b="1">
                <a:solidFill>
                  <a:srgbClr val="111111"/>
                </a:solidFill>
                <a:latin typeface="Arial"/>
                <a:ea typeface="Arial"/>
                <a:cs typeface="Arial"/>
              </a:defRPr>
            </a:pPr>
            <a:r>
              <a:rPr sz="3825" b="1">
                <a:solidFill>
                  <a:srgbClr val="111111"/>
                </a:solidFill>
                <a:latin typeface="Arial"/>
                <a:ea typeface="Arial"/>
                <a:cs typeface="Arial"/>
              </a:rPr>
              <a:t>Gouvernance des données OSINT</a:t>
            </a:r>
          </a:p>
        </p:txBody>
      </p:sp>
      <p:sp>
        <p:nvSpPr>
          <p:cNvPr id="2" name="">
            <a:extLst xmlns:a="http://schemas.openxmlformats.org/drawingml/2006/main">
              <a:ext uri="{FF2B5EF4-FFF2-40B4-BE49-F238E27FC236}">
                <a16:creationId xmlns:a16="http://schemas.microsoft.com/office/drawing/2014/main" id="{C0115305-CD32-4E81-B08A-416A9DCED75E}"/>
              </a:ext>
            </a:extLst>
          </p:cNvPr>
          <p:cNvSpPr>
            <a:spLocks xmlns:a="http://schemas.openxmlformats.org/drawingml/2006/main" noGrp="1"/>
          </p:cNvSpPr>
          <p:nvPr/>
        </p:nvSpPr>
        <p:spPr>
          <a:xfrm xmlns:a="http://schemas.openxmlformats.org/drawingml/2006/main">
            <a:off x="685800" y="1362075"/>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3D5363"/>
                </a:solidFill>
                <a:latin typeface="Arial"/>
                <a:ea typeface="Arial"/>
                <a:cs typeface="Arial"/>
              </a:defRPr>
            </a:pPr>
            <a:r>
              <a:rPr sz="2175" b="0">
                <a:solidFill>
                  <a:srgbClr val="3D5363"/>
                </a:solidFill>
                <a:latin typeface="Arial"/>
                <a:ea typeface="Arial"/>
                <a:cs typeface="Arial"/>
              </a:rPr>
              <a:t>Une cellule de veille documentaire fictive</a:t>
            </a:r>
          </a:p>
        </p:txBody>
      </p:sp>
      <p:sp>
        <p:nvSpPr>
          <p:cNvPr id="3" name="">
            <a:extLst xmlns:a="http://schemas.openxmlformats.org/drawingml/2006/main">
              <a:ext uri="{FF2B5EF4-FFF2-40B4-BE49-F238E27FC236}">
                <a16:creationId xmlns:a16="http://schemas.microsoft.com/office/drawing/2014/main" id="{6CD6014B-392D-4932-8270-D4506259C27F}"/>
              </a:ext>
            </a:extLst>
          </p:cNvPr>
          <p:cNvSpPr>
            <a:spLocks xmlns:a="http://schemas.openxmlformats.org/drawingml/2006/main" noGrp="1"/>
          </p:cNvSpPr>
          <p:nvPr/>
        </p:nvSpPr>
        <p:spPr>
          <a:xfrm xmlns:a="http://schemas.openxmlformats.org/drawingml/2006/main">
            <a:off x="685800" y="22860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11111"/>
                </a:solidFill>
                <a:latin typeface="Arial"/>
                <a:ea typeface="Arial"/>
                <a:cs typeface="Arial"/>
              </a:defRPr>
            </a:pPr>
            <a:r>
              <a:rPr sz="2325" b="0">
                <a:solidFill>
                  <a:srgbClr val="111111"/>
                </a:solidFill>
                <a:latin typeface="Arial"/>
                <a:ea typeface="Arial"/>
                <a:cs typeface="Arial"/>
              </a:rPr>
              <a:t>Edouard Cappaert</a:t>
            </a:r>
          </a:p>
        </p:txBody>
      </p:sp>
      <p:sp>
        <p:nvSpPr>
          <p:cNvPr id="4" name="">
            <a:extLst xmlns:a="http://schemas.openxmlformats.org/drawingml/2006/main">
              <a:ext uri="{FF2B5EF4-FFF2-40B4-BE49-F238E27FC236}">
                <a16:creationId xmlns:a16="http://schemas.microsoft.com/office/drawing/2014/main" id="{68DB811F-78E2-48CA-A9A2-DED614D5B117}"/>
              </a:ext>
            </a:extLst>
          </p:cNvPr>
          <p:cNvSpPr>
            <a:spLocks xmlns:a="http://schemas.openxmlformats.org/drawingml/2006/main" noGrp="1"/>
          </p:cNvSpPr>
          <p:nvPr/>
        </p:nvSpPr>
        <p:spPr>
          <a:xfrm xmlns:a="http://schemas.openxmlformats.org/drawingml/2006/main">
            <a:off x="685800" y="32385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11111"/>
                </a:solidFill>
                <a:latin typeface="Arial"/>
                <a:ea typeface="Arial"/>
                <a:cs typeface="Arial"/>
              </a:defRPr>
            </a:pPr>
            <a:r>
              <a:rPr sz="2325" b="0">
                <a:solidFill>
                  <a:srgbClr val="111111"/>
                </a:solidFill>
                <a:latin typeface="Arial"/>
                <a:ea typeface="Arial"/>
                <a:cs typeface="Arial"/>
              </a:rPr>
              <a:t>Bloc 1 du mémoire</a:t>
            </a:r>
          </a:p>
        </p:txBody>
      </p:sp>
      <p:sp>
        <p:nvSpPr>
          <p:cNvPr id="5" name="">
            <a:extLst xmlns:a="http://schemas.openxmlformats.org/drawingml/2006/main">
              <a:ext uri="{FF2B5EF4-FFF2-40B4-BE49-F238E27FC236}">
                <a16:creationId xmlns:a16="http://schemas.microsoft.com/office/drawing/2014/main" id="{9C28E5F4-0FCA-4230-A53C-B8BC80EDF504}"/>
              </a:ext>
            </a:extLst>
          </p:cNvPr>
          <p:cNvSpPr>
            <a:spLocks xmlns:a="http://schemas.openxmlformats.org/drawingml/2006/main" noGrp="1"/>
          </p:cNvSpPr>
          <p:nvPr/>
        </p:nvSpPr>
        <p:spPr>
          <a:xfrm xmlns:a="http://schemas.openxmlformats.org/drawingml/2006/main">
            <a:off x="685800" y="41910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11111"/>
                </a:solidFill>
                <a:latin typeface="Arial"/>
                <a:ea typeface="Arial"/>
                <a:cs typeface="Arial"/>
              </a:defRPr>
            </a:pPr>
            <a:r>
              <a:rPr sz="2325" b="0">
                <a:solidFill>
                  <a:srgbClr val="111111"/>
                </a:solidFill>
                <a:latin typeface="Arial"/>
                <a:ea typeface="Arial"/>
                <a:cs typeface="Arial"/>
              </a:rPr>
              <a:t>Version 1.6 du 18 octobre 2026</a:t>
            </a:r>
          </a:p>
        </p:txBody>
      </p:sp>
      <p:sp>
        <p:nvSpPr>
          <p:cNvPr id="6" name="">
            <a:extLst xmlns:a="http://schemas.openxmlformats.org/drawingml/2006/main">
              <a:ext uri="{FF2B5EF4-FFF2-40B4-BE49-F238E27FC236}">
                <a16:creationId xmlns:a16="http://schemas.microsoft.com/office/drawing/2014/main" id="{8390957D-2043-4B91-B768-B6A08F0413EC}"/>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55555"/>
                </a:solidFill>
                <a:latin typeface="Arial"/>
                <a:ea typeface="Arial"/>
                <a:cs typeface="Arial"/>
              </a:defRPr>
            </a:pPr>
            <a:r>
              <a:rPr sz="1200" b="0">
                <a:solidFill>
                  <a:srgbClr val="555555"/>
                </a:solidFill>
                <a:latin typeface="Arial"/>
                <a:ea typeface="Arial"/>
                <a:cs typeface="Arial"/>
              </a:rPr>
              <a:t>Plan de gouvernance p. 1     1 / 12</a:t>
            </a:r>
          </a:p>
        </p:txBody>
      </p:sp>
    </p:spTree>
    <p:extLst>
      <p:ext uri="{BB962C8B-B14F-4D97-AF65-F5344CB8AC3E}">
        <p14:creationId xmlns:p14="http://schemas.microsoft.com/office/powerpoint/2010/main" val="6663717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71BD57-F8F3-4A2E-8F59-4782F23B9F18}"/>
              </a:ext>
            </a:extLst>
          </p:cNvPr>
          <p:cNvSpPr>
            <a:spLocks xmlns:a="http://schemas.openxmlformats.org/drawingml/2006/main" noGrp="1"/>
          </p:cNvSpPr>
          <p:nvPr/>
        </p:nvSpPr>
        <p:spPr>
          <a:xfrm xmlns:a="http://schemas.openxmlformats.org/drawingml/2006/main">
            <a:off x="685800" y="4286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11111"/>
                </a:solidFill>
                <a:latin typeface="Arial"/>
                <a:ea typeface="Arial"/>
                <a:cs typeface="Arial"/>
              </a:defRPr>
            </a:pPr>
            <a:r>
              <a:rPr sz="3225" b="1">
                <a:solidFill>
                  <a:srgbClr val="111111"/>
                </a:solidFill>
                <a:latin typeface="Arial"/>
                <a:ea typeface="Arial"/>
                <a:cs typeface="Arial"/>
              </a:rPr>
              <a:t>Le besoin de la cellule de veille</a:t>
            </a:r>
          </a:p>
        </p:txBody>
      </p:sp>
      <p:sp>
        <p:nvSpPr>
          <p:cNvPr id="2" name="">
            <a:extLst xmlns:a="http://schemas.openxmlformats.org/drawingml/2006/main">
              <a:ext uri="{FF2B5EF4-FFF2-40B4-BE49-F238E27FC236}">
                <a16:creationId xmlns:a16="http://schemas.microsoft.com/office/drawing/2014/main" id="{645D6A84-4C86-4141-81AE-D09300EB4ADD}"/>
              </a:ext>
            </a:extLst>
          </p:cNvPr>
          <p:cNvSpPr>
            <a:spLocks xmlns:a="http://schemas.openxmlformats.org/drawingml/2006/main" noGrp="1"/>
          </p:cNvSpPr>
          <p:nvPr/>
        </p:nvSpPr>
        <p:spPr>
          <a:xfrm xmlns:a="http://schemas.openxmlformats.org/drawingml/2006/main">
            <a:off x="685800" y="1362075"/>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3D5363"/>
                </a:solidFill>
                <a:latin typeface="Arial"/>
                <a:ea typeface="Arial"/>
                <a:cs typeface="Arial"/>
              </a:defRPr>
            </a:pPr>
            <a:r>
              <a:rPr sz="2175" b="0">
                <a:solidFill>
                  <a:srgbClr val="3D5363"/>
                </a:solidFill>
                <a:latin typeface="Arial"/>
                <a:ea typeface="Arial"/>
                <a:cs typeface="Arial"/>
              </a:rPr>
              <a:t>Préparer une note dont chaque constat renvoie à un article</a:t>
            </a:r>
          </a:p>
        </p:txBody>
      </p:sp>
      <p:sp>
        <p:nvSpPr>
          <p:cNvPr id="3" name="">
            <a:extLst xmlns:a="http://schemas.openxmlformats.org/drawingml/2006/main">
              <a:ext uri="{FF2B5EF4-FFF2-40B4-BE49-F238E27FC236}">
                <a16:creationId xmlns:a16="http://schemas.microsoft.com/office/drawing/2014/main" id="{13AB83D6-A860-40A1-B00B-C04E76C410DF}"/>
              </a:ext>
            </a:extLst>
          </p:cNvPr>
          <p:cNvSpPr>
            <a:spLocks xmlns:a="http://schemas.openxmlformats.org/drawingml/2006/main" noGrp="1"/>
          </p:cNvSpPr>
          <p:nvPr/>
        </p:nvSpPr>
        <p:spPr>
          <a:xfrm xmlns:a="http://schemas.openxmlformats.org/drawingml/2006/main">
            <a:off x="685800" y="22860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11111"/>
                </a:solidFill>
                <a:latin typeface="Arial"/>
                <a:ea typeface="Arial"/>
                <a:cs typeface="Arial"/>
              </a:defRPr>
            </a:pPr>
            <a:r>
              <a:rPr sz="2100" b="0">
                <a:solidFill>
                  <a:srgbClr val="111111"/>
                </a:solidFill>
                <a:latin typeface="Arial"/>
                <a:ea typeface="Arial"/>
                <a:cs typeface="Arial"/>
              </a:rPr>
              <a:t>Collecte : source, fenêtre UTC, cadence et limite justifiées.</a:t>
            </a:r>
          </a:p>
        </p:txBody>
      </p:sp>
      <p:sp>
        <p:nvSpPr>
          <p:cNvPr id="4" name="">
            <a:extLst xmlns:a="http://schemas.openxmlformats.org/drawingml/2006/main">
              <a:ext uri="{FF2B5EF4-FFF2-40B4-BE49-F238E27FC236}">
                <a16:creationId xmlns:a16="http://schemas.microsoft.com/office/drawing/2014/main" id="{21AA440E-6150-4E7E-BB63-C6F3B76B0100}"/>
              </a:ext>
            </a:extLst>
          </p:cNvPr>
          <p:cNvSpPr>
            <a:spLocks xmlns:a="http://schemas.openxmlformats.org/drawingml/2006/main" noGrp="1"/>
          </p:cNvSpPr>
          <p:nvPr/>
        </p:nvSpPr>
        <p:spPr>
          <a:xfrm xmlns:a="http://schemas.openxmlformats.org/drawingml/2006/main">
            <a:off x="685800" y="32385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11111"/>
                </a:solidFill>
                <a:latin typeface="Arial"/>
                <a:ea typeface="Arial"/>
                <a:cs typeface="Arial"/>
              </a:defRPr>
            </a:pPr>
            <a:r>
              <a:rPr sz="2100" b="0">
                <a:solidFill>
                  <a:srgbClr val="111111"/>
                </a:solidFill>
                <a:latin typeface="Arial"/>
                <a:ea typeface="Arial"/>
                <a:cs typeface="Arial"/>
              </a:rPr>
              <a:t>Suivi puis Corpus : lire les articles, leurs versions et préparer un export.</a:t>
            </a:r>
          </a:p>
        </p:txBody>
      </p:sp>
      <p:sp>
        <p:nvSpPr>
          <p:cNvPr id="5" name="">
            <a:extLst xmlns:a="http://schemas.openxmlformats.org/drawingml/2006/main">
              <a:ext uri="{FF2B5EF4-FFF2-40B4-BE49-F238E27FC236}">
                <a16:creationId xmlns:a16="http://schemas.microsoft.com/office/drawing/2014/main" id="{59F89F34-CCB2-4367-BF5C-30CD51754877}"/>
              </a:ext>
            </a:extLst>
          </p:cNvPr>
          <p:cNvSpPr>
            <a:spLocks xmlns:a="http://schemas.openxmlformats.org/drawingml/2006/main" noGrp="1"/>
          </p:cNvSpPr>
          <p:nvPr/>
        </p:nvSpPr>
        <p:spPr>
          <a:xfrm xmlns:a="http://schemas.openxmlformats.org/drawingml/2006/main">
            <a:off x="685800" y="41910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11111"/>
                </a:solidFill>
                <a:latin typeface="Arial"/>
                <a:ea typeface="Arial"/>
                <a:cs typeface="Arial"/>
              </a:defRPr>
            </a:pPr>
            <a:r>
              <a:rPr sz="2100" b="0">
                <a:solidFill>
                  <a:srgbClr val="111111"/>
                </a:solidFill>
                <a:latin typeface="Arial"/>
                <a:ea typeface="Arial"/>
                <a:cs typeface="Arial"/>
              </a:rPr>
              <a:t>Le responsable valide la diffusion. La collecte ne lance pas le modèle NER.</a:t>
            </a:r>
          </a:p>
        </p:txBody>
      </p:sp>
      <p:sp>
        <p:nvSpPr>
          <p:cNvPr id="6" name="">
            <a:extLst xmlns:a="http://schemas.openxmlformats.org/drawingml/2006/main">
              <a:ext uri="{FF2B5EF4-FFF2-40B4-BE49-F238E27FC236}">
                <a16:creationId xmlns:a16="http://schemas.microsoft.com/office/drawing/2014/main" id="{57D07601-5F89-4C5E-849C-5F1B818366AC}"/>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55555"/>
                </a:solidFill>
                <a:latin typeface="Arial"/>
                <a:ea typeface="Arial"/>
                <a:cs typeface="Arial"/>
              </a:defRPr>
            </a:pPr>
            <a:r>
              <a:rPr sz="1200" b="0">
                <a:solidFill>
                  <a:srgbClr val="555555"/>
                </a:solidFill>
                <a:latin typeface="Arial"/>
                <a:ea typeface="Arial"/>
                <a:cs typeface="Arial"/>
              </a:rPr>
              <a:t>Plan de gouvernance p. 2     2 / 12</a:t>
            </a:r>
          </a:p>
        </p:txBody>
      </p:sp>
    </p:spTree>
    <p:extLst>
      <p:ext uri="{BB962C8B-B14F-4D97-AF65-F5344CB8AC3E}">
        <p14:creationId xmlns:p14="http://schemas.microsoft.com/office/powerpoint/2010/main" val="1273587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18C313-737D-4861-A8B1-D54309AFF219}"/>
              </a:ext>
            </a:extLst>
          </p:cNvPr>
          <p:cNvSpPr>
            <a:spLocks xmlns:a="http://schemas.openxmlformats.org/drawingml/2006/main" noGrp="1"/>
          </p:cNvSpPr>
          <p:nvPr/>
        </p:nvSpPr>
        <p:spPr>
          <a:xfrm xmlns:a="http://schemas.openxmlformats.org/drawingml/2006/main">
            <a:off x="685800" y="4286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11111"/>
                </a:solidFill>
                <a:latin typeface="Arial"/>
                <a:ea typeface="Arial"/>
                <a:cs typeface="Arial"/>
              </a:defRPr>
            </a:pPr>
            <a:r>
              <a:rPr sz="3225" b="1">
                <a:solidFill>
                  <a:srgbClr val="111111"/>
                </a:solidFill>
                <a:latin typeface="Arial"/>
                <a:ea typeface="Arial"/>
                <a:cs typeface="Arial"/>
              </a:rPr>
              <a:t>Le corpus disponible</a:t>
            </a:r>
          </a:p>
        </p:txBody>
      </p:sp>
      <p:sp>
        <p:nvSpPr>
          <p:cNvPr id="2" name="">
            <a:extLst xmlns:a="http://schemas.openxmlformats.org/drawingml/2006/main">
              <a:ext uri="{FF2B5EF4-FFF2-40B4-BE49-F238E27FC236}">
                <a16:creationId xmlns:a16="http://schemas.microsoft.com/office/drawing/2014/main" id="{16AB4C5E-55A4-4A02-8BD9-3F69F09DA3E0}"/>
              </a:ext>
            </a:extLst>
          </p:cNvPr>
          <p:cNvSpPr>
            <a:spLocks xmlns:a="http://schemas.openxmlformats.org/drawingml/2006/main" noGrp="1"/>
          </p:cNvSpPr>
          <p:nvPr/>
        </p:nvSpPr>
        <p:spPr>
          <a:xfrm xmlns:a="http://schemas.openxmlformats.org/drawingml/2006/main">
            <a:off x="685800" y="1362075"/>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3D5363"/>
                </a:solidFill>
                <a:latin typeface="Arial"/>
                <a:ea typeface="Arial"/>
                <a:cs typeface="Arial"/>
              </a:defRPr>
            </a:pPr>
            <a:r>
              <a:rPr sz="2175" b="0">
                <a:solidFill>
                  <a:srgbClr val="3D5363"/>
                </a:solidFill>
                <a:latin typeface="Arial"/>
                <a:ea typeface="Arial"/>
                <a:cs typeface="Arial"/>
              </a:rPr>
              <a:t>Le corpus historique et la collecte récente restent distingués</a:t>
            </a:r>
          </a:p>
        </p:txBody>
      </p:sp>
      <p:graphicFrame>
        <p:nvGraphicFramePr>
          <p:cNvPr id="9" name="">
            <a:extLst xmlns:a="http://schemas.openxmlformats.org/drawingml/2006/main">
              <a:ext uri="{FF2B5EF4-FFF2-40B4-BE49-F238E27FC236}">
                <a16:creationId xmlns:a16="http://schemas.microsoft.com/office/drawing/2014/main" id="{B1F0F310-D043-43BC-A9BE-422BAB6A4C6E}"/>
              </a:ext>
            </a:extLst>
          </p:cNvPr>
          <p:cNvGraphicFramePr/>
          <p:nvPr/>
        </p:nvGraphicFramePr>
        <p:xfrm>
          <a:off xmlns:a="http://schemas.openxmlformats.org/drawingml/2006/main" x="685800" y="2238375"/>
          <a:ext xmlns:a="http://schemas.openxmlformats.org/drawingml/2006/main" cx="10820400" cy="3143250"/>
        </p:xfrm>
        <a:graphic xmlns:a="http://schemas.openxmlformats.org/drawingml/2006/main">
          <a:graphicData uri="http://schemas.openxmlformats.org/drawingml/2006/table">
            <a:tbl>
              <a:tblPr/>
              <a:tblGrid>
                <a:gridCol w="3571875"/>
                <a:gridCol w="7248525"/>
              </a:tblGrid>
              <a:tr h="628650">
                <a:tc>
                  <a:txBody>
                    <a:bodyPr>
                      <a:noAutofit/>
                    </a:bodyPr>
                    <a:lstStyle/>
                    <a:p>
                      <a:r>
                        <a:rPr sz="1875" b="1">
                          <a:solidFill>
                            <a:srgbClr val="111111"/>
                          </a:solidFill>
                          <a:latin typeface="Arial"/>
                          <a:ea typeface="Arial"/>
                          <a:cs typeface="Arial"/>
                        </a:rPr>
                        <a:t>Élément</a:t>
                      </a:r>
                    </a:p>
                  </a:txBody>
                  <a:tcPr marL="91440" marR="91440" marT="45720" marB="45720">
                    <a:solidFill>
                      <a:srgbClr val="E7EDF2"/>
                    </a:solidFill>
                  </a:tcPr>
                </a:tc>
                <a:tc>
                  <a:txBody>
                    <a:bodyPr>
                      <a:noAutofit/>
                    </a:bodyPr>
                    <a:lstStyle/>
                    <a:p>
                      <a:r>
                        <a:rPr sz="1875" b="1">
                          <a:solidFill>
                            <a:srgbClr val="111111"/>
                          </a:solidFill>
                          <a:latin typeface="Arial"/>
                          <a:ea typeface="Arial"/>
                          <a:cs typeface="Arial"/>
                        </a:rPr>
                        <a:t>Constats datés des recettes locales</a:t>
                      </a:r>
                    </a:p>
                  </a:txBody>
                  <a:tcPr marL="91440" marR="91440" marT="45720" marB="45720">
                    <a:solidFill>
                      <a:srgbClr val="E7EDF2"/>
                    </a:solidFill>
                  </a:tcPr>
                </a:tc>
              </a:tr>
              <a:tr h="628650">
                <a:tc>
                  <a:txBody>
                    <a:bodyPr>
                      <a:noAutofit/>
                    </a:bodyPr>
                    <a:lstStyle/>
                    <a:p>
                      <a:r>
                        <a:rPr sz="1875" b="0">
                          <a:solidFill>
                            <a:srgbClr val="111111"/>
                          </a:solidFill>
                          <a:latin typeface="Arial"/>
                          <a:ea typeface="Arial"/>
                          <a:cs typeface="Arial"/>
                        </a:rPr>
                        <a:t>Corpus historique</a:t>
                      </a:r>
                    </a:p>
                  </a:txBody>
                  <a:tcPr marL="91440" marR="91440" marT="45720" marB="45720">
                    <a:solidFill>
                      <a:srgbClr val="FFFFFF"/>
                    </a:solidFill>
                  </a:tcPr>
                </a:tc>
                <a:tc>
                  <a:txBody>
                    <a:bodyPr>
                      <a:noAutofit/>
                    </a:bodyPr>
                    <a:lstStyle/>
                    <a:p>
                      <a:r>
                        <a:rPr sz="1875" b="0">
                          <a:solidFill>
                            <a:srgbClr val="111111"/>
                          </a:solidFill>
                          <a:latin typeface="Arial"/>
                          <a:ea typeface="Arial"/>
                          <a:cs typeface="Arial"/>
                        </a:rPr>
                        <a:t>21 676 articles nettoyés</a:t>
                      </a:r>
                    </a:p>
                  </a:txBody>
                  <a:tcPr marL="91440" marR="91440" marT="45720" marB="45720">
                    <a:solidFill>
                      <a:srgbClr val="FFFFFF"/>
                    </a:solidFill>
                  </a:tcPr>
                </a:tc>
              </a:tr>
              <a:tr h="628650">
                <a:tc>
                  <a:txBody>
                    <a:bodyPr>
                      <a:noAutofit/>
                    </a:bodyPr>
                    <a:lstStyle/>
                    <a:p>
                      <a:r>
                        <a:rPr sz="1875" b="0">
                          <a:solidFill>
                            <a:srgbClr val="111111"/>
                          </a:solidFill>
                          <a:latin typeface="Arial"/>
                          <a:ea typeface="Arial"/>
                          <a:cs typeface="Arial"/>
                        </a:rPr>
                        <a:t>Collecte Bloc 3 réelle</a:t>
                      </a:r>
                    </a:p>
                  </a:txBody>
                  <a:tcPr marL="91440" marR="91440" marT="45720" marB="45720">
                    <a:solidFill>
                      <a:srgbClr val="F7F9FB"/>
                    </a:solidFill>
                  </a:tcPr>
                </a:tc>
                <a:tc>
                  <a:txBody>
                    <a:bodyPr>
                      <a:noAutofit/>
                    </a:bodyPr>
                    <a:lstStyle/>
                    <a:p>
                      <a:r>
                        <a:rPr sz="1875" b="0">
                          <a:solidFill>
                            <a:srgbClr val="111111"/>
                          </a:solidFill>
                          <a:latin typeface="Arial"/>
                          <a:ea typeface="Arial"/>
                          <a:cs typeface="Arial"/>
                        </a:rPr>
                        <a:t>Cinq nouveaux articles, sans doublon au rejeu</a:t>
                      </a:r>
                    </a:p>
                  </a:txBody>
                  <a:tcPr marL="91440" marR="91440" marT="45720" marB="45720">
                    <a:solidFill>
                      <a:srgbClr val="F7F9FB"/>
                    </a:solidFill>
                  </a:tcPr>
                </a:tc>
              </a:tr>
              <a:tr h="628650">
                <a:tc>
                  <a:txBody>
                    <a:bodyPr>
                      <a:noAutofit/>
                    </a:bodyPr>
                    <a:lstStyle/>
                    <a:p>
                      <a:r>
                        <a:rPr sz="1875" b="0">
                          <a:solidFill>
                            <a:srgbClr val="111111"/>
                          </a:solidFill>
                          <a:latin typeface="Arial"/>
                          <a:ea typeface="Arial"/>
                          <a:cs typeface="Arial"/>
                        </a:rPr>
                        <a:t>Catalogue et Bloc 2</a:t>
                      </a:r>
                    </a:p>
                  </a:txBody>
                  <a:tcPr marL="91440" marR="91440" marT="45720" marB="45720">
                    <a:solidFill>
                      <a:srgbClr val="FFFFFF"/>
                    </a:solidFill>
                  </a:tcPr>
                </a:tc>
                <a:tc>
                  <a:txBody>
                    <a:bodyPr>
                      <a:noAutofit/>
                    </a:bodyPr>
                    <a:lstStyle/>
                    <a:p>
                      <a:r>
                        <a:rPr sz="1875" b="0">
                          <a:solidFill>
                            <a:srgbClr val="111111"/>
                          </a:solidFill>
                          <a:latin typeface="Arial"/>
                          <a:ea typeface="Arial"/>
                          <a:cs typeface="Arial"/>
                        </a:rPr>
                        <a:t>21 681 articles, contrôle du 18 octobre</a:t>
                      </a:r>
                    </a:p>
                  </a:txBody>
                  <a:tcPr marL="91440" marR="91440" marT="45720" marB="45720">
                    <a:solidFill>
                      <a:srgbClr val="FFFFFF"/>
                    </a:solidFill>
                  </a:tcPr>
                </a:tc>
              </a:tr>
              <a:tr h="628650">
                <a:tc>
                  <a:txBody>
                    <a:bodyPr>
                      <a:noAutofit/>
                    </a:bodyPr>
                    <a:lstStyle/>
                    <a:p>
                      <a:r>
                        <a:rPr sz="1875" b="0">
                          <a:solidFill>
                            <a:srgbClr val="111111"/>
                          </a:solidFill>
                          <a:latin typeface="Arial"/>
                          <a:ea typeface="Arial"/>
                          <a:cs typeface="Arial"/>
                        </a:rPr>
                        <a:t>NER initial puis raccordement</a:t>
                      </a:r>
                    </a:p>
                  </a:txBody>
                  <a:tcPr marL="91440" marR="91440" marT="45720" marB="45720">
                    <a:solidFill>
                      <a:srgbClr val="F7F9FB"/>
                    </a:solidFill>
                  </a:tcPr>
                </a:tc>
                <a:tc>
                  <a:txBody>
                    <a:bodyPr>
                      <a:noAutofit/>
                    </a:bodyPr>
                    <a:lstStyle/>
                    <a:p>
                      <a:r>
                        <a:rPr sz="1875" b="0">
                          <a:solidFill>
                            <a:srgbClr val="111111"/>
                          </a:solidFill>
                          <a:latin typeface="Arial"/>
                          <a:ea typeface="Arial"/>
                          <a:cs typeface="Arial"/>
                        </a:rPr>
                        <a:t>39 511 initiales, puis neuf mentions ajoutées</a:t>
                      </a:r>
                    </a:p>
                  </a:txBody>
                  <a:tcPr marL="91440" marR="91440" marT="45720" marB="45720">
                    <a:solidFill>
                      <a:srgbClr val="F7F9FB"/>
                    </a:solidFill>
                  </a:tcPr>
                </a:tc>
              </a:tr>
            </a:tbl>
          </a:graphicData>
        </a:graphic>
      </p:graphicFrame>
      <p:sp>
        <p:nvSpPr>
          <p:cNvPr id="4" name="">
            <a:extLst xmlns:a="http://schemas.openxmlformats.org/drawingml/2006/main">
              <a:ext uri="{FF2B5EF4-FFF2-40B4-BE49-F238E27FC236}">
                <a16:creationId xmlns:a16="http://schemas.microsoft.com/office/drawing/2014/main" id="{9FF88E65-87CA-45A2-A084-FF28042CB805}"/>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55555"/>
                </a:solidFill>
                <a:latin typeface="Arial"/>
                <a:ea typeface="Arial"/>
                <a:cs typeface="Arial"/>
              </a:defRPr>
            </a:pPr>
            <a:r>
              <a:rPr sz="1200" b="0">
                <a:solidFill>
                  <a:srgbClr val="555555"/>
                </a:solidFill>
                <a:latin typeface="Arial"/>
                <a:ea typeface="Arial"/>
                <a:cs typeface="Arial"/>
              </a:rPr>
              <a:t>Plan de gouvernance p. 2     3 / 12</a:t>
            </a:r>
          </a:p>
        </p:txBody>
      </p:sp>
    </p:spTree>
    <p:extLst>
      <p:ext uri="{BB962C8B-B14F-4D97-AF65-F5344CB8AC3E}">
        <p14:creationId xmlns:p14="http://schemas.microsoft.com/office/powerpoint/2010/main" val="18069367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3B4399-9FEC-4FB3-821A-87BDE8E29161}"/>
              </a:ext>
            </a:extLst>
          </p:cNvPr>
          <p:cNvSpPr>
            <a:spLocks xmlns:a="http://schemas.openxmlformats.org/drawingml/2006/main" noGrp="1"/>
          </p:cNvSpPr>
          <p:nvPr/>
        </p:nvSpPr>
        <p:spPr>
          <a:xfrm xmlns:a="http://schemas.openxmlformats.org/drawingml/2006/main">
            <a:off x="685800" y="4286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11111"/>
                </a:solidFill>
                <a:latin typeface="Arial"/>
                <a:ea typeface="Arial"/>
                <a:cs typeface="Arial"/>
              </a:defRPr>
            </a:pPr>
            <a:r>
              <a:rPr sz="3225" b="1">
                <a:solidFill>
                  <a:srgbClr val="111111"/>
                </a:solidFill>
                <a:latin typeface="Arial"/>
                <a:ea typeface="Arial"/>
                <a:cs typeface="Arial"/>
              </a:rPr>
              <a:t>Le cadre de conformité</a:t>
            </a:r>
          </a:p>
        </p:txBody>
      </p:sp>
      <p:sp>
        <p:nvSpPr>
          <p:cNvPr id="2" name="">
            <a:extLst xmlns:a="http://schemas.openxmlformats.org/drawingml/2006/main">
              <a:ext uri="{FF2B5EF4-FFF2-40B4-BE49-F238E27FC236}">
                <a16:creationId xmlns:a16="http://schemas.microsoft.com/office/drawing/2014/main" id="{8BF33334-DDA3-4B7F-8B6E-9AEF6D8B09D6}"/>
              </a:ext>
            </a:extLst>
          </p:cNvPr>
          <p:cNvSpPr>
            <a:spLocks xmlns:a="http://schemas.openxmlformats.org/drawingml/2006/main" noGrp="1"/>
          </p:cNvSpPr>
          <p:nvPr/>
        </p:nvSpPr>
        <p:spPr>
          <a:xfrm xmlns:a="http://schemas.openxmlformats.org/drawingml/2006/main">
            <a:off x="685800" y="1362075"/>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3D5363"/>
                </a:solidFill>
                <a:latin typeface="Arial"/>
                <a:ea typeface="Arial"/>
                <a:cs typeface="Arial"/>
              </a:defRPr>
            </a:pPr>
            <a:r>
              <a:rPr sz="2175" b="0">
                <a:solidFill>
                  <a:srgbClr val="3D5363"/>
                </a:solidFill>
                <a:latin typeface="Arial"/>
                <a:ea typeface="Arial"/>
                <a:cs typeface="Arial"/>
              </a:rPr>
              <a:t>Les données publiques peuvent concerner des personnes</a:t>
            </a:r>
          </a:p>
        </p:txBody>
      </p:sp>
      <p:graphicFrame>
        <p:nvGraphicFramePr>
          <p:cNvPr id="9" name="">
            <a:extLst xmlns:a="http://schemas.openxmlformats.org/drawingml/2006/main">
              <a:ext uri="{FF2B5EF4-FFF2-40B4-BE49-F238E27FC236}">
                <a16:creationId xmlns:a16="http://schemas.microsoft.com/office/drawing/2014/main" id="{6A4773FE-CDAB-4861-B315-F2E2346918C0}"/>
              </a:ext>
            </a:extLst>
          </p:cNvPr>
          <p:cNvGraphicFramePr/>
          <p:nvPr/>
        </p:nvGraphicFramePr>
        <p:xfrm>
          <a:off xmlns:a="http://schemas.openxmlformats.org/drawingml/2006/main" x="685800" y="2238375"/>
          <a:ext xmlns:a="http://schemas.openxmlformats.org/drawingml/2006/main" cx="10820400" cy="3143250"/>
        </p:xfrm>
        <a:graphic xmlns:a="http://schemas.openxmlformats.org/drawingml/2006/main">
          <a:graphicData uri="http://schemas.openxmlformats.org/drawingml/2006/table">
            <a:tbl>
              <a:tblPr/>
              <a:tblGrid>
                <a:gridCol w="4381500"/>
                <a:gridCol w="6438900"/>
              </a:tblGrid>
              <a:tr h="628650">
                <a:tc>
                  <a:txBody>
                    <a:bodyPr>
                      <a:noAutofit/>
                    </a:bodyPr>
                    <a:lstStyle/>
                    <a:p>
                      <a:r>
                        <a:rPr sz="1875" b="1">
                          <a:solidFill>
                            <a:srgbClr val="111111"/>
                          </a:solidFill>
                          <a:latin typeface="Arial"/>
                          <a:ea typeface="Arial"/>
                          <a:cs typeface="Arial"/>
                        </a:rPr>
                        <a:t>Référence</a:t>
                      </a:r>
                    </a:p>
                  </a:txBody>
                  <a:tcPr marL="91440" marR="91440" marT="45720" marB="45720">
                    <a:solidFill>
                      <a:srgbClr val="E7EDF2"/>
                    </a:solidFill>
                  </a:tcPr>
                </a:tc>
                <a:tc>
                  <a:txBody>
                    <a:bodyPr>
                      <a:noAutofit/>
                    </a:bodyPr>
                    <a:lstStyle/>
                    <a:p>
                      <a:r>
                        <a:rPr sz="1875" b="1">
                          <a:solidFill>
                            <a:srgbClr val="111111"/>
                          </a:solidFill>
                          <a:latin typeface="Arial"/>
                          <a:ea typeface="Arial"/>
                          <a:cs typeface="Arial"/>
                        </a:rPr>
                        <a:t>Décision pour ce projet</a:t>
                      </a:r>
                    </a:p>
                  </a:txBody>
                  <a:tcPr marL="91440" marR="91440" marT="45720" marB="45720">
                    <a:solidFill>
                      <a:srgbClr val="E7EDF2"/>
                    </a:solidFill>
                  </a:tcPr>
                </a:tc>
              </a:tr>
              <a:tr h="628650">
                <a:tc>
                  <a:txBody>
                    <a:bodyPr>
                      <a:noAutofit/>
                    </a:bodyPr>
                    <a:lstStyle/>
                    <a:p>
                      <a:r>
                        <a:rPr sz="1875" b="0">
                          <a:solidFill>
                            <a:srgbClr val="111111"/>
                          </a:solidFill>
                          <a:latin typeface="Arial"/>
                          <a:ea typeface="Arial"/>
                          <a:cs typeface="Arial"/>
                        </a:rPr>
                        <a:t>RGPD et loi Informatique et Libertés</a:t>
                      </a:r>
                    </a:p>
                  </a:txBody>
                  <a:tcPr marL="91440" marR="91440" marT="45720" marB="45720">
                    <a:solidFill>
                      <a:srgbClr val="FFFFFF"/>
                    </a:solidFill>
                  </a:tcPr>
                </a:tc>
                <a:tc>
                  <a:txBody>
                    <a:bodyPr>
                      <a:noAutofit/>
                    </a:bodyPr>
                    <a:lstStyle/>
                    <a:p>
                      <a:r>
                        <a:rPr sz="1875" b="0">
                          <a:solidFill>
                            <a:srgbClr val="111111"/>
                          </a:solidFill>
                          <a:latin typeface="Arial"/>
                          <a:ea typeface="Arial"/>
                          <a:cs typeface="Arial"/>
                        </a:rPr>
                        <a:t>Finalités, base légale, droits et sécurité</a:t>
                      </a:r>
                    </a:p>
                  </a:txBody>
                  <a:tcPr marL="91440" marR="91440" marT="45720" marB="45720">
                    <a:solidFill>
                      <a:srgbClr val="FFFFFF"/>
                    </a:solidFill>
                  </a:tcPr>
                </a:tc>
              </a:tr>
              <a:tr h="628650">
                <a:tc>
                  <a:txBody>
                    <a:bodyPr>
                      <a:noAutofit/>
                    </a:bodyPr>
                    <a:lstStyle/>
                    <a:p>
                      <a:r>
                        <a:rPr sz="1875" b="0">
                          <a:solidFill>
                            <a:srgbClr val="111111"/>
                          </a:solidFill>
                          <a:latin typeface="Arial"/>
                          <a:ea typeface="Arial"/>
                          <a:cs typeface="Arial"/>
                        </a:rPr>
                        <a:t>Scraping et droits sur les textes</a:t>
                      </a:r>
                    </a:p>
                  </a:txBody>
                  <a:tcPr marL="91440" marR="91440" marT="45720" marB="45720">
                    <a:solidFill>
                      <a:srgbClr val="F7F9FB"/>
                    </a:solidFill>
                  </a:tcPr>
                </a:tc>
                <a:tc>
                  <a:txBody>
                    <a:bodyPr>
                      <a:noAutofit/>
                    </a:bodyPr>
                    <a:lstStyle/>
                    <a:p>
                      <a:r>
                        <a:rPr sz="1875" b="0">
                          <a:solidFill>
                            <a:srgbClr val="111111"/>
                          </a:solidFill>
                          <a:latin typeface="Arial"/>
                          <a:ea typeface="Arial"/>
                          <a:cs typeface="Arial"/>
                        </a:rPr>
                        <a:t>Périmètre, restrictions et réutilisation à qualifier</a:t>
                      </a:r>
                    </a:p>
                  </a:txBody>
                  <a:tcPr marL="91440" marR="91440" marT="45720" marB="45720">
                    <a:solidFill>
                      <a:srgbClr val="F7F9FB"/>
                    </a:solidFill>
                  </a:tcPr>
                </a:tc>
              </a:tr>
              <a:tr h="628650">
                <a:tc>
                  <a:txBody>
                    <a:bodyPr>
                      <a:noAutofit/>
                    </a:bodyPr>
                    <a:lstStyle/>
                    <a:p>
                      <a:r>
                        <a:rPr sz="1875" b="0">
                          <a:solidFill>
                            <a:srgbClr val="111111"/>
                          </a:solidFill>
                          <a:latin typeface="Arial"/>
                          <a:ea typeface="Arial"/>
                          <a:cs typeface="Arial"/>
                        </a:rPr>
                        <a:t>Règlement IA</a:t>
                      </a:r>
                    </a:p>
                  </a:txBody>
                  <a:tcPr marL="91440" marR="91440" marT="45720" marB="45720">
                    <a:solidFill>
                      <a:srgbClr val="FFFFFF"/>
                    </a:solidFill>
                  </a:tcPr>
                </a:tc>
                <a:tc>
                  <a:txBody>
                    <a:bodyPr>
                      <a:noAutofit/>
                    </a:bodyPr>
                    <a:lstStyle/>
                    <a:p>
                      <a:r>
                        <a:rPr sz="1875" b="0">
                          <a:solidFill>
                            <a:srgbClr val="111111"/>
                          </a:solidFill>
                          <a:latin typeface="Arial"/>
                          <a:ea typeface="Arial"/>
                          <a:cs typeface="Arial"/>
                        </a:rPr>
                        <a:t>Qualification de l’usage et formation</a:t>
                      </a:r>
                    </a:p>
                  </a:txBody>
                  <a:tcPr marL="91440" marR="91440" marT="45720" marB="45720">
                    <a:solidFill>
                      <a:srgbClr val="FFFFFF"/>
                    </a:solidFill>
                  </a:tcPr>
                </a:tc>
              </a:tr>
              <a:tr h="628650">
                <a:tc>
                  <a:txBody>
                    <a:bodyPr>
                      <a:noAutofit/>
                    </a:bodyPr>
                    <a:lstStyle/>
                    <a:p>
                      <a:r>
                        <a:rPr sz="1875" b="0">
                          <a:solidFill>
                            <a:srgbClr val="111111"/>
                          </a:solidFill>
                          <a:latin typeface="Arial"/>
                          <a:ea typeface="Arial"/>
                          <a:cs typeface="Arial"/>
                        </a:rPr>
                        <a:t>ISO et RGAA</a:t>
                      </a:r>
                    </a:p>
                  </a:txBody>
                  <a:tcPr marL="91440" marR="91440" marT="45720" marB="45720">
                    <a:solidFill>
                      <a:srgbClr val="F7F9FB"/>
                    </a:solidFill>
                  </a:tcPr>
                </a:tc>
                <a:tc>
                  <a:txBody>
                    <a:bodyPr>
                      <a:noAutofit/>
                    </a:bodyPr>
                    <a:lstStyle/>
                    <a:p>
                      <a:r>
                        <a:rPr sz="1875" b="0">
                          <a:solidFill>
                            <a:srgbClr val="111111"/>
                          </a:solidFill>
                          <a:latin typeface="Arial"/>
                          <a:ea typeface="Arial"/>
                          <a:cs typeface="Arial"/>
                        </a:rPr>
                        <a:t>Méthodes de contrôle, sans certification annoncée</a:t>
                      </a:r>
                    </a:p>
                  </a:txBody>
                  <a:tcPr marL="91440" marR="91440" marT="45720" marB="45720">
                    <a:solidFill>
                      <a:srgbClr val="F7F9FB"/>
                    </a:solidFill>
                  </a:tcPr>
                </a:tc>
              </a:tr>
            </a:tbl>
          </a:graphicData>
        </a:graphic>
      </p:graphicFrame>
      <p:sp>
        <p:nvSpPr>
          <p:cNvPr id="4" name="">
            <a:extLst xmlns:a="http://schemas.openxmlformats.org/drawingml/2006/main">
              <a:ext uri="{FF2B5EF4-FFF2-40B4-BE49-F238E27FC236}">
                <a16:creationId xmlns:a16="http://schemas.microsoft.com/office/drawing/2014/main" id="{D76BFDA6-A098-4EE8-BEE0-43D3A93A796D}"/>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55555"/>
                </a:solidFill>
                <a:latin typeface="Arial"/>
                <a:ea typeface="Arial"/>
                <a:cs typeface="Arial"/>
              </a:defRPr>
            </a:pPr>
            <a:r>
              <a:rPr sz="1200" b="0">
                <a:solidFill>
                  <a:srgbClr val="555555"/>
                </a:solidFill>
                <a:latin typeface="Arial"/>
                <a:ea typeface="Arial"/>
                <a:cs typeface="Arial"/>
              </a:rPr>
              <a:t>Plan de gouvernance p. 2     4 / 12</a:t>
            </a:r>
          </a:p>
        </p:txBody>
      </p:sp>
    </p:spTree>
    <p:extLst>
      <p:ext uri="{BB962C8B-B14F-4D97-AF65-F5344CB8AC3E}">
        <p14:creationId xmlns:p14="http://schemas.microsoft.com/office/powerpoint/2010/main" val="8242577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5D16E6-7668-469E-944A-72FAD57CE42E}"/>
              </a:ext>
            </a:extLst>
          </p:cNvPr>
          <p:cNvSpPr>
            <a:spLocks xmlns:a="http://schemas.openxmlformats.org/drawingml/2006/main" noGrp="1"/>
          </p:cNvSpPr>
          <p:nvPr/>
        </p:nvSpPr>
        <p:spPr>
          <a:xfrm xmlns:a="http://schemas.openxmlformats.org/drawingml/2006/main">
            <a:off x="685800" y="4286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11111"/>
                </a:solidFill>
                <a:latin typeface="Arial"/>
                <a:ea typeface="Arial"/>
                <a:cs typeface="Arial"/>
              </a:defRPr>
            </a:pPr>
            <a:r>
              <a:rPr sz="3225" b="1">
                <a:solidFill>
                  <a:srgbClr val="111111"/>
                </a:solidFill>
                <a:latin typeface="Arial"/>
                <a:ea typeface="Arial"/>
                <a:cs typeface="Arial"/>
              </a:rPr>
              <a:t>Les responsabilités</a:t>
            </a:r>
          </a:p>
        </p:txBody>
      </p:sp>
      <p:sp>
        <p:nvSpPr>
          <p:cNvPr id="2" name="">
            <a:extLst xmlns:a="http://schemas.openxmlformats.org/drawingml/2006/main">
              <a:ext uri="{FF2B5EF4-FFF2-40B4-BE49-F238E27FC236}">
                <a16:creationId xmlns:a16="http://schemas.microsoft.com/office/drawing/2014/main" id="{3C05DD03-1C75-48F8-99B2-3B73CC16A14A}"/>
              </a:ext>
            </a:extLst>
          </p:cNvPr>
          <p:cNvSpPr>
            <a:spLocks xmlns:a="http://schemas.openxmlformats.org/drawingml/2006/main" noGrp="1"/>
          </p:cNvSpPr>
          <p:nvPr/>
        </p:nvSpPr>
        <p:spPr>
          <a:xfrm xmlns:a="http://schemas.openxmlformats.org/drawingml/2006/main">
            <a:off x="685800" y="1362075"/>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3D5363"/>
                </a:solidFill>
                <a:latin typeface="Arial"/>
                <a:ea typeface="Arial"/>
                <a:cs typeface="Arial"/>
              </a:defRPr>
            </a:pPr>
            <a:r>
              <a:rPr sz="2175" b="0">
                <a:solidFill>
                  <a:srgbClr val="3D5363"/>
                </a:solidFill>
                <a:latin typeface="Arial"/>
                <a:ea typeface="Arial"/>
                <a:cs typeface="Arial"/>
              </a:rPr>
              <a:t>La direction décide et le référent conseille</a:t>
            </a:r>
          </a:p>
        </p:txBody>
      </p:sp>
      <p:graphicFrame>
        <p:nvGraphicFramePr>
          <p:cNvPr id="9" name="">
            <a:extLst xmlns:a="http://schemas.openxmlformats.org/drawingml/2006/main">
              <a:ext uri="{FF2B5EF4-FFF2-40B4-BE49-F238E27FC236}">
                <a16:creationId xmlns:a16="http://schemas.microsoft.com/office/drawing/2014/main" id="{DB464C68-FA85-4A77-8EF8-2C161D18E6A7}"/>
              </a:ext>
            </a:extLst>
          </p:cNvPr>
          <p:cNvGraphicFramePr/>
          <p:nvPr/>
        </p:nvGraphicFramePr>
        <p:xfrm>
          <a:off xmlns:a="http://schemas.openxmlformats.org/drawingml/2006/main" x="685800" y="2238375"/>
          <a:ext xmlns:a="http://schemas.openxmlformats.org/drawingml/2006/main" cx="10820400" cy="3381375"/>
        </p:xfrm>
        <a:graphic xmlns:a="http://schemas.openxmlformats.org/drawingml/2006/main">
          <a:graphicData uri="http://schemas.openxmlformats.org/drawingml/2006/table">
            <a:tbl>
              <a:tblPr/>
              <a:tblGrid>
                <a:gridCol w="3476625"/>
                <a:gridCol w="7343775"/>
              </a:tblGrid>
              <a:tr h="563563">
                <a:tc>
                  <a:txBody>
                    <a:bodyPr>
                      <a:noAutofit/>
                    </a:bodyPr>
                    <a:lstStyle/>
                    <a:p>
                      <a:r>
                        <a:rPr sz="1875" b="1">
                          <a:solidFill>
                            <a:srgbClr val="111111"/>
                          </a:solidFill>
                          <a:latin typeface="Arial"/>
                          <a:ea typeface="Arial"/>
                          <a:cs typeface="Arial"/>
                        </a:rPr>
                        <a:t>Rôle fictif</a:t>
                      </a:r>
                    </a:p>
                  </a:txBody>
                  <a:tcPr marL="91440" marR="91440" marT="45720" marB="45720">
                    <a:solidFill>
                      <a:srgbClr val="E7EDF2"/>
                    </a:solidFill>
                  </a:tcPr>
                </a:tc>
                <a:tc>
                  <a:txBody>
                    <a:bodyPr>
                      <a:noAutofit/>
                    </a:bodyPr>
                    <a:lstStyle/>
                    <a:p>
                      <a:r>
                        <a:rPr sz="1875" b="1">
                          <a:solidFill>
                            <a:srgbClr val="111111"/>
                          </a:solidFill>
                          <a:latin typeface="Arial"/>
                          <a:ea typeface="Arial"/>
                          <a:cs typeface="Arial"/>
                        </a:rPr>
                        <a:t>Responsabilité</a:t>
                      </a:r>
                    </a:p>
                  </a:txBody>
                  <a:tcPr marL="91440" marR="91440" marT="45720" marB="45720">
                    <a:solidFill>
                      <a:srgbClr val="E7EDF2"/>
                    </a:solidFill>
                  </a:tcPr>
                </a:tc>
              </a:tr>
              <a:tr h="563563">
                <a:tc>
                  <a:txBody>
                    <a:bodyPr>
                      <a:noAutofit/>
                    </a:bodyPr>
                    <a:lstStyle/>
                    <a:p>
                      <a:r>
                        <a:rPr sz="1875" b="0">
                          <a:solidFill>
                            <a:srgbClr val="111111"/>
                          </a:solidFill>
                          <a:latin typeface="Arial"/>
                          <a:ea typeface="Arial"/>
                          <a:cs typeface="Arial"/>
                        </a:rPr>
                        <a:t>Direction</a:t>
                      </a:r>
                    </a:p>
                  </a:txBody>
                  <a:tcPr marL="91440" marR="91440" marT="45720" marB="45720">
                    <a:solidFill>
                      <a:srgbClr val="FFFFFF"/>
                    </a:solidFill>
                  </a:tcPr>
                </a:tc>
                <a:tc>
                  <a:txBody>
                    <a:bodyPr>
                      <a:noAutofit/>
                    </a:bodyPr>
                    <a:lstStyle/>
                    <a:p>
                      <a:r>
                        <a:rPr sz="1875" b="0">
                          <a:solidFill>
                            <a:srgbClr val="111111"/>
                          </a:solidFill>
                          <a:latin typeface="Arial"/>
                          <a:ea typeface="Arial"/>
                          <a:cs typeface="Arial"/>
                        </a:rPr>
                        <a:t>Finalités, moyens, risques et notifications</a:t>
                      </a:r>
                    </a:p>
                  </a:txBody>
                  <a:tcPr marL="91440" marR="91440" marT="45720" marB="45720">
                    <a:solidFill>
                      <a:srgbClr val="FFFFFF"/>
                    </a:solidFill>
                  </a:tcPr>
                </a:tc>
              </a:tr>
              <a:tr h="563563">
                <a:tc>
                  <a:txBody>
                    <a:bodyPr>
                      <a:noAutofit/>
                    </a:bodyPr>
                    <a:lstStyle/>
                    <a:p>
                      <a:r>
                        <a:rPr sz="1875" b="0">
                          <a:solidFill>
                            <a:srgbClr val="111111"/>
                          </a:solidFill>
                          <a:latin typeface="Arial"/>
                          <a:ea typeface="Arial"/>
                          <a:cs typeface="Arial"/>
                        </a:rPr>
                        <a:t>Responsable de veille</a:t>
                      </a:r>
                    </a:p>
                  </a:txBody>
                  <a:tcPr marL="91440" marR="91440" marT="45720" marB="45720">
                    <a:solidFill>
                      <a:srgbClr val="F7F9FB"/>
                    </a:solidFill>
                  </a:tcPr>
                </a:tc>
                <a:tc>
                  <a:txBody>
                    <a:bodyPr>
                      <a:noAutofit/>
                    </a:bodyPr>
                    <a:lstStyle/>
                    <a:p>
                      <a:r>
                        <a:rPr sz="1875" b="0">
                          <a:solidFill>
                            <a:srgbClr val="111111"/>
                          </a:solidFill>
                          <a:latin typeface="Arial"/>
                          <a:ea typeface="Arial"/>
                          <a:cs typeface="Arial"/>
                        </a:rPr>
                        <a:t>Périmètre de collecte et validation des exports</a:t>
                      </a:r>
                    </a:p>
                  </a:txBody>
                  <a:tcPr marL="91440" marR="91440" marT="45720" marB="45720">
                    <a:solidFill>
                      <a:srgbClr val="F7F9FB"/>
                    </a:solidFill>
                  </a:tcPr>
                </a:tc>
              </a:tr>
              <a:tr h="563563">
                <a:tc>
                  <a:txBody>
                    <a:bodyPr>
                      <a:noAutofit/>
                    </a:bodyPr>
                    <a:lstStyle/>
                    <a:p>
                      <a:r>
                        <a:rPr sz="1875" b="0">
                          <a:solidFill>
                            <a:srgbClr val="111111"/>
                          </a:solidFill>
                          <a:latin typeface="Arial"/>
                          <a:ea typeface="Arial"/>
                          <a:cs typeface="Arial"/>
                        </a:rPr>
                        <a:t>Analyste</a:t>
                      </a:r>
                    </a:p>
                  </a:txBody>
                  <a:tcPr marL="91440" marR="91440" marT="45720" marB="45720">
                    <a:solidFill>
                      <a:srgbClr val="FFFFFF"/>
                    </a:solidFill>
                  </a:tcPr>
                </a:tc>
                <a:tc>
                  <a:txBody>
                    <a:bodyPr>
                      <a:noAutofit/>
                    </a:bodyPr>
                    <a:lstStyle/>
                    <a:p>
                      <a:r>
                        <a:rPr sz="1875" b="0">
                          <a:solidFill>
                            <a:srgbClr val="111111"/>
                          </a:solidFill>
                          <a:latin typeface="Arial"/>
                          <a:ea typeface="Arial"/>
                          <a:cs typeface="Arial"/>
                        </a:rPr>
                        <a:t>Vérification des textes et des annotations</a:t>
                      </a:r>
                    </a:p>
                  </a:txBody>
                  <a:tcPr marL="91440" marR="91440" marT="45720" marB="45720">
                    <a:solidFill>
                      <a:srgbClr val="FFFFFF"/>
                    </a:solidFill>
                  </a:tcPr>
                </a:tc>
              </a:tr>
              <a:tr h="563563">
                <a:tc>
                  <a:txBody>
                    <a:bodyPr>
                      <a:noAutofit/>
                    </a:bodyPr>
                    <a:lstStyle/>
                    <a:p>
                      <a:r>
                        <a:rPr sz="1875" b="0">
                          <a:solidFill>
                            <a:srgbClr val="111111"/>
                          </a:solidFill>
                          <a:latin typeface="Arial"/>
                          <a:ea typeface="Arial"/>
                          <a:cs typeface="Arial"/>
                        </a:rPr>
                        <a:t>Équipe technique</a:t>
                      </a:r>
                    </a:p>
                  </a:txBody>
                  <a:tcPr marL="91440" marR="91440" marT="45720" marB="45720">
                    <a:solidFill>
                      <a:srgbClr val="F7F9FB"/>
                    </a:solidFill>
                  </a:tcPr>
                </a:tc>
                <a:tc>
                  <a:txBody>
                    <a:bodyPr>
                      <a:noAutofit/>
                    </a:bodyPr>
                    <a:lstStyle/>
                    <a:p>
                      <a:r>
                        <a:rPr sz="1875" b="0">
                          <a:solidFill>
                            <a:srgbClr val="111111"/>
                          </a:solidFill>
                          <a:latin typeface="Arial"/>
                          <a:ea typeface="Arial"/>
                          <a:cs typeface="Arial"/>
                        </a:rPr>
                        <a:t>Accès, traitements et restauration</a:t>
                      </a:r>
                    </a:p>
                  </a:txBody>
                  <a:tcPr marL="91440" marR="91440" marT="45720" marB="45720">
                    <a:solidFill>
                      <a:srgbClr val="F7F9FB"/>
                    </a:solidFill>
                  </a:tcPr>
                </a:tc>
              </a:tr>
              <a:tr h="563563">
                <a:tc>
                  <a:txBody>
                    <a:bodyPr>
                      <a:noAutofit/>
                    </a:bodyPr>
                    <a:lstStyle/>
                    <a:p>
                      <a:r>
                        <a:rPr sz="1875" b="0">
                          <a:solidFill>
                            <a:srgbClr val="111111"/>
                          </a:solidFill>
                          <a:latin typeface="Arial"/>
                          <a:ea typeface="Arial"/>
                          <a:cs typeface="Arial"/>
                        </a:rPr>
                        <a:t>Référent ou DPO</a:t>
                      </a:r>
                    </a:p>
                  </a:txBody>
                  <a:tcPr marL="91440" marR="91440" marT="45720" marB="45720">
                    <a:solidFill>
                      <a:srgbClr val="FFFFFF"/>
                    </a:solidFill>
                  </a:tcPr>
                </a:tc>
                <a:tc>
                  <a:txBody>
                    <a:bodyPr>
                      <a:noAutofit/>
                    </a:bodyPr>
                    <a:lstStyle/>
                    <a:p>
                      <a:r>
                        <a:rPr sz="1875" b="0">
                          <a:solidFill>
                            <a:srgbClr val="111111"/>
                          </a:solidFill>
                          <a:latin typeface="Arial"/>
                          <a:ea typeface="Arial"/>
                          <a:cs typeface="Arial"/>
                        </a:rPr>
                        <a:t>Conseil, veille et contrôle indépendant</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2007670-4703-4E60-A363-E5454D80FD18}"/>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55555"/>
                </a:solidFill>
                <a:latin typeface="Arial"/>
                <a:ea typeface="Arial"/>
                <a:cs typeface="Arial"/>
              </a:defRPr>
            </a:pPr>
            <a:r>
              <a:rPr sz="1200" b="0">
                <a:solidFill>
                  <a:srgbClr val="555555"/>
                </a:solidFill>
                <a:latin typeface="Arial"/>
                <a:ea typeface="Arial"/>
                <a:cs typeface="Arial"/>
              </a:rPr>
              <a:t>Plan de gouvernance p. 3     5 / 12</a:t>
            </a:r>
          </a:p>
        </p:txBody>
      </p:sp>
    </p:spTree>
    <p:extLst>
      <p:ext uri="{BB962C8B-B14F-4D97-AF65-F5344CB8AC3E}">
        <p14:creationId xmlns:p14="http://schemas.microsoft.com/office/powerpoint/2010/main" val="3193714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629634-6457-4F51-A06A-066075935332}"/>
              </a:ext>
            </a:extLst>
          </p:cNvPr>
          <p:cNvSpPr>
            <a:spLocks xmlns:a="http://schemas.openxmlformats.org/drawingml/2006/main" noGrp="1"/>
          </p:cNvSpPr>
          <p:nvPr/>
        </p:nvSpPr>
        <p:spPr>
          <a:xfrm xmlns:a="http://schemas.openxmlformats.org/drawingml/2006/main">
            <a:off x="685800" y="4286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11111"/>
                </a:solidFill>
                <a:latin typeface="Arial"/>
                <a:ea typeface="Arial"/>
                <a:cs typeface="Arial"/>
              </a:defRPr>
            </a:pPr>
            <a:r>
              <a:rPr sz="3225" b="1">
                <a:solidFill>
                  <a:srgbClr val="111111"/>
                </a:solidFill>
                <a:latin typeface="Arial"/>
                <a:ea typeface="Arial"/>
                <a:cs typeface="Arial"/>
              </a:rPr>
              <a:t>La qualité et la traçabilité</a:t>
            </a:r>
          </a:p>
        </p:txBody>
      </p:sp>
      <p:sp>
        <p:nvSpPr>
          <p:cNvPr id="2" name="">
            <a:extLst xmlns:a="http://schemas.openxmlformats.org/drawingml/2006/main">
              <a:ext uri="{FF2B5EF4-FFF2-40B4-BE49-F238E27FC236}">
                <a16:creationId xmlns:a16="http://schemas.microsoft.com/office/drawing/2014/main" id="{C43D6163-37E6-449E-9097-91607205129F}"/>
              </a:ext>
            </a:extLst>
          </p:cNvPr>
          <p:cNvSpPr>
            <a:spLocks xmlns:a="http://schemas.openxmlformats.org/drawingml/2006/main" noGrp="1"/>
          </p:cNvSpPr>
          <p:nvPr/>
        </p:nvSpPr>
        <p:spPr>
          <a:xfrm xmlns:a="http://schemas.openxmlformats.org/drawingml/2006/main">
            <a:off x="685800" y="1362075"/>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3D5363"/>
                </a:solidFill>
                <a:latin typeface="Arial"/>
                <a:ea typeface="Arial"/>
                <a:cs typeface="Arial"/>
              </a:defRPr>
            </a:pPr>
            <a:r>
              <a:rPr sz="2175" b="0">
                <a:solidFill>
                  <a:srgbClr val="3D5363"/>
                </a:solidFill>
                <a:latin typeface="Arial"/>
                <a:ea typeface="Arial"/>
                <a:cs typeface="Arial"/>
              </a:rPr>
              <a:t>Chaque résultat doit conserver sa filiation</a:t>
            </a:r>
          </a:p>
        </p:txBody>
      </p:sp>
      <p:graphicFrame>
        <p:nvGraphicFramePr>
          <p:cNvPr id="9" name="">
            <a:extLst xmlns:a="http://schemas.openxmlformats.org/drawingml/2006/main">
              <a:ext uri="{FF2B5EF4-FFF2-40B4-BE49-F238E27FC236}">
                <a16:creationId xmlns:a16="http://schemas.microsoft.com/office/drawing/2014/main" id="{5A524D48-D08D-4B8A-A5F6-116B537AEF84}"/>
              </a:ext>
            </a:extLst>
          </p:cNvPr>
          <p:cNvGraphicFramePr/>
          <p:nvPr/>
        </p:nvGraphicFramePr>
        <p:xfrm>
          <a:off xmlns:a="http://schemas.openxmlformats.org/drawingml/2006/main" x="685800" y="2238375"/>
          <a:ext xmlns:a="http://schemas.openxmlformats.org/drawingml/2006/main" cx="10820400" cy="3143250"/>
        </p:xfrm>
        <a:graphic xmlns:a="http://schemas.openxmlformats.org/drawingml/2006/main">
          <a:graphicData uri="http://schemas.openxmlformats.org/drawingml/2006/table">
            <a:tbl>
              <a:tblPr/>
              <a:tblGrid>
                <a:gridCol w="3143250"/>
                <a:gridCol w="7677150"/>
              </a:tblGrid>
              <a:tr h="628650">
                <a:tc>
                  <a:txBody>
                    <a:bodyPr>
                      <a:noAutofit/>
                    </a:bodyPr>
                    <a:lstStyle/>
                    <a:p>
                      <a:r>
                        <a:rPr sz="1875" b="1">
                          <a:solidFill>
                            <a:srgbClr val="111111"/>
                          </a:solidFill>
                          <a:latin typeface="Arial"/>
                          <a:ea typeface="Arial"/>
                          <a:cs typeface="Arial"/>
                        </a:rPr>
                        <a:t>Étape</a:t>
                      </a:r>
                    </a:p>
                  </a:txBody>
                  <a:tcPr marL="91440" marR="91440" marT="45720" marB="45720">
                    <a:solidFill>
                      <a:srgbClr val="E7EDF2"/>
                    </a:solidFill>
                  </a:tcPr>
                </a:tc>
                <a:tc>
                  <a:txBody>
                    <a:bodyPr>
                      <a:noAutofit/>
                    </a:bodyPr>
                    <a:lstStyle/>
                    <a:p>
                      <a:r>
                        <a:rPr sz="1875" b="1">
                          <a:solidFill>
                            <a:srgbClr val="111111"/>
                          </a:solidFill>
                          <a:latin typeface="Arial"/>
                          <a:ea typeface="Arial"/>
                          <a:cs typeface="Arial"/>
                        </a:rPr>
                        <a:t>Preuve ou règle</a:t>
                      </a:r>
                    </a:p>
                  </a:txBody>
                  <a:tcPr marL="91440" marR="91440" marT="45720" marB="45720">
                    <a:solidFill>
                      <a:srgbClr val="E7EDF2"/>
                    </a:solidFill>
                  </a:tcPr>
                </a:tc>
              </a:tr>
              <a:tr h="628650">
                <a:tc>
                  <a:txBody>
                    <a:bodyPr>
                      <a:noAutofit/>
                    </a:bodyPr>
                    <a:lstStyle/>
                    <a:p>
                      <a:r>
                        <a:rPr sz="1875" b="0">
                          <a:solidFill>
                            <a:srgbClr val="111111"/>
                          </a:solidFill>
                          <a:latin typeface="Arial"/>
                          <a:ea typeface="Arial"/>
                          <a:cs typeface="Arial"/>
                        </a:rPr>
                        <a:t>Collecte</a:t>
                      </a:r>
                    </a:p>
                  </a:txBody>
                  <a:tcPr marL="91440" marR="91440" marT="45720" marB="45720">
                    <a:solidFill>
                      <a:srgbClr val="FFFFFF"/>
                    </a:solidFill>
                  </a:tcPr>
                </a:tc>
                <a:tc>
                  <a:txBody>
                    <a:bodyPr>
                      <a:noAutofit/>
                    </a:bodyPr>
                    <a:lstStyle/>
                    <a:p>
                      <a:r>
                        <a:rPr sz="1875" b="0">
                          <a:solidFill>
                            <a:srgbClr val="111111"/>
                          </a:solidFill>
                          <a:latin typeface="Arial"/>
                          <a:ea typeface="Arial"/>
                          <a:cs typeface="Arial"/>
                        </a:rPr>
                        <a:t>Paramètres, job_id et origine TASS</a:t>
                      </a:r>
                    </a:p>
                  </a:txBody>
                  <a:tcPr marL="91440" marR="91440" marT="45720" marB="45720">
                    <a:solidFill>
                      <a:srgbClr val="FFFFFF"/>
                    </a:solidFill>
                  </a:tcPr>
                </a:tc>
              </a:tr>
              <a:tr h="628650">
                <a:tc>
                  <a:txBody>
                    <a:bodyPr>
                      <a:noAutofit/>
                    </a:bodyPr>
                    <a:lstStyle/>
                    <a:p>
                      <a:r>
                        <a:rPr sz="1875" b="0">
                          <a:solidFill>
                            <a:srgbClr val="111111"/>
                          </a:solidFill>
                          <a:latin typeface="Arial"/>
                          <a:ea typeface="Arial"/>
                          <a:cs typeface="Arial"/>
                        </a:rPr>
                        <a:t>Versions</a:t>
                      </a:r>
                    </a:p>
                  </a:txBody>
                  <a:tcPr marL="91440" marR="91440" marT="45720" marB="45720">
                    <a:solidFill>
                      <a:srgbClr val="F7F9FB"/>
                    </a:solidFill>
                  </a:tcPr>
                </a:tc>
                <a:tc>
                  <a:txBody>
                    <a:bodyPr>
                      <a:noAutofit/>
                    </a:bodyPr>
                    <a:lstStyle/>
                    <a:p>
                      <a:r>
                        <a:rPr sz="1875" b="0">
                          <a:solidFill>
                            <a:srgbClr val="111111"/>
                          </a:solidFill>
                          <a:latin typeface="Arial"/>
                          <a:ea typeface="Arial"/>
                          <a:cs typeface="Arial"/>
                        </a:rPr>
                        <a:t>ID, date UTC et empreinte du texte</a:t>
                      </a:r>
                    </a:p>
                  </a:txBody>
                  <a:tcPr marL="91440" marR="91440" marT="45720" marB="45720">
                    <a:solidFill>
                      <a:srgbClr val="F7F9FB"/>
                    </a:solidFill>
                  </a:tcPr>
                </a:tc>
              </a:tr>
              <a:tr h="628650">
                <a:tc>
                  <a:txBody>
                    <a:bodyPr>
                      <a:noAutofit/>
                    </a:bodyPr>
                    <a:lstStyle/>
                    <a:p>
                      <a:r>
                        <a:rPr sz="1875" b="0">
                          <a:solidFill>
                            <a:srgbClr val="111111"/>
                          </a:solidFill>
                          <a:latin typeface="Arial"/>
                          <a:ea typeface="Arial"/>
                          <a:cs typeface="Arial"/>
                        </a:rPr>
                        <a:t>Annotation et modèle</a:t>
                      </a:r>
                    </a:p>
                  </a:txBody>
                  <a:tcPr marL="91440" marR="91440" marT="45720" marB="45720">
                    <a:solidFill>
                      <a:srgbClr val="FFFFFF"/>
                    </a:solidFill>
                  </a:tcPr>
                </a:tc>
                <a:tc>
                  <a:txBody>
                    <a:bodyPr>
                      <a:noAutofit/>
                    </a:bodyPr>
                    <a:lstStyle/>
                    <a:p>
                      <a:r>
                        <a:rPr sz="1875" b="0">
                          <a:solidFill>
                            <a:srgbClr val="111111"/>
                          </a:solidFill>
                          <a:latin typeface="Arial"/>
                          <a:ea typeface="Arial"/>
                          <a:cs typeface="Arial"/>
                        </a:rPr>
                        <a:t>Validation humaine encore à effectuer</a:t>
                      </a:r>
                    </a:p>
                  </a:txBody>
                  <a:tcPr marL="91440" marR="91440" marT="45720" marB="45720">
                    <a:solidFill>
                      <a:srgbClr val="FFFFFF"/>
                    </a:solidFill>
                  </a:tcPr>
                </a:tc>
              </a:tr>
              <a:tr h="628650">
                <a:tc>
                  <a:txBody>
                    <a:bodyPr>
                      <a:noAutofit/>
                    </a:bodyPr>
                    <a:lstStyle/>
                    <a:p>
                      <a:r>
                        <a:rPr sz="1875" b="0">
                          <a:solidFill>
                            <a:srgbClr val="111111"/>
                          </a:solidFill>
                          <a:latin typeface="Arial"/>
                          <a:ea typeface="Arial"/>
                          <a:cs typeface="Arial"/>
                        </a:rPr>
                        <a:t>Restitution</a:t>
                      </a:r>
                    </a:p>
                  </a:txBody>
                  <a:tcPr marL="91440" marR="91440" marT="45720" marB="45720">
                    <a:solidFill>
                      <a:srgbClr val="F7F9FB"/>
                    </a:solidFill>
                  </a:tcPr>
                </a:tc>
                <a:tc>
                  <a:txBody>
                    <a:bodyPr>
                      <a:noAutofit/>
                    </a:bodyPr>
                    <a:lstStyle/>
                    <a:p>
                      <a:r>
                        <a:rPr sz="1875" b="0">
                          <a:solidFill>
                            <a:srgbClr val="111111"/>
                          </a:solidFill>
                          <a:latin typeface="Arial"/>
                          <a:ea typeface="Arial"/>
                          <a:cs typeface="Arial"/>
                        </a:rPr>
                        <a:t>Séparer corpus collecté et textes analysés</a:t>
                      </a:r>
                    </a:p>
                  </a:txBody>
                  <a:tcPr marL="91440" marR="91440" marT="45720" marB="45720">
                    <a:solidFill>
                      <a:srgbClr val="F7F9FB"/>
                    </a:solidFill>
                  </a:tcPr>
                </a:tc>
              </a:tr>
            </a:tbl>
          </a:graphicData>
        </a:graphic>
      </p:graphicFrame>
      <p:sp>
        <p:nvSpPr>
          <p:cNvPr id="4" name="">
            <a:extLst xmlns:a="http://schemas.openxmlformats.org/drawingml/2006/main">
              <a:ext uri="{FF2B5EF4-FFF2-40B4-BE49-F238E27FC236}">
                <a16:creationId xmlns:a16="http://schemas.microsoft.com/office/drawing/2014/main" id="{474B5590-6ABB-4E3D-B3AE-A11B62E6D1CE}"/>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55555"/>
                </a:solidFill>
                <a:latin typeface="Arial"/>
                <a:ea typeface="Arial"/>
                <a:cs typeface="Arial"/>
              </a:defRPr>
            </a:pPr>
            <a:r>
              <a:rPr sz="1200" b="0">
                <a:solidFill>
                  <a:srgbClr val="555555"/>
                </a:solidFill>
                <a:latin typeface="Arial"/>
                <a:ea typeface="Arial"/>
                <a:cs typeface="Arial"/>
              </a:rPr>
              <a:t>Plan de gouvernance p. 4     6 / 12</a:t>
            </a:r>
          </a:p>
        </p:txBody>
      </p:sp>
    </p:spTree>
    <p:extLst>
      <p:ext uri="{BB962C8B-B14F-4D97-AF65-F5344CB8AC3E}">
        <p14:creationId xmlns:p14="http://schemas.microsoft.com/office/powerpoint/2010/main" val="20701984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1E7DDD-769A-40D4-926B-29DE9A7AACA8}"/>
              </a:ext>
            </a:extLst>
          </p:cNvPr>
          <p:cNvSpPr>
            <a:spLocks xmlns:a="http://schemas.openxmlformats.org/drawingml/2006/main" noGrp="1"/>
          </p:cNvSpPr>
          <p:nvPr/>
        </p:nvSpPr>
        <p:spPr>
          <a:xfrm xmlns:a="http://schemas.openxmlformats.org/drawingml/2006/main">
            <a:off x="685800" y="4286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11111"/>
                </a:solidFill>
                <a:latin typeface="Arial"/>
                <a:ea typeface="Arial"/>
                <a:cs typeface="Arial"/>
              </a:defRPr>
            </a:pPr>
            <a:r>
              <a:rPr sz="3225" b="1">
                <a:solidFill>
                  <a:srgbClr val="111111"/>
                </a:solidFill>
                <a:latin typeface="Arial"/>
                <a:ea typeface="Arial"/>
                <a:cs typeface="Arial"/>
              </a:rPr>
              <a:t>La vie privée et les prestataires</a:t>
            </a:r>
          </a:p>
        </p:txBody>
      </p:sp>
      <p:sp>
        <p:nvSpPr>
          <p:cNvPr id="2" name="">
            <a:extLst xmlns:a="http://schemas.openxmlformats.org/drawingml/2006/main">
              <a:ext uri="{FF2B5EF4-FFF2-40B4-BE49-F238E27FC236}">
                <a16:creationId xmlns:a16="http://schemas.microsoft.com/office/drawing/2014/main" id="{0EF3F18C-EB6C-4294-BEF4-06A4B6455242}"/>
              </a:ext>
            </a:extLst>
          </p:cNvPr>
          <p:cNvSpPr>
            <a:spLocks xmlns:a="http://schemas.openxmlformats.org/drawingml/2006/main" noGrp="1"/>
          </p:cNvSpPr>
          <p:nvPr/>
        </p:nvSpPr>
        <p:spPr>
          <a:xfrm xmlns:a="http://schemas.openxmlformats.org/drawingml/2006/main">
            <a:off x="685800" y="1362075"/>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3D5363"/>
                </a:solidFill>
                <a:latin typeface="Arial"/>
                <a:ea typeface="Arial"/>
                <a:cs typeface="Arial"/>
              </a:defRPr>
            </a:pPr>
            <a:r>
              <a:rPr sz="2175" b="0">
                <a:solidFill>
                  <a:srgbClr val="3D5363"/>
                </a:solidFill>
                <a:latin typeface="Arial"/>
                <a:ea typeface="Arial"/>
                <a:cs typeface="Arial"/>
              </a:rPr>
              <a:t>La protection couvre toutes les copies de travail</a:t>
            </a:r>
          </a:p>
        </p:txBody>
      </p:sp>
      <p:sp>
        <p:nvSpPr>
          <p:cNvPr id="3" name="">
            <a:extLst xmlns:a="http://schemas.openxmlformats.org/drawingml/2006/main">
              <a:ext uri="{FF2B5EF4-FFF2-40B4-BE49-F238E27FC236}">
                <a16:creationId xmlns:a16="http://schemas.microsoft.com/office/drawing/2014/main" id="{22021828-4E38-4EF1-9941-82AA717BEDDA}"/>
              </a:ext>
            </a:extLst>
          </p:cNvPr>
          <p:cNvSpPr>
            <a:spLocks xmlns:a="http://schemas.openxmlformats.org/drawingml/2006/main" noGrp="1"/>
          </p:cNvSpPr>
          <p:nvPr/>
        </p:nvSpPr>
        <p:spPr>
          <a:xfrm xmlns:a="http://schemas.openxmlformats.org/drawingml/2006/main">
            <a:off x="685800" y="22860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11111"/>
                </a:solidFill>
                <a:latin typeface="Arial"/>
                <a:ea typeface="Arial"/>
                <a:cs typeface="Arial"/>
              </a:defRPr>
            </a:pPr>
            <a:r>
              <a:rPr sz="2100" b="0">
                <a:solidFill>
                  <a:srgbClr val="111111"/>
                </a:solidFill>
                <a:latin typeface="Arial"/>
                <a:ea typeface="Arial"/>
                <a:cs typeface="Arial"/>
              </a:rPr>
              <a:t>T01 couvre collecte et veille. T02 encadre séparément le développement du modèle.</a:t>
            </a:r>
          </a:p>
        </p:txBody>
      </p:sp>
      <p:sp>
        <p:nvSpPr>
          <p:cNvPr id="4" name="">
            <a:extLst xmlns:a="http://schemas.openxmlformats.org/drawingml/2006/main">
              <a:ext uri="{FF2B5EF4-FFF2-40B4-BE49-F238E27FC236}">
                <a16:creationId xmlns:a16="http://schemas.microsoft.com/office/drawing/2014/main" id="{F2640E86-3FB3-454C-ACBA-47FF1559360D}"/>
              </a:ext>
            </a:extLst>
          </p:cNvPr>
          <p:cNvSpPr>
            <a:spLocks xmlns:a="http://schemas.openxmlformats.org/drawingml/2006/main" noGrp="1"/>
          </p:cNvSpPr>
          <p:nvPr/>
        </p:nvSpPr>
        <p:spPr>
          <a:xfrm xmlns:a="http://schemas.openxmlformats.org/drawingml/2006/main">
            <a:off x="685800" y="32385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11111"/>
                </a:solidFill>
                <a:latin typeface="Arial"/>
                <a:ea typeface="Arial"/>
                <a:cs typeface="Arial"/>
              </a:defRPr>
            </a:pPr>
            <a:r>
              <a:rPr sz="2100" b="0">
                <a:solidFill>
                  <a:srgbClr val="111111"/>
                </a:solidFill>
                <a:latin typeface="Arial"/>
                <a:ea typeface="Arial"/>
                <a:cs typeface="Arial"/>
              </a:rPr>
              <a:t>Boucle locale et protection CSRF existent. Les comptes individuels restent à ajouter avant partage.</a:t>
            </a:r>
          </a:p>
        </p:txBody>
      </p:sp>
      <p:sp>
        <p:nvSpPr>
          <p:cNvPr id="5" name="">
            <a:extLst xmlns:a="http://schemas.openxmlformats.org/drawingml/2006/main">
              <a:ext uri="{FF2B5EF4-FFF2-40B4-BE49-F238E27FC236}">
                <a16:creationId xmlns:a16="http://schemas.microsoft.com/office/drawing/2014/main" id="{2FD848E4-38AF-4572-962A-81FB58100AB7}"/>
              </a:ext>
            </a:extLst>
          </p:cNvPr>
          <p:cNvSpPr>
            <a:spLocks xmlns:a="http://schemas.openxmlformats.org/drawingml/2006/main" noGrp="1"/>
          </p:cNvSpPr>
          <p:nvPr/>
        </p:nvSpPr>
        <p:spPr>
          <a:xfrm xmlns:a="http://schemas.openxmlformats.org/drawingml/2006/main">
            <a:off x="685800" y="41910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11111"/>
                </a:solidFill>
                <a:latin typeface="Arial"/>
                <a:ea typeface="Arial"/>
                <a:cs typeface="Arial"/>
              </a:defRPr>
            </a:pPr>
            <a:r>
              <a:rPr sz="2100" b="0">
                <a:solidFill>
                  <a:srgbClr val="111111"/>
                </a:solidFill>
                <a:latin typeface="Arial"/>
                <a:ea typeface="Arial"/>
                <a:cs typeface="Arial"/>
              </a:rPr>
              <a:t>Volume AES-256 du Bloc 3 activé. Migration vérifiée ; chiffrement distinct pour le Bloc 2.</a:t>
            </a:r>
          </a:p>
        </p:txBody>
      </p:sp>
      <p:sp>
        <p:nvSpPr>
          <p:cNvPr id="6" name="">
            <a:extLst xmlns:a="http://schemas.openxmlformats.org/drawingml/2006/main">
              <a:ext uri="{FF2B5EF4-FFF2-40B4-BE49-F238E27FC236}">
                <a16:creationId xmlns:a16="http://schemas.microsoft.com/office/drawing/2014/main" id="{FDC53499-B343-4ADF-A486-E89DBA6A8827}"/>
              </a:ext>
            </a:extLst>
          </p:cNvPr>
          <p:cNvSpPr>
            <a:spLocks xmlns:a="http://schemas.openxmlformats.org/drawingml/2006/main" noGrp="1"/>
          </p:cNvSpPr>
          <p:nvPr/>
        </p:nvSpPr>
        <p:spPr>
          <a:xfrm xmlns:a="http://schemas.openxmlformats.org/drawingml/2006/main">
            <a:off x="685800" y="51435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11111"/>
                </a:solidFill>
                <a:latin typeface="Arial"/>
                <a:ea typeface="Arial"/>
                <a:cs typeface="Arial"/>
              </a:defRPr>
            </a:pPr>
            <a:r>
              <a:rPr sz="2100" b="0">
                <a:solidFill>
                  <a:srgbClr val="111111"/>
                </a:solidFill>
                <a:latin typeface="Arial"/>
                <a:ea typeface="Arial"/>
                <a:cs typeface="Arial"/>
              </a:rPr>
              <a:t>Bases T01/T02, projet d’AIPD et notice rédigés. Décisions, contact réel et diffusion restent à réaliser.</a:t>
            </a:r>
          </a:p>
        </p:txBody>
      </p:sp>
      <p:sp>
        <p:nvSpPr>
          <p:cNvPr id="7" name="">
            <a:extLst xmlns:a="http://schemas.openxmlformats.org/drawingml/2006/main">
              <a:ext uri="{FF2B5EF4-FFF2-40B4-BE49-F238E27FC236}">
                <a16:creationId xmlns:a16="http://schemas.microsoft.com/office/drawing/2014/main" id="{1F80DAEC-B88F-4552-A5DF-BB2187183FB1}"/>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55555"/>
                </a:solidFill>
                <a:latin typeface="Arial"/>
                <a:ea typeface="Arial"/>
                <a:cs typeface="Arial"/>
              </a:defRPr>
            </a:pPr>
            <a:r>
              <a:rPr sz="1200" b="0">
                <a:solidFill>
                  <a:srgbClr val="555555"/>
                </a:solidFill>
                <a:latin typeface="Arial"/>
                <a:ea typeface="Arial"/>
                <a:cs typeface="Arial"/>
              </a:rPr>
              <a:t>Plan de gouvernance p. 4 et 5     7 / 12</a:t>
            </a:r>
          </a:p>
        </p:txBody>
      </p:sp>
    </p:spTree>
    <p:extLst>
      <p:ext uri="{BB962C8B-B14F-4D97-AF65-F5344CB8AC3E}">
        <p14:creationId xmlns:p14="http://schemas.microsoft.com/office/powerpoint/2010/main" val="17785525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575719-44F4-4689-9992-E20FCD51D1DB}"/>
              </a:ext>
            </a:extLst>
          </p:cNvPr>
          <p:cNvSpPr>
            <a:spLocks xmlns:a="http://schemas.openxmlformats.org/drawingml/2006/main" noGrp="1"/>
          </p:cNvSpPr>
          <p:nvPr/>
        </p:nvSpPr>
        <p:spPr>
          <a:xfrm xmlns:a="http://schemas.openxmlformats.org/drawingml/2006/main">
            <a:off x="685800" y="4286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11111"/>
                </a:solidFill>
                <a:latin typeface="Arial"/>
                <a:ea typeface="Arial"/>
                <a:cs typeface="Arial"/>
              </a:defRPr>
            </a:pPr>
            <a:r>
              <a:rPr sz="3225" b="1">
                <a:solidFill>
                  <a:srgbClr val="111111"/>
                </a:solidFill>
                <a:latin typeface="Arial"/>
                <a:ea typeface="Arial"/>
                <a:cs typeface="Arial"/>
              </a:rPr>
              <a:t>Les droits et la conservation</a:t>
            </a:r>
          </a:p>
        </p:txBody>
      </p:sp>
      <p:sp>
        <p:nvSpPr>
          <p:cNvPr id="2" name="">
            <a:extLst xmlns:a="http://schemas.openxmlformats.org/drawingml/2006/main">
              <a:ext uri="{FF2B5EF4-FFF2-40B4-BE49-F238E27FC236}">
                <a16:creationId xmlns:a16="http://schemas.microsoft.com/office/drawing/2014/main" id="{A9A94847-C27E-4E59-93B2-CA6363B22F49}"/>
              </a:ext>
            </a:extLst>
          </p:cNvPr>
          <p:cNvSpPr>
            <a:spLocks xmlns:a="http://schemas.openxmlformats.org/drawingml/2006/main" noGrp="1"/>
          </p:cNvSpPr>
          <p:nvPr/>
        </p:nvSpPr>
        <p:spPr>
          <a:xfrm xmlns:a="http://schemas.openxmlformats.org/drawingml/2006/main">
            <a:off x="685800" y="1362075"/>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3D5363"/>
                </a:solidFill>
                <a:latin typeface="Arial"/>
                <a:ea typeface="Arial"/>
                <a:cs typeface="Arial"/>
              </a:defRPr>
            </a:pPr>
            <a:r>
              <a:rPr sz="2175" b="0">
                <a:solidFill>
                  <a:srgbClr val="3D5363"/>
                </a:solidFill>
                <a:latin typeface="Arial"/>
                <a:ea typeface="Arial"/>
                <a:cs typeface="Arial"/>
              </a:rPr>
              <a:t>L’effacement doit suivre les copies et les données dérivées</a:t>
            </a:r>
          </a:p>
        </p:txBody>
      </p:sp>
      <p:sp>
        <p:nvSpPr>
          <p:cNvPr id="3" name="">
            <a:extLst xmlns:a="http://schemas.openxmlformats.org/drawingml/2006/main">
              <a:ext uri="{FF2B5EF4-FFF2-40B4-BE49-F238E27FC236}">
                <a16:creationId xmlns:a16="http://schemas.microsoft.com/office/drawing/2014/main" id="{0ACB625C-6229-454D-9D74-4FC652A086AA}"/>
              </a:ext>
            </a:extLst>
          </p:cNvPr>
          <p:cNvSpPr>
            <a:spLocks xmlns:a="http://schemas.openxmlformats.org/drawingml/2006/main" noGrp="1"/>
          </p:cNvSpPr>
          <p:nvPr/>
        </p:nvSpPr>
        <p:spPr>
          <a:xfrm xmlns:a="http://schemas.openxmlformats.org/drawingml/2006/main">
            <a:off x="685800" y="22860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11111"/>
                </a:solidFill>
                <a:latin typeface="Arial"/>
                <a:ea typeface="Arial"/>
                <a:cs typeface="Arial"/>
              </a:defRPr>
            </a:pPr>
            <a:r>
              <a:rPr sz="2100" b="0">
                <a:solidFill>
                  <a:srgbClr val="111111"/>
                </a:solidFill>
                <a:latin typeface="Arial"/>
                <a:ea typeface="Arial"/>
                <a:cs typeface="Arial"/>
              </a:rPr>
              <a:t>D01 : qualifier la demande, décider puis retrouver articles et versions.</a:t>
            </a:r>
          </a:p>
        </p:txBody>
      </p:sp>
      <p:sp>
        <p:nvSpPr>
          <p:cNvPr id="4" name="">
            <a:extLst xmlns:a="http://schemas.openxmlformats.org/drawingml/2006/main">
              <a:ext uri="{FF2B5EF4-FFF2-40B4-BE49-F238E27FC236}">
                <a16:creationId xmlns:a16="http://schemas.microsoft.com/office/drawing/2014/main" id="{2FEBBC6A-F490-4D4F-AF91-80E4E3953871}"/>
              </a:ext>
            </a:extLst>
          </p:cNvPr>
          <p:cNvSpPr>
            <a:spLocks xmlns:a="http://schemas.openxmlformats.org/drawingml/2006/main" noGrp="1"/>
          </p:cNvSpPr>
          <p:nvPr/>
        </p:nvSpPr>
        <p:spPr>
          <a:xfrm xmlns:a="http://schemas.openxmlformats.org/drawingml/2006/main">
            <a:off x="685800" y="32385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11111"/>
                </a:solidFill>
                <a:latin typeface="Arial"/>
                <a:ea typeface="Arial"/>
                <a:cs typeface="Arial"/>
              </a:defRPr>
            </a:pPr>
            <a:r>
              <a:rPr sz="2100" b="0">
                <a:solidFill>
                  <a:srgbClr val="111111"/>
                </a:solidFill>
                <a:latin typeface="Arial"/>
                <a:ea typeface="Arial"/>
                <a:cs typeface="Arial"/>
              </a:rPr>
              <a:t>Tests fictifs : purge du catalogue et des exports gérés, exclusion de recollecte.</a:t>
            </a:r>
          </a:p>
        </p:txBody>
      </p:sp>
      <p:sp>
        <p:nvSpPr>
          <p:cNvPr id="5" name="">
            <a:extLst xmlns:a="http://schemas.openxmlformats.org/drawingml/2006/main">
              <a:ext uri="{FF2B5EF4-FFF2-40B4-BE49-F238E27FC236}">
                <a16:creationId xmlns:a16="http://schemas.microsoft.com/office/drawing/2014/main" id="{711CDEDD-FF93-436D-B2C7-A0BFDA243E71}"/>
              </a:ext>
            </a:extLst>
          </p:cNvPr>
          <p:cNvSpPr>
            <a:spLocks xmlns:a="http://schemas.openxmlformats.org/drawingml/2006/main" noGrp="1"/>
          </p:cNvSpPr>
          <p:nvPr/>
        </p:nvSpPr>
        <p:spPr>
          <a:xfrm xmlns:a="http://schemas.openxmlformats.org/drawingml/2006/main">
            <a:off x="685800" y="41910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11111"/>
                </a:solidFill>
                <a:latin typeface="Arial"/>
                <a:ea typeface="Arial"/>
                <a:cs typeface="Arial"/>
              </a:defRPr>
            </a:pPr>
            <a:r>
              <a:rPr sz="2100" b="0">
                <a:solidFill>
                  <a:srgbClr val="111111"/>
                </a:solidFill>
                <a:latin typeface="Arial"/>
                <a:ea typeface="Arial"/>
                <a:cs typeface="Arial"/>
              </a:rPr>
              <a:t>Copies téléchargées ailleurs, sources et modèles exigent un suivi coordonné.</a:t>
            </a:r>
          </a:p>
        </p:txBody>
      </p:sp>
      <p:sp>
        <p:nvSpPr>
          <p:cNvPr id="6" name="">
            <a:extLst xmlns:a="http://schemas.openxmlformats.org/drawingml/2006/main">
              <a:ext uri="{FF2B5EF4-FFF2-40B4-BE49-F238E27FC236}">
                <a16:creationId xmlns:a16="http://schemas.microsoft.com/office/drawing/2014/main" id="{3E65A553-A06A-40B2-9574-B647BA69E6B9}"/>
              </a:ext>
            </a:extLst>
          </p:cNvPr>
          <p:cNvSpPr>
            <a:spLocks xmlns:a="http://schemas.openxmlformats.org/drawingml/2006/main" noGrp="1"/>
          </p:cNvSpPr>
          <p:nvPr/>
        </p:nvSpPr>
        <p:spPr>
          <a:xfrm xmlns:a="http://schemas.openxmlformats.org/drawingml/2006/main">
            <a:off x="685800" y="51435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11111"/>
                </a:solidFill>
                <a:latin typeface="Arial"/>
                <a:ea typeface="Arial"/>
                <a:cs typeface="Arial"/>
              </a:defRPr>
            </a:pPr>
            <a:r>
              <a:rPr sz="2100" b="0">
                <a:solidFill>
                  <a:srgbClr val="111111"/>
                </a:solidFill>
                <a:latin typeface="Arial"/>
                <a:ea typeface="Arial"/>
                <a:cs typeface="Arial"/>
              </a:rPr>
              <a:t>E01 : périmètre, destinataire, durée et visa avant partage d’un export.</a:t>
            </a:r>
          </a:p>
        </p:txBody>
      </p:sp>
      <p:sp>
        <p:nvSpPr>
          <p:cNvPr id="7" name="">
            <a:extLst xmlns:a="http://schemas.openxmlformats.org/drawingml/2006/main">
              <a:ext uri="{FF2B5EF4-FFF2-40B4-BE49-F238E27FC236}">
                <a16:creationId xmlns:a16="http://schemas.microsoft.com/office/drawing/2014/main" id="{F637AB4E-D6B3-447B-A2B7-D793B3DA2132}"/>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55555"/>
                </a:solidFill>
                <a:latin typeface="Arial"/>
                <a:ea typeface="Arial"/>
                <a:cs typeface="Arial"/>
              </a:defRPr>
            </a:pPr>
            <a:r>
              <a:rPr sz="1200" b="0">
                <a:solidFill>
                  <a:srgbClr val="555555"/>
                </a:solidFill>
                <a:latin typeface="Arial"/>
                <a:ea typeface="Arial"/>
                <a:cs typeface="Arial"/>
              </a:rPr>
              <a:t>Plan de gouvernance p. 5     8 / 12</a:t>
            </a:r>
          </a:p>
        </p:txBody>
      </p:sp>
    </p:spTree>
    <p:extLst>
      <p:ext uri="{BB962C8B-B14F-4D97-AF65-F5344CB8AC3E}">
        <p14:creationId xmlns:p14="http://schemas.microsoft.com/office/powerpoint/2010/main" val="145600091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793E87-C78D-4578-A34C-4F239BB00C32}"/>
              </a:ext>
            </a:extLst>
          </p:cNvPr>
          <p:cNvSpPr>
            <a:spLocks xmlns:a="http://schemas.openxmlformats.org/drawingml/2006/main" noGrp="1"/>
          </p:cNvSpPr>
          <p:nvPr/>
        </p:nvSpPr>
        <p:spPr>
          <a:xfrm xmlns:a="http://schemas.openxmlformats.org/drawingml/2006/main">
            <a:off x="685800" y="4286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11111"/>
                </a:solidFill>
                <a:latin typeface="Arial"/>
                <a:ea typeface="Arial"/>
                <a:cs typeface="Arial"/>
              </a:defRPr>
            </a:pPr>
            <a:r>
              <a:rPr sz="3225" b="1">
                <a:solidFill>
                  <a:srgbClr val="111111"/>
                </a:solidFill>
                <a:latin typeface="Arial"/>
                <a:ea typeface="Arial"/>
                <a:cs typeface="Arial"/>
              </a:rPr>
              <a:t>Les risques et leur traitement</a:t>
            </a:r>
          </a:p>
        </p:txBody>
      </p:sp>
      <p:sp>
        <p:nvSpPr>
          <p:cNvPr id="2" name="">
            <a:extLst xmlns:a="http://schemas.openxmlformats.org/drawingml/2006/main">
              <a:ext uri="{FF2B5EF4-FFF2-40B4-BE49-F238E27FC236}">
                <a16:creationId xmlns:a16="http://schemas.microsoft.com/office/drawing/2014/main" id="{47F04483-413E-415E-A4B2-8644233DF964}"/>
              </a:ext>
            </a:extLst>
          </p:cNvPr>
          <p:cNvSpPr>
            <a:spLocks xmlns:a="http://schemas.openxmlformats.org/drawingml/2006/main" noGrp="1"/>
          </p:cNvSpPr>
          <p:nvPr/>
        </p:nvSpPr>
        <p:spPr>
          <a:xfrm xmlns:a="http://schemas.openxmlformats.org/drawingml/2006/main">
            <a:off x="685800" y="1362075"/>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3D5363"/>
                </a:solidFill>
                <a:latin typeface="Arial"/>
                <a:ea typeface="Arial"/>
                <a:cs typeface="Arial"/>
              </a:defRPr>
            </a:pPr>
            <a:r>
              <a:rPr sz="2175" b="0">
                <a:solidFill>
                  <a:srgbClr val="3D5363"/>
                </a:solidFill>
                <a:latin typeface="Arial"/>
                <a:ea typeface="Arial"/>
                <a:cs typeface="Arial"/>
              </a:rPr>
              <a:t>Chaque risque possède un pilote et une preuve de correction</a:t>
            </a:r>
          </a:p>
        </p:txBody>
      </p:sp>
      <p:graphicFrame>
        <p:nvGraphicFramePr>
          <p:cNvPr id="9" name="">
            <a:extLst xmlns:a="http://schemas.openxmlformats.org/drawingml/2006/main">
              <a:ext uri="{FF2B5EF4-FFF2-40B4-BE49-F238E27FC236}">
                <a16:creationId xmlns:a16="http://schemas.microsoft.com/office/drawing/2014/main" id="{54B6623E-3A5C-48EE-8822-B1BB044D0CBE}"/>
              </a:ext>
            </a:extLst>
          </p:cNvPr>
          <p:cNvGraphicFramePr/>
          <p:nvPr/>
        </p:nvGraphicFramePr>
        <p:xfrm>
          <a:off xmlns:a="http://schemas.openxmlformats.org/drawingml/2006/main" x="685800" y="2238375"/>
          <a:ext xmlns:a="http://schemas.openxmlformats.org/drawingml/2006/main" cx="10820400" cy="3143250"/>
        </p:xfrm>
        <a:graphic xmlns:a="http://schemas.openxmlformats.org/drawingml/2006/main">
          <a:graphicData uri="http://schemas.openxmlformats.org/drawingml/2006/table">
            <a:tbl>
              <a:tblPr/>
              <a:tblGrid>
                <a:gridCol w="5429250"/>
                <a:gridCol w="5391150"/>
              </a:tblGrid>
              <a:tr h="628650">
                <a:tc>
                  <a:txBody>
                    <a:bodyPr>
                      <a:noAutofit/>
                    </a:bodyPr>
                    <a:lstStyle/>
                    <a:p>
                      <a:r>
                        <a:rPr sz="1875" b="1">
                          <a:solidFill>
                            <a:srgbClr val="111111"/>
                          </a:solidFill>
                          <a:latin typeface="Arial"/>
                          <a:ea typeface="Arial"/>
                          <a:cs typeface="Arial"/>
                        </a:rPr>
                        <a:t>Groupe de risques</a:t>
                      </a:r>
                    </a:p>
                  </a:txBody>
                  <a:tcPr marL="91440" marR="91440" marT="45720" marB="45720">
                    <a:solidFill>
                      <a:srgbClr val="E7EDF2"/>
                    </a:solidFill>
                  </a:tcPr>
                </a:tc>
                <a:tc>
                  <a:txBody>
                    <a:bodyPr>
                      <a:noAutofit/>
                    </a:bodyPr>
                    <a:lstStyle/>
                    <a:p>
                      <a:r>
                        <a:rPr sz="1875" b="1">
                          <a:solidFill>
                            <a:srgbClr val="111111"/>
                          </a:solidFill>
                          <a:latin typeface="Arial"/>
                          <a:ea typeface="Arial"/>
                          <a:cs typeface="Arial"/>
                        </a:rPr>
                        <a:t>Réponse prioritaire</a:t>
                      </a:r>
                    </a:p>
                  </a:txBody>
                  <a:tcPr marL="91440" marR="91440" marT="45720" marB="45720">
                    <a:solidFill>
                      <a:srgbClr val="E7EDF2"/>
                    </a:solidFill>
                  </a:tcPr>
                </a:tc>
              </a:tr>
              <a:tr h="628650">
                <a:tc>
                  <a:txBody>
                    <a:bodyPr>
                      <a:noAutofit/>
                    </a:bodyPr>
                    <a:lstStyle/>
                    <a:p>
                      <a:r>
                        <a:rPr sz="1875" b="0">
                          <a:solidFill>
                            <a:srgbClr val="111111"/>
                          </a:solidFill>
                          <a:latin typeface="Arial"/>
                          <a:ea typeface="Arial"/>
                          <a:cs typeface="Arial"/>
                        </a:rPr>
                        <a:t>Collecte et réutilisation</a:t>
                      </a:r>
                    </a:p>
                  </a:txBody>
                  <a:tcPr marL="91440" marR="91440" marT="45720" marB="45720">
                    <a:solidFill>
                      <a:srgbClr val="FFFFFF"/>
                    </a:solidFill>
                  </a:tcPr>
                </a:tc>
                <a:tc>
                  <a:txBody>
                    <a:bodyPr>
                      <a:noAutofit/>
                    </a:bodyPr>
                    <a:lstStyle/>
                    <a:p>
                      <a:r>
                        <a:rPr sz="1875" b="0">
                          <a:solidFill>
                            <a:srgbClr val="111111"/>
                          </a:solidFill>
                          <a:latin typeface="Arial"/>
                          <a:ea typeface="Arial"/>
                          <a:cs typeface="Arial"/>
                        </a:rPr>
                        <a:t>Qualifier périmètre, base et restrictions</a:t>
                      </a:r>
                    </a:p>
                  </a:txBody>
                  <a:tcPr marL="91440" marR="91440" marT="45720" marB="45720">
                    <a:solidFill>
                      <a:srgbClr val="FFFFFF"/>
                    </a:solidFill>
                  </a:tcPr>
                </a:tc>
              </a:tr>
              <a:tr h="628650">
                <a:tc>
                  <a:txBody>
                    <a:bodyPr>
                      <a:noAutofit/>
                    </a:bodyPr>
                    <a:lstStyle/>
                    <a:p>
                      <a:r>
                        <a:rPr sz="1875" b="0">
                          <a:solidFill>
                            <a:srgbClr val="111111"/>
                          </a:solidFill>
                          <a:latin typeface="Arial"/>
                          <a:ea typeface="Arial"/>
                          <a:cs typeface="Arial"/>
                        </a:rPr>
                        <a:t>Copies Bloc 3 et exports externes</a:t>
                      </a:r>
                    </a:p>
                  </a:txBody>
                  <a:tcPr marL="91440" marR="91440" marT="45720" marB="45720">
                    <a:solidFill>
                      <a:srgbClr val="F7F9FB"/>
                    </a:solidFill>
                  </a:tcPr>
                </a:tc>
                <a:tc>
                  <a:txBody>
                    <a:bodyPr>
                      <a:noAutofit/>
                    </a:bodyPr>
                    <a:lstStyle/>
                    <a:p>
                      <a:r>
                        <a:rPr sz="1875" b="0">
                          <a:solidFill>
                            <a:srgbClr val="111111"/>
                          </a:solidFill>
                          <a:latin typeface="Arial"/>
                          <a:ea typeface="Arial"/>
                          <a:cs typeface="Arial"/>
                        </a:rPr>
                        <a:t>Protéger le poste et autoriser les partages</a:t>
                      </a:r>
                    </a:p>
                  </a:txBody>
                  <a:tcPr marL="91440" marR="91440" marT="45720" marB="45720">
                    <a:solidFill>
                      <a:srgbClr val="F7F9FB"/>
                    </a:solidFill>
                  </a:tcPr>
                </a:tc>
              </a:tr>
              <a:tr h="628650">
                <a:tc>
                  <a:txBody>
                    <a:bodyPr>
                      <a:noAutofit/>
                    </a:bodyPr>
                    <a:lstStyle/>
                    <a:p>
                      <a:r>
                        <a:rPr sz="1875" b="0">
                          <a:solidFill>
                            <a:srgbClr val="111111"/>
                          </a:solidFill>
                          <a:latin typeface="Arial"/>
                          <a:ea typeface="Arial"/>
                          <a:cs typeface="Arial"/>
                        </a:rPr>
                        <a:t>Versions et effacement</a:t>
                      </a:r>
                    </a:p>
                  </a:txBody>
                  <a:tcPr marL="91440" marR="91440" marT="45720" marB="45720">
                    <a:solidFill>
                      <a:srgbClr val="FFFFFF"/>
                    </a:solidFill>
                  </a:tcPr>
                </a:tc>
                <a:tc>
                  <a:txBody>
                    <a:bodyPr>
                      <a:noAutofit/>
                    </a:bodyPr>
                    <a:lstStyle/>
                    <a:p>
                      <a:r>
                        <a:rPr sz="1875" b="0">
                          <a:solidFill>
                            <a:srgbClr val="111111"/>
                          </a:solidFill>
                          <a:latin typeface="Arial"/>
                          <a:ea typeface="Arial"/>
                          <a:cs typeface="Arial"/>
                        </a:rPr>
                        <a:t>Tracer les copies et exclure la recollecte</a:t>
                      </a:r>
                    </a:p>
                  </a:txBody>
                  <a:tcPr marL="91440" marR="91440" marT="45720" marB="45720">
                    <a:solidFill>
                      <a:srgbClr val="FFFFFF"/>
                    </a:solidFill>
                  </a:tcPr>
                </a:tc>
              </a:tr>
              <a:tr h="628650">
                <a:tc>
                  <a:txBody>
                    <a:bodyPr>
                      <a:noAutofit/>
                    </a:bodyPr>
                    <a:lstStyle/>
                    <a:p>
                      <a:r>
                        <a:rPr sz="1875" b="0">
                          <a:solidFill>
                            <a:srgbClr val="111111"/>
                          </a:solidFill>
                          <a:latin typeface="Arial"/>
                          <a:ea typeface="Arial"/>
                          <a:cs typeface="Arial"/>
                        </a:rPr>
                        <a:t>Source, accessibilité et usage</a:t>
                      </a:r>
                    </a:p>
                  </a:txBody>
                  <a:tcPr marL="91440" marR="91440" marT="45720" marB="45720">
                    <a:solidFill>
                      <a:srgbClr val="F7F9FB"/>
                    </a:solidFill>
                  </a:tcPr>
                </a:tc>
                <a:tc>
                  <a:txBody>
                    <a:bodyPr>
                      <a:noAutofit/>
                    </a:bodyPr>
                    <a:lstStyle/>
                    <a:p>
                      <a:r>
                        <a:rPr sz="1875" b="0">
                          <a:solidFill>
                            <a:srgbClr val="111111"/>
                          </a:solidFill>
                          <a:latin typeface="Arial"/>
                          <a:ea typeface="Arial"/>
                          <a:cs typeface="Arial"/>
                        </a:rPr>
                        <a:t>Revoir changements et tester les parcours</a:t>
                      </a:r>
                    </a:p>
                  </a:txBody>
                  <a:tcPr marL="91440" marR="91440" marT="45720" marB="45720">
                    <a:solidFill>
                      <a:srgbClr val="F7F9FB"/>
                    </a:solidFill>
                  </a:tcPr>
                </a:tc>
              </a:tr>
            </a:tbl>
          </a:graphicData>
        </a:graphic>
      </p:graphicFrame>
      <p:sp>
        <p:nvSpPr>
          <p:cNvPr id="4" name="">
            <a:extLst xmlns:a="http://schemas.openxmlformats.org/drawingml/2006/main">
              <a:ext uri="{FF2B5EF4-FFF2-40B4-BE49-F238E27FC236}">
                <a16:creationId xmlns:a16="http://schemas.microsoft.com/office/drawing/2014/main" id="{79FEEB4B-DD04-496A-9D07-F7A1C7C0E2A4}"/>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55555"/>
                </a:solidFill>
                <a:latin typeface="Arial"/>
                <a:ea typeface="Arial"/>
                <a:cs typeface="Arial"/>
              </a:defRPr>
            </a:pPr>
            <a:r>
              <a:rPr sz="1200" b="0">
                <a:solidFill>
                  <a:srgbClr val="555555"/>
                </a:solidFill>
                <a:latin typeface="Arial"/>
                <a:ea typeface="Arial"/>
                <a:cs typeface="Arial"/>
              </a:rPr>
              <a:t>Plan de gouvernance p. 6 et 7     9 / 12</a:t>
            </a:r>
          </a:p>
        </p:txBody>
      </p:sp>
    </p:spTree>
    <p:extLst>
      <p:ext uri="{BB962C8B-B14F-4D97-AF65-F5344CB8AC3E}">
        <p14:creationId xmlns:p14="http://schemas.microsoft.com/office/powerpoint/2010/main" val="3450271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F6C301-E773-404E-8D10-C1D545209837}"/>
              </a:ext>
            </a:extLst>
          </p:cNvPr>
          <p:cNvSpPr>
            <a:spLocks xmlns:a="http://schemas.openxmlformats.org/drawingml/2006/main" noGrp="1"/>
          </p:cNvSpPr>
          <p:nvPr/>
        </p:nvSpPr>
        <p:spPr>
          <a:xfrm xmlns:a="http://schemas.openxmlformats.org/drawingml/2006/main">
            <a:off x="685800" y="4286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11111"/>
                </a:solidFill>
                <a:latin typeface="Arial"/>
                <a:ea typeface="Arial"/>
                <a:cs typeface="Arial"/>
              </a:defRPr>
            </a:pPr>
            <a:r>
              <a:rPr sz="3225" b="1">
                <a:solidFill>
                  <a:srgbClr val="111111"/>
                </a:solidFill>
                <a:latin typeface="Arial"/>
                <a:ea typeface="Arial"/>
                <a:cs typeface="Arial"/>
              </a:rPr>
              <a:t>La gestion des incidents</a:t>
            </a:r>
          </a:p>
        </p:txBody>
      </p:sp>
      <p:sp>
        <p:nvSpPr>
          <p:cNvPr id="2" name="">
            <a:extLst xmlns:a="http://schemas.openxmlformats.org/drawingml/2006/main">
              <a:ext uri="{FF2B5EF4-FFF2-40B4-BE49-F238E27FC236}">
                <a16:creationId xmlns:a16="http://schemas.microsoft.com/office/drawing/2014/main" id="{784192A0-C811-4E3C-9D33-2C83B12B27F7}"/>
              </a:ext>
            </a:extLst>
          </p:cNvPr>
          <p:cNvSpPr>
            <a:spLocks xmlns:a="http://schemas.openxmlformats.org/drawingml/2006/main" noGrp="1"/>
          </p:cNvSpPr>
          <p:nvPr/>
        </p:nvSpPr>
        <p:spPr>
          <a:xfrm xmlns:a="http://schemas.openxmlformats.org/drawingml/2006/main">
            <a:off x="685800" y="1362075"/>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3D5363"/>
                </a:solidFill>
                <a:latin typeface="Arial"/>
                <a:ea typeface="Arial"/>
                <a:cs typeface="Arial"/>
              </a:defRPr>
            </a:pPr>
            <a:r>
              <a:rPr sz="2175" b="0">
                <a:solidFill>
                  <a:srgbClr val="3D5363"/>
                </a:solidFill>
                <a:latin typeface="Arial"/>
                <a:ea typeface="Arial"/>
                <a:cs typeface="Arial"/>
              </a:rPr>
              <a:t>La réaction dépend du risque pour les personnes</a:t>
            </a:r>
          </a:p>
        </p:txBody>
      </p:sp>
      <p:sp>
        <p:nvSpPr>
          <p:cNvPr id="3" name="">
            <a:extLst xmlns:a="http://schemas.openxmlformats.org/drawingml/2006/main">
              <a:ext uri="{FF2B5EF4-FFF2-40B4-BE49-F238E27FC236}">
                <a16:creationId xmlns:a16="http://schemas.microsoft.com/office/drawing/2014/main" id="{F0C8A092-3477-4820-98D6-ACCD60E98F55}"/>
              </a:ext>
            </a:extLst>
          </p:cNvPr>
          <p:cNvSpPr>
            <a:spLocks xmlns:a="http://schemas.openxmlformats.org/drawingml/2006/main" noGrp="1"/>
          </p:cNvSpPr>
          <p:nvPr/>
        </p:nvSpPr>
        <p:spPr>
          <a:xfrm xmlns:a="http://schemas.openxmlformats.org/drawingml/2006/main">
            <a:off x="685800" y="22860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11111"/>
                </a:solidFill>
                <a:latin typeface="Arial"/>
                <a:ea typeface="Arial"/>
                <a:cs typeface="Arial"/>
              </a:defRPr>
            </a:pPr>
            <a:r>
              <a:rPr sz="2100" b="0">
                <a:solidFill>
                  <a:srgbClr val="111111"/>
                </a:solidFill>
                <a:latin typeface="Arial"/>
                <a:ea typeface="Arial"/>
                <a:cs typeface="Arial"/>
              </a:rPr>
              <a:t>TECH contient l’incident et préserve les preuves.</a:t>
            </a:r>
          </a:p>
        </p:txBody>
      </p:sp>
      <p:sp>
        <p:nvSpPr>
          <p:cNvPr id="4" name="">
            <a:extLst xmlns:a="http://schemas.openxmlformats.org/drawingml/2006/main">
              <a:ext uri="{FF2B5EF4-FFF2-40B4-BE49-F238E27FC236}">
                <a16:creationId xmlns:a16="http://schemas.microsoft.com/office/drawing/2014/main" id="{CDF17444-4EBA-421A-B9A2-8D741BF7612E}"/>
              </a:ext>
            </a:extLst>
          </p:cNvPr>
          <p:cNvSpPr>
            <a:spLocks xmlns:a="http://schemas.openxmlformats.org/drawingml/2006/main" noGrp="1"/>
          </p:cNvSpPr>
          <p:nvPr/>
        </p:nvSpPr>
        <p:spPr>
          <a:xfrm xmlns:a="http://schemas.openxmlformats.org/drawingml/2006/main">
            <a:off x="685800" y="32385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11111"/>
                </a:solidFill>
                <a:latin typeface="Arial"/>
                <a:ea typeface="Arial"/>
                <a:cs typeface="Arial"/>
              </a:defRPr>
            </a:pPr>
            <a:r>
              <a:rPr sz="2100" b="0">
                <a:solidFill>
                  <a:srgbClr val="111111"/>
                </a:solidFill>
                <a:latin typeface="Arial"/>
                <a:ea typeface="Arial"/>
                <a:cs typeface="Arial"/>
              </a:rPr>
              <a:t>DIR évalue le risque avec le conseil du RPD.</a:t>
            </a:r>
          </a:p>
        </p:txBody>
      </p:sp>
      <p:sp>
        <p:nvSpPr>
          <p:cNvPr id="5" name="">
            <a:extLst xmlns:a="http://schemas.openxmlformats.org/drawingml/2006/main">
              <a:ext uri="{FF2B5EF4-FFF2-40B4-BE49-F238E27FC236}">
                <a16:creationId xmlns:a16="http://schemas.microsoft.com/office/drawing/2014/main" id="{7F16D133-4704-44CE-ABA0-EE5431AAFD5F}"/>
              </a:ext>
            </a:extLst>
          </p:cNvPr>
          <p:cNvSpPr>
            <a:spLocks xmlns:a="http://schemas.openxmlformats.org/drawingml/2006/main" noGrp="1"/>
          </p:cNvSpPr>
          <p:nvPr/>
        </p:nvSpPr>
        <p:spPr>
          <a:xfrm xmlns:a="http://schemas.openxmlformats.org/drawingml/2006/main">
            <a:off x="685800" y="41910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11111"/>
                </a:solidFill>
                <a:latin typeface="Arial"/>
                <a:ea typeface="Arial"/>
                <a:cs typeface="Arial"/>
              </a:defRPr>
            </a:pPr>
            <a:r>
              <a:rPr sz="2100" b="0">
                <a:solidFill>
                  <a:srgbClr val="111111"/>
                </a:solidFill>
                <a:latin typeface="Arial"/>
                <a:ea typeface="Arial"/>
                <a:cs typeface="Arial"/>
              </a:rPr>
              <a:t>Notification CNIL sous les conditions de l’article 33, si possible au plus tard 72 heures après connaissance.</a:t>
            </a:r>
          </a:p>
        </p:txBody>
      </p:sp>
      <p:sp>
        <p:nvSpPr>
          <p:cNvPr id="6" name="">
            <a:extLst xmlns:a="http://schemas.openxmlformats.org/drawingml/2006/main">
              <a:ext uri="{FF2B5EF4-FFF2-40B4-BE49-F238E27FC236}">
                <a16:creationId xmlns:a16="http://schemas.microsoft.com/office/drawing/2014/main" id="{87ECC7D0-F6E2-48C0-BB41-D2362C1A9EDE}"/>
              </a:ext>
            </a:extLst>
          </p:cNvPr>
          <p:cNvSpPr>
            <a:spLocks xmlns:a="http://schemas.openxmlformats.org/drawingml/2006/main" noGrp="1"/>
          </p:cNvSpPr>
          <p:nvPr/>
        </p:nvSpPr>
        <p:spPr>
          <a:xfrm xmlns:a="http://schemas.openxmlformats.org/drawingml/2006/main">
            <a:off x="685800" y="51435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11111"/>
                </a:solidFill>
                <a:latin typeface="Arial"/>
                <a:ea typeface="Arial"/>
                <a:cs typeface="Arial"/>
              </a:defRPr>
            </a:pPr>
            <a:r>
              <a:rPr sz="2100" b="0">
                <a:solidFill>
                  <a:srgbClr val="111111"/>
                </a:solidFill>
                <a:latin typeface="Arial"/>
                <a:ea typeface="Arial"/>
                <a:cs typeface="Arial"/>
              </a:rPr>
              <a:t>Reprise et secours local de lecture testés. Écritures bloquées en secours. Perte du Mac non couverte.</a:t>
            </a:r>
          </a:p>
        </p:txBody>
      </p:sp>
      <p:sp>
        <p:nvSpPr>
          <p:cNvPr id="7" name="">
            <a:extLst xmlns:a="http://schemas.openxmlformats.org/drawingml/2006/main">
              <a:ext uri="{FF2B5EF4-FFF2-40B4-BE49-F238E27FC236}">
                <a16:creationId xmlns:a16="http://schemas.microsoft.com/office/drawing/2014/main" id="{256359D8-0A6C-4D2A-A82A-7E198846E411}"/>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55555"/>
                </a:solidFill>
                <a:latin typeface="Arial"/>
                <a:ea typeface="Arial"/>
                <a:cs typeface="Arial"/>
              </a:defRPr>
            </a:pPr>
            <a:r>
              <a:rPr sz="1200" b="0">
                <a:solidFill>
                  <a:srgbClr val="555555"/>
                </a:solidFill>
                <a:latin typeface="Arial"/>
                <a:ea typeface="Arial"/>
                <a:cs typeface="Arial"/>
              </a:rPr>
              <a:t>Plan de gouvernance p. 8     10 / 12</a:t>
            </a:r>
          </a:p>
        </p:txBody>
      </p:sp>
    </p:spTree>
    <p:extLst>
      <p:ext uri="{BB962C8B-B14F-4D97-AF65-F5344CB8AC3E}">
        <p14:creationId xmlns:p14="http://schemas.microsoft.com/office/powerpoint/2010/main" val="15765778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A9A6E27-EB71-43CA-A2C6-848E067C067A}"/>
              </a:ext>
            </a:extLst>
          </p:cNvPr>
          <p:cNvSpPr>
            <a:spLocks xmlns:a="http://schemas.openxmlformats.org/drawingml/2006/main" noGrp="1"/>
          </p:cNvSpPr>
          <p:nvPr/>
        </p:nvSpPr>
        <p:spPr>
          <a:xfrm xmlns:a="http://schemas.openxmlformats.org/drawingml/2006/main">
            <a:off x="685800" y="4286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11111"/>
                </a:solidFill>
                <a:latin typeface="Arial"/>
                <a:ea typeface="Arial"/>
                <a:cs typeface="Arial"/>
              </a:defRPr>
            </a:pPr>
            <a:r>
              <a:rPr sz="3225" b="1">
                <a:solidFill>
                  <a:srgbClr val="111111"/>
                </a:solidFill>
                <a:latin typeface="Arial"/>
                <a:ea typeface="Arial"/>
                <a:cs typeface="Arial"/>
              </a:rPr>
              <a:t>Le contrôle dans la durée</a:t>
            </a:r>
          </a:p>
        </p:txBody>
      </p:sp>
      <p:sp>
        <p:nvSpPr>
          <p:cNvPr id="2" name="">
            <a:extLst xmlns:a="http://schemas.openxmlformats.org/drawingml/2006/main">
              <a:ext uri="{FF2B5EF4-FFF2-40B4-BE49-F238E27FC236}">
                <a16:creationId xmlns:a16="http://schemas.microsoft.com/office/drawing/2014/main" id="{8C1A6EFB-08CE-404F-94C5-FD9F55997222}"/>
              </a:ext>
            </a:extLst>
          </p:cNvPr>
          <p:cNvSpPr>
            <a:spLocks xmlns:a="http://schemas.openxmlformats.org/drawingml/2006/main" noGrp="1"/>
          </p:cNvSpPr>
          <p:nvPr/>
        </p:nvSpPr>
        <p:spPr>
          <a:xfrm xmlns:a="http://schemas.openxmlformats.org/drawingml/2006/main">
            <a:off x="685800" y="1362075"/>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3D5363"/>
                </a:solidFill>
                <a:latin typeface="Arial"/>
                <a:ea typeface="Arial"/>
                <a:cs typeface="Arial"/>
              </a:defRPr>
            </a:pPr>
            <a:r>
              <a:rPr sz="2175" b="0">
                <a:solidFill>
                  <a:srgbClr val="3D5363"/>
                </a:solidFill>
                <a:latin typeface="Arial"/>
                <a:ea typeface="Arial"/>
                <a:cs typeface="Arial"/>
              </a:rPr>
              <a:t>Les procédures produisent des preuves révisables</a:t>
            </a:r>
          </a:p>
        </p:txBody>
      </p:sp>
      <p:graphicFrame>
        <p:nvGraphicFramePr>
          <p:cNvPr id="9" name="">
            <a:extLst xmlns:a="http://schemas.openxmlformats.org/drawingml/2006/main">
              <a:ext uri="{FF2B5EF4-FFF2-40B4-BE49-F238E27FC236}">
                <a16:creationId xmlns:a16="http://schemas.microsoft.com/office/drawing/2014/main" id="{0EB5E93D-3BAB-46A9-B3D0-247A7E5E2DBC}"/>
              </a:ext>
            </a:extLst>
          </p:cNvPr>
          <p:cNvGraphicFramePr/>
          <p:nvPr/>
        </p:nvGraphicFramePr>
        <p:xfrm>
          <a:off xmlns:a="http://schemas.openxmlformats.org/drawingml/2006/main" x="685800" y="2238375"/>
          <a:ext xmlns:a="http://schemas.openxmlformats.org/drawingml/2006/main" cx="10820400" cy="3143250"/>
        </p:xfrm>
        <a:graphic xmlns:a="http://schemas.openxmlformats.org/drawingml/2006/main">
          <a:graphicData uri="http://schemas.openxmlformats.org/drawingml/2006/table">
            <a:tbl>
              <a:tblPr/>
              <a:tblGrid>
                <a:gridCol w="5429250"/>
                <a:gridCol w="5391150"/>
              </a:tblGrid>
              <a:tr h="628650">
                <a:tc>
                  <a:txBody>
                    <a:bodyPr>
                      <a:noAutofit/>
                    </a:bodyPr>
                    <a:lstStyle/>
                    <a:p>
                      <a:r>
                        <a:rPr sz="1875" b="1">
                          <a:solidFill>
                            <a:srgbClr val="111111"/>
                          </a:solidFill>
                          <a:latin typeface="Arial"/>
                          <a:ea typeface="Arial"/>
                          <a:cs typeface="Arial"/>
                        </a:rPr>
                        <a:t>Cadence proposée</a:t>
                      </a:r>
                    </a:p>
                  </a:txBody>
                  <a:tcPr marL="91440" marR="91440" marT="45720" marB="45720">
                    <a:solidFill>
                      <a:srgbClr val="E7EDF2"/>
                    </a:solidFill>
                  </a:tcPr>
                </a:tc>
                <a:tc>
                  <a:txBody>
                    <a:bodyPr>
                      <a:noAutofit/>
                    </a:bodyPr>
                    <a:lstStyle/>
                    <a:p>
                      <a:r>
                        <a:rPr sz="1875" b="1">
                          <a:solidFill>
                            <a:srgbClr val="111111"/>
                          </a:solidFill>
                          <a:latin typeface="Arial"/>
                          <a:ea typeface="Arial"/>
                          <a:cs typeface="Arial"/>
                        </a:rPr>
                        <a:t>Travail</a:t>
                      </a:r>
                    </a:p>
                  </a:txBody>
                  <a:tcPr marL="91440" marR="91440" marT="45720" marB="45720">
                    <a:solidFill>
                      <a:srgbClr val="E7EDF2"/>
                    </a:solidFill>
                  </a:tcPr>
                </a:tc>
              </a:tr>
              <a:tr h="628650">
                <a:tc>
                  <a:txBody>
                    <a:bodyPr>
                      <a:noAutofit/>
                    </a:bodyPr>
                    <a:lstStyle/>
                    <a:p>
                      <a:r>
                        <a:rPr sz="1875" b="0">
                          <a:solidFill>
                            <a:srgbClr val="111111"/>
                          </a:solidFill>
                          <a:latin typeface="Arial"/>
                          <a:ea typeface="Arial"/>
                          <a:cs typeface="Arial"/>
                        </a:rPr>
                        <a:t>À chaque lot</a:t>
                      </a:r>
                    </a:p>
                  </a:txBody>
                  <a:tcPr marL="91440" marR="91440" marT="45720" marB="45720">
                    <a:solidFill>
                      <a:srgbClr val="FFFFFF"/>
                    </a:solidFill>
                  </a:tcPr>
                </a:tc>
                <a:tc>
                  <a:txBody>
                    <a:bodyPr>
                      <a:noAutofit/>
                    </a:bodyPr>
                    <a:lstStyle/>
                    <a:p>
                      <a:r>
                        <a:rPr sz="1875" b="0">
                          <a:solidFill>
                            <a:srgbClr val="111111"/>
                          </a:solidFill>
                          <a:latin typeface="Arial"/>
                          <a:ea typeface="Arial"/>
                          <a:cs typeface="Arial"/>
                        </a:rPr>
                        <a:t>Périmètre, qualité, versions et couverture</a:t>
                      </a:r>
                    </a:p>
                  </a:txBody>
                  <a:tcPr marL="91440" marR="91440" marT="45720" marB="45720">
                    <a:solidFill>
                      <a:srgbClr val="FFFFFF"/>
                    </a:solidFill>
                  </a:tcPr>
                </a:tc>
              </a:tr>
              <a:tr h="628650">
                <a:tc>
                  <a:txBody>
                    <a:bodyPr>
                      <a:noAutofit/>
                    </a:bodyPr>
                    <a:lstStyle/>
                    <a:p>
                      <a:r>
                        <a:rPr sz="1875" b="0">
                          <a:solidFill>
                            <a:srgbClr val="111111"/>
                          </a:solidFill>
                          <a:latin typeface="Arial"/>
                          <a:ea typeface="Arial"/>
                          <a:cs typeface="Arial"/>
                        </a:rPr>
                        <a:t>Chaque mois</a:t>
                      </a:r>
                    </a:p>
                  </a:txBody>
                  <a:tcPr marL="91440" marR="91440" marT="45720" marB="45720">
                    <a:solidFill>
                      <a:srgbClr val="F7F9FB"/>
                    </a:solidFill>
                  </a:tcPr>
                </a:tc>
                <a:tc>
                  <a:txBody>
                    <a:bodyPr>
                      <a:noAutofit/>
                    </a:bodyPr>
                    <a:lstStyle/>
                    <a:p>
                      <a:r>
                        <a:rPr sz="1875" b="0">
                          <a:solidFill>
                            <a:srgbClr val="111111"/>
                          </a:solidFill>
                          <a:latin typeface="Arial"/>
                          <a:ea typeface="Arial"/>
                          <a:cs typeface="Arial"/>
                        </a:rPr>
                        <a:t>Accès, droits, risques et veille juridique</a:t>
                      </a:r>
                    </a:p>
                  </a:txBody>
                  <a:tcPr marL="91440" marR="91440" marT="45720" marB="45720">
                    <a:solidFill>
                      <a:srgbClr val="F7F9FB"/>
                    </a:solidFill>
                  </a:tcPr>
                </a:tc>
              </a:tr>
              <a:tr h="628650">
                <a:tc>
                  <a:txBody>
                    <a:bodyPr>
                      <a:noAutofit/>
                    </a:bodyPr>
                    <a:lstStyle/>
                    <a:p>
                      <a:r>
                        <a:rPr sz="1875" b="0">
                          <a:solidFill>
                            <a:srgbClr val="111111"/>
                          </a:solidFill>
                          <a:latin typeface="Arial"/>
                          <a:ea typeface="Arial"/>
                          <a:cs typeface="Arial"/>
                        </a:rPr>
                        <a:t>Chaque trimestre et avant remise</a:t>
                      </a:r>
                    </a:p>
                  </a:txBody>
                  <a:tcPr marL="91440" marR="91440" marT="45720" marB="45720">
                    <a:solidFill>
                      <a:srgbClr val="FFFFFF"/>
                    </a:solidFill>
                  </a:tcPr>
                </a:tc>
                <a:tc>
                  <a:txBody>
                    <a:bodyPr>
                      <a:noAutofit/>
                    </a:bodyPr>
                    <a:lstStyle/>
                    <a:p>
                      <a:r>
                        <a:rPr sz="1875" b="0">
                          <a:solidFill>
                            <a:srgbClr val="111111"/>
                          </a:solidFill>
                          <a:latin typeface="Arial"/>
                          <a:ea typeface="Arial"/>
                          <a:cs typeface="Arial"/>
                        </a:rPr>
                        <a:t>Audit et exercice de restauration</a:t>
                      </a:r>
                    </a:p>
                  </a:txBody>
                  <a:tcPr marL="91440" marR="91440" marT="45720" marB="45720">
                    <a:solidFill>
                      <a:srgbClr val="FFFFFF"/>
                    </a:solidFill>
                  </a:tcPr>
                </a:tc>
              </a:tr>
              <a:tr h="628650">
                <a:tc>
                  <a:txBody>
                    <a:bodyPr>
                      <a:noAutofit/>
                    </a:bodyPr>
                    <a:lstStyle/>
                    <a:p>
                      <a:r>
                        <a:rPr sz="1875" b="0">
                          <a:solidFill>
                            <a:srgbClr val="111111"/>
                          </a:solidFill>
                          <a:latin typeface="Arial"/>
                          <a:ea typeface="Arial"/>
                          <a:cs typeface="Arial"/>
                        </a:rPr>
                        <a:t>Avant accès puis chaque année</a:t>
                      </a:r>
                    </a:p>
                  </a:txBody>
                  <a:tcPr marL="91440" marR="91440" marT="45720" marB="45720">
                    <a:solidFill>
                      <a:srgbClr val="F7F9FB"/>
                    </a:solidFill>
                  </a:tcPr>
                </a:tc>
                <a:tc>
                  <a:txBody>
                    <a:bodyPr>
                      <a:noAutofit/>
                    </a:bodyPr>
                    <a:lstStyle/>
                    <a:p>
                      <a:r>
                        <a:rPr sz="1875" b="0">
                          <a:solidFill>
                            <a:srgbClr val="111111"/>
                          </a:solidFill>
                          <a:latin typeface="Arial"/>
                          <a:ea typeface="Arial"/>
                          <a:cs typeface="Arial"/>
                        </a:rPr>
                        <a:t>Atelier de 45 min et vérification des acquis</a:t>
                      </a:r>
                    </a:p>
                  </a:txBody>
                  <a:tcPr marL="91440" marR="91440" marT="45720" marB="45720">
                    <a:solidFill>
                      <a:srgbClr val="F7F9FB"/>
                    </a:solidFill>
                  </a:tcPr>
                </a:tc>
              </a:tr>
            </a:tbl>
          </a:graphicData>
        </a:graphic>
      </p:graphicFrame>
      <p:sp>
        <p:nvSpPr>
          <p:cNvPr id="4" name="">
            <a:extLst xmlns:a="http://schemas.openxmlformats.org/drawingml/2006/main">
              <a:ext uri="{FF2B5EF4-FFF2-40B4-BE49-F238E27FC236}">
                <a16:creationId xmlns:a16="http://schemas.microsoft.com/office/drawing/2014/main" id="{AD07F725-10B7-4290-93AE-552A247E9571}"/>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55555"/>
                </a:solidFill>
                <a:latin typeface="Arial"/>
                <a:ea typeface="Arial"/>
                <a:cs typeface="Arial"/>
              </a:defRPr>
            </a:pPr>
            <a:r>
              <a:rPr sz="1200" b="0">
                <a:solidFill>
                  <a:srgbClr val="555555"/>
                </a:solidFill>
                <a:latin typeface="Arial"/>
                <a:ea typeface="Arial"/>
                <a:cs typeface="Arial"/>
              </a:rPr>
              <a:t>Plan de gouvernance p. 5 et 9     11 / 12</a:t>
            </a:r>
          </a:p>
        </p:txBody>
      </p:sp>
    </p:spTree>
    <p:extLst>
      <p:ext uri="{BB962C8B-B14F-4D97-AF65-F5344CB8AC3E}">
        <p14:creationId xmlns:p14="http://schemas.microsoft.com/office/powerpoint/2010/main" val="106202749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79DA9F-A2DD-408C-8428-BB2209443C77}"/>
              </a:ext>
            </a:extLst>
          </p:cNvPr>
          <p:cNvSpPr>
            <a:spLocks xmlns:a="http://schemas.openxmlformats.org/drawingml/2006/main" noGrp="1"/>
          </p:cNvSpPr>
          <p:nvPr/>
        </p:nvSpPr>
        <p:spPr>
          <a:xfrm xmlns:a="http://schemas.openxmlformats.org/drawingml/2006/main">
            <a:off x="685800" y="4286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11111"/>
                </a:solidFill>
                <a:latin typeface="Arial"/>
                <a:ea typeface="Arial"/>
                <a:cs typeface="Arial"/>
              </a:defRPr>
            </a:pPr>
            <a:r>
              <a:rPr sz="3225" b="1">
                <a:solidFill>
                  <a:srgbClr val="111111"/>
                </a:solidFill>
                <a:latin typeface="Arial"/>
                <a:ea typeface="Arial"/>
                <a:cs typeface="Arial"/>
              </a:rPr>
              <a:t>Le bilan du Bloc 1</a:t>
            </a:r>
          </a:p>
        </p:txBody>
      </p:sp>
      <p:sp>
        <p:nvSpPr>
          <p:cNvPr id="2" name="">
            <a:extLst xmlns:a="http://schemas.openxmlformats.org/drawingml/2006/main">
              <a:ext uri="{FF2B5EF4-FFF2-40B4-BE49-F238E27FC236}">
                <a16:creationId xmlns:a16="http://schemas.microsoft.com/office/drawing/2014/main" id="{82224892-4676-4D62-AB90-54A60AEA3EE5}"/>
              </a:ext>
            </a:extLst>
          </p:cNvPr>
          <p:cNvSpPr>
            <a:spLocks xmlns:a="http://schemas.openxmlformats.org/drawingml/2006/main" noGrp="1"/>
          </p:cNvSpPr>
          <p:nvPr/>
        </p:nvSpPr>
        <p:spPr>
          <a:xfrm xmlns:a="http://schemas.openxmlformats.org/drawingml/2006/main">
            <a:off x="685800" y="1362075"/>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3D5363"/>
                </a:solidFill>
                <a:latin typeface="Arial"/>
                <a:ea typeface="Arial"/>
                <a:cs typeface="Arial"/>
              </a:defRPr>
            </a:pPr>
            <a:r>
              <a:rPr sz="2175" b="0">
                <a:solidFill>
                  <a:srgbClr val="3D5363"/>
                </a:solidFill>
                <a:latin typeface="Arial"/>
                <a:ea typeface="Arial"/>
                <a:cs typeface="Arial"/>
              </a:rPr>
              <a:t>La politique relie décisions et contrôles techniques locaux</a:t>
            </a:r>
          </a:p>
        </p:txBody>
      </p:sp>
      <p:graphicFrame>
        <p:nvGraphicFramePr>
          <p:cNvPr id="9" name="">
            <a:extLst xmlns:a="http://schemas.openxmlformats.org/drawingml/2006/main">
              <a:ext uri="{FF2B5EF4-FFF2-40B4-BE49-F238E27FC236}">
                <a16:creationId xmlns:a16="http://schemas.microsoft.com/office/drawing/2014/main" id="{3EEFEEE3-BDDB-49AE-AA07-910C0C553114}"/>
              </a:ext>
            </a:extLst>
          </p:cNvPr>
          <p:cNvGraphicFramePr/>
          <p:nvPr/>
        </p:nvGraphicFramePr>
        <p:xfrm>
          <a:off xmlns:a="http://schemas.openxmlformats.org/drawingml/2006/main" x="685800" y="2238375"/>
          <a:ext xmlns:a="http://schemas.openxmlformats.org/drawingml/2006/main" cx="10820400" cy="3143250"/>
        </p:xfrm>
        <a:graphic xmlns:a="http://schemas.openxmlformats.org/drawingml/2006/main">
          <a:graphicData uri="http://schemas.openxmlformats.org/drawingml/2006/table">
            <a:tbl>
              <a:tblPr/>
              <a:tblGrid>
                <a:gridCol w="5000625"/>
                <a:gridCol w="5819775"/>
              </a:tblGrid>
              <a:tr h="785813">
                <a:tc>
                  <a:txBody>
                    <a:bodyPr>
                      <a:noAutofit/>
                    </a:bodyPr>
                    <a:lstStyle/>
                    <a:p>
                      <a:r>
                        <a:rPr sz="1875" b="1">
                          <a:solidFill>
                            <a:srgbClr val="111111"/>
                          </a:solidFill>
                          <a:latin typeface="Arial"/>
                          <a:ea typeface="Arial"/>
                          <a:cs typeface="Arial"/>
                        </a:rPr>
                        <a:t>Disponible</a:t>
                      </a:r>
                    </a:p>
                  </a:txBody>
                  <a:tcPr marL="91440" marR="91440" marT="45720" marB="45720">
                    <a:solidFill>
                      <a:srgbClr val="E7EDF2"/>
                    </a:solidFill>
                  </a:tcPr>
                </a:tc>
                <a:tc>
                  <a:txBody>
                    <a:bodyPr>
                      <a:noAutofit/>
                    </a:bodyPr>
                    <a:lstStyle/>
                    <a:p>
                      <a:r>
                        <a:rPr sz="1875" b="1">
                          <a:solidFill>
                            <a:srgbClr val="111111"/>
                          </a:solidFill>
                          <a:latin typeface="Arial"/>
                          <a:ea typeface="Arial"/>
                          <a:cs typeface="Arial"/>
                        </a:rPr>
                        <a:t>À établir ou à réaliser</a:t>
                      </a:r>
                    </a:p>
                  </a:txBody>
                  <a:tcPr marL="91440" marR="91440" marT="45720" marB="45720">
                    <a:solidFill>
                      <a:srgbClr val="E7EDF2"/>
                    </a:solidFill>
                  </a:tcPr>
                </a:tc>
              </a:tr>
              <a:tr h="785813">
                <a:tc>
                  <a:txBody>
                    <a:bodyPr>
                      <a:noAutofit/>
                    </a:bodyPr>
                    <a:lstStyle/>
                    <a:p>
                      <a:r>
                        <a:rPr sz="1875" b="0">
                          <a:solidFill>
                            <a:srgbClr val="111111"/>
                          </a:solidFill>
                          <a:latin typeface="Arial"/>
                          <a:ea typeface="Arial"/>
                          <a:cs typeface="Arial"/>
                        </a:rPr>
                        <a:t>Collecte, droits testés et volume chiffré</a:t>
                      </a:r>
                    </a:p>
                  </a:txBody>
                  <a:tcPr marL="91440" marR="91440" marT="45720" marB="45720">
                    <a:solidFill>
                      <a:srgbClr val="FFFFFF"/>
                    </a:solidFill>
                  </a:tcPr>
                </a:tc>
                <a:tc>
                  <a:txBody>
                    <a:bodyPr>
                      <a:noAutofit/>
                    </a:bodyPr>
                    <a:lstStyle/>
                    <a:p>
                      <a:r>
                        <a:rPr sz="1875" b="0">
                          <a:solidFill>
                            <a:srgbClr val="111111"/>
                          </a:solidFill>
                          <a:latin typeface="Arial"/>
                          <a:ea typeface="Arial"/>
                          <a:cs typeface="Arial"/>
                        </a:rPr>
                        <a:t>Droits d’usage, décisions et copies externes</a:t>
                      </a:r>
                    </a:p>
                  </a:txBody>
                  <a:tcPr marL="91440" marR="91440" marT="45720" marB="45720">
                    <a:solidFill>
                      <a:srgbClr val="FFFFFF"/>
                    </a:solidFill>
                  </a:tcPr>
                </a:tc>
              </a:tr>
              <a:tr h="785813">
                <a:tc>
                  <a:txBody>
                    <a:bodyPr>
                      <a:noAutofit/>
                    </a:bodyPr>
                    <a:lstStyle/>
                    <a:p>
                      <a:r>
                        <a:rPr sz="1875" b="0">
                          <a:solidFill>
                            <a:srgbClr val="111111"/>
                          </a:solidFill>
                          <a:latin typeface="Arial"/>
                          <a:ea typeface="Arial"/>
                          <a:cs typeface="Arial"/>
                        </a:rPr>
                        <a:t>Bases, projet d’AIPD et notice rédigés</a:t>
                      </a:r>
                    </a:p>
                  </a:txBody>
                  <a:tcPr marL="91440" marR="91440" marT="45720" marB="45720">
                    <a:solidFill>
                      <a:srgbClr val="F7F9FB"/>
                    </a:solidFill>
                  </a:tcPr>
                </a:tc>
                <a:tc>
                  <a:txBody>
                    <a:bodyPr>
                      <a:noAutofit/>
                    </a:bodyPr>
                    <a:lstStyle/>
                    <a:p>
                      <a:r>
                        <a:rPr sz="1875" b="0">
                          <a:solidFill>
                            <a:srgbClr val="111111"/>
                          </a:solidFill>
                          <a:latin typeface="Arial"/>
                          <a:ea typeface="Arial"/>
                          <a:cs typeface="Arial"/>
                        </a:rPr>
                        <a:t>Coordonnées réelles et diffusion de la notice</a:t>
                      </a:r>
                    </a:p>
                  </a:txBody>
                  <a:tcPr marL="91440" marR="91440" marT="45720" marB="45720">
                    <a:solidFill>
                      <a:srgbClr val="F7F9FB"/>
                    </a:solidFill>
                  </a:tcPr>
                </a:tc>
              </a:tr>
              <a:tr h="785813">
                <a:tc>
                  <a:txBody>
                    <a:bodyPr>
                      <a:noAutofit/>
                    </a:bodyPr>
                    <a:lstStyle/>
                    <a:p>
                      <a:r>
                        <a:rPr sz="1875" b="0">
                          <a:solidFill>
                            <a:srgbClr val="111111"/>
                          </a:solidFill>
                          <a:latin typeface="Arial"/>
                          <a:ea typeface="Arial"/>
                          <a:cs typeface="Arial"/>
                        </a:rPr>
                        <a:t>Plan, grille d’utilisation et support oral</a:t>
                      </a:r>
                    </a:p>
                  </a:txBody>
                  <a:tcPr marL="91440" marR="91440" marT="45720" marB="45720">
                    <a:solidFill>
                      <a:srgbClr val="FFFFFF"/>
                    </a:solidFill>
                  </a:tcPr>
                </a:tc>
                <a:tc>
                  <a:txBody>
                    <a:bodyPr>
                      <a:noAutofit/>
                    </a:bodyPr>
                    <a:lstStyle/>
                    <a:p>
                      <a:r>
                        <a:rPr sz="1875" b="0">
                          <a:solidFill>
                            <a:srgbClr val="111111"/>
                          </a:solidFill>
                          <a:latin typeface="Arial"/>
                          <a:ea typeface="Arial"/>
                          <a:cs typeface="Arial"/>
                        </a:rPr>
                        <a:t>Revue humaine, accessibilité et répétition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7A1AC12-98BC-4178-90BF-0940A3E1481F}"/>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55555"/>
                </a:solidFill>
                <a:latin typeface="Arial"/>
                <a:ea typeface="Arial"/>
                <a:cs typeface="Arial"/>
              </a:defRPr>
            </a:pPr>
            <a:r>
              <a:rPr sz="1200" b="0">
                <a:solidFill>
                  <a:srgbClr val="555555"/>
                </a:solidFill>
                <a:latin typeface="Arial"/>
                <a:ea typeface="Arial"/>
                <a:cs typeface="Arial"/>
              </a:rPr>
              <a:t>Plan de gouvernance p. 9     12 / 12</a:t>
            </a:r>
          </a:p>
        </p:txBody>
      </p:sp>
    </p:spTree>
    <p:extLst>
      <p:ext uri="{BB962C8B-B14F-4D97-AF65-F5344CB8AC3E}">
        <p14:creationId xmlns:p14="http://schemas.microsoft.com/office/powerpoint/2010/main" val="4942709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2026-10-18T20:36:22.8980000Z</dcterms:created>
  <dcterms:modified xsi:type="dcterms:W3CDTF">2026-10-18T20:36:22.8980000Z</dcterms:modified>
</coreProperties>
</file>