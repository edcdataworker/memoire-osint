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83ecbb60204fb3" /><Relationship Type="http://schemas.openxmlformats.org/officeDocument/2006/relationships/extended-properties" Target="/docProps/app.xml" Id="R2844b38c6e284960" /><Relationship Type="http://schemas.openxmlformats.org/officeDocument/2006/relationships/officeDocument" Target="/ppt/presentation.xml" Id="R1eddaaa2dac644f1" /></Relationships>
</file>

<file path=ppt/presentation.xml><?xml version="1.0" encoding="utf-8"?>
<p:presentation xmlns:p="http://schemas.openxmlformats.org/presentationml/2006/main">
  <p:sldMasterIdLst>
    <p:sldMasterId xmlns:r="http://schemas.openxmlformats.org/officeDocument/2006/relationships" id="2147483648" r:id="Rcee7d36029cd4996"/>
  </p:sldMasterIdLst>
  <p:notesMasterIdLst>
    <p:notesMasterId xmlns:r="http://schemas.openxmlformats.org/officeDocument/2006/relationships" r:id="R44906cd3bfcf47e8"/>
  </p:notesMasterIdLst>
  <p:sldIdLst>
    <p:sldId xmlns:r="http://schemas.openxmlformats.org/officeDocument/2006/relationships" id="256" r:id="R187972fd8ad24567"/>
    <p:sldId xmlns:r="http://schemas.openxmlformats.org/officeDocument/2006/relationships" id="257" r:id="R0c294d1108574c3f"/>
    <p:sldId xmlns:r="http://schemas.openxmlformats.org/officeDocument/2006/relationships" id="258" r:id="R44b6204b2f8a41df"/>
    <p:sldId xmlns:r="http://schemas.openxmlformats.org/officeDocument/2006/relationships" id="259" r:id="R7c4e3bd0bcba4621"/>
    <p:sldId xmlns:r="http://schemas.openxmlformats.org/officeDocument/2006/relationships" id="260" r:id="R43f4acd490c844cc"/>
    <p:sldId xmlns:r="http://schemas.openxmlformats.org/officeDocument/2006/relationships" id="261" r:id="Ra202ea072a7d41d5"/>
    <p:sldId xmlns:r="http://schemas.openxmlformats.org/officeDocument/2006/relationships" id="262" r:id="R6feed75b95674354"/>
    <p:sldId xmlns:r="http://schemas.openxmlformats.org/officeDocument/2006/relationships" id="263" r:id="R81e926a71f8e4a52"/>
    <p:sldId xmlns:r="http://schemas.openxmlformats.org/officeDocument/2006/relationships" id="264" r:id="R4231bc24042f4eb5"/>
    <p:sldId xmlns:r="http://schemas.openxmlformats.org/officeDocument/2006/relationships" id="265" r:id="Rc9a3c1faf727449c"/>
    <p:sldId xmlns:r="http://schemas.openxmlformats.org/officeDocument/2006/relationships" id="266" r:id="R815ef75a1fc14bf8"/>
    <p:sldId xmlns:r="http://schemas.openxmlformats.org/officeDocument/2006/relationships" id="267" r:id="R8aa6555bc2c44dae"/>
    <p:sldId xmlns:r="http://schemas.openxmlformats.org/officeDocument/2006/relationships" id="268" r:id="R943bc1de92394dd7"/>
    <p:sldId xmlns:r="http://schemas.openxmlformats.org/officeDocument/2006/relationships" id="269" r:id="Rde11ea59688b4ef5"/>
    <p:sldId xmlns:r="http://schemas.openxmlformats.org/officeDocument/2006/relationships" id="270" r:id="R6f6f0ea6a95447c7"/>
    <p:sldId xmlns:r="http://schemas.openxmlformats.org/officeDocument/2006/relationships" id="271" r:id="R0f11456bc48e473c"/>
    <p:sldId xmlns:r="http://schemas.openxmlformats.org/officeDocument/2006/relationships" id="272" r:id="R0751003c08484901"/>
    <p:sldId xmlns:r="http://schemas.openxmlformats.org/officeDocument/2006/relationships" id="273" r:id="Rf90ec339b723465f"/>
    <p:sldId xmlns:r="http://schemas.openxmlformats.org/officeDocument/2006/relationships" id="274" r:id="R133df0dd28ea46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95125c4da14b65" /><Relationship Type="http://schemas.openxmlformats.org/officeDocument/2006/relationships/slideMaster" Target="/ppt/slideMasters/slideMaster1.xml" Id="Rcee7d36029cd4996" /><Relationship Type="http://schemas.openxmlformats.org/officeDocument/2006/relationships/notesMaster" Target="/ppt/notesMasters/notesMaster1.xml" Id="R44906cd3bfcf47e8" /><Relationship Type="http://schemas.openxmlformats.org/officeDocument/2006/relationships/presProps" Target="/ppt/presProps.xml" Id="R07199acc9f9a4e38" /><Relationship Type="http://schemas.openxmlformats.org/officeDocument/2006/relationships/tableStyles" Target="/ppt/tableStyles.xml" Id="Rd9d8b0a92bf24a21" /><Relationship Type="http://schemas.openxmlformats.org/officeDocument/2006/relationships/slide" Target="/ppt/slides/slide1.xml" Id="R187972fd8ad24567" /><Relationship Type="http://schemas.openxmlformats.org/officeDocument/2006/relationships/slide" Target="/ppt/slides/slide2.xml" Id="R0c294d1108574c3f" /><Relationship Type="http://schemas.openxmlformats.org/officeDocument/2006/relationships/slide" Target="/ppt/slides/slide3.xml" Id="R44b6204b2f8a41df" /><Relationship Type="http://schemas.openxmlformats.org/officeDocument/2006/relationships/slide" Target="/ppt/slides/slide4.xml" Id="R7c4e3bd0bcba4621" /><Relationship Type="http://schemas.openxmlformats.org/officeDocument/2006/relationships/slide" Target="/ppt/slides/slide5.xml" Id="R43f4acd490c844cc" /><Relationship Type="http://schemas.openxmlformats.org/officeDocument/2006/relationships/slide" Target="/ppt/slides/slide6.xml" Id="Ra202ea072a7d41d5" /><Relationship Type="http://schemas.openxmlformats.org/officeDocument/2006/relationships/slide" Target="/ppt/slides/slide7.xml" Id="R6feed75b95674354" /><Relationship Type="http://schemas.openxmlformats.org/officeDocument/2006/relationships/slide" Target="/ppt/slides/slide8.xml" Id="R81e926a71f8e4a52" /><Relationship Type="http://schemas.openxmlformats.org/officeDocument/2006/relationships/slide" Target="/ppt/slides/slide9.xml" Id="R4231bc24042f4eb5" /><Relationship Type="http://schemas.openxmlformats.org/officeDocument/2006/relationships/slide" Target="/ppt/slides/slide10.xml" Id="Rc9a3c1faf727449c" /><Relationship Type="http://schemas.openxmlformats.org/officeDocument/2006/relationships/slide" Target="/ppt/slides/slide11.xml" Id="R815ef75a1fc14bf8" /><Relationship Type="http://schemas.openxmlformats.org/officeDocument/2006/relationships/slide" Target="/ppt/slides/slide12.xml" Id="R8aa6555bc2c44dae" /><Relationship Type="http://schemas.openxmlformats.org/officeDocument/2006/relationships/slide" Target="/ppt/slides/slide13.xml" Id="R943bc1de92394dd7" /><Relationship Type="http://schemas.openxmlformats.org/officeDocument/2006/relationships/slide" Target="/ppt/slides/slide14.xml" Id="Rde11ea59688b4ef5" /><Relationship Type="http://schemas.openxmlformats.org/officeDocument/2006/relationships/slide" Target="/ppt/slides/slide15.xml" Id="R6f6f0ea6a95447c7" /><Relationship Type="http://schemas.openxmlformats.org/officeDocument/2006/relationships/slide" Target="/ppt/slides/slide16.xml" Id="R0f11456bc48e473c" /><Relationship Type="http://schemas.openxmlformats.org/officeDocument/2006/relationships/slide" Target="/ppt/slides/slide17.xml" Id="R0751003c08484901" /><Relationship Type="http://schemas.openxmlformats.org/officeDocument/2006/relationships/slide" Target="/ppt/slides/slide18.xml" Id="Rf90ec339b723465f" /><Relationship Type="http://schemas.openxmlformats.org/officeDocument/2006/relationships/slide" Target="/ppt/slides/slide19.xml" Id="R133df0dd28ea46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1cdb42267b43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29afcb9bcb4bce" /><Relationship Type="http://schemas.openxmlformats.org/officeDocument/2006/relationships/notesMaster" Target="/ppt/notesMasters/notesMaster1.xml" Id="R1e38d62564bb4e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3c166cf82548e1" /><Relationship Type="http://schemas.openxmlformats.org/officeDocument/2006/relationships/notesMaster" Target="/ppt/notesMasters/notesMaster1.xml" Id="R6af47f54ac3c4c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269fc0b28c46af" /><Relationship Type="http://schemas.openxmlformats.org/officeDocument/2006/relationships/notesMaster" Target="/ppt/notesMasters/notesMaster1.xml" Id="Rd277ae46c5b444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01ee7c294a4c0d" /><Relationship Type="http://schemas.openxmlformats.org/officeDocument/2006/relationships/notesMaster" Target="/ppt/notesMasters/notesMaster1.xml" Id="R1dd455d228d641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02d50f05464bdb" /><Relationship Type="http://schemas.openxmlformats.org/officeDocument/2006/relationships/notesMaster" Target="/ppt/notesMasters/notesMaster1.xml" Id="R067a0041cd6a42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c96a9851e24de6" /><Relationship Type="http://schemas.openxmlformats.org/officeDocument/2006/relationships/notesMaster" Target="/ppt/notesMasters/notesMaster1.xml" Id="Rac293da2879244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68d234e4cb4c1e" /><Relationship Type="http://schemas.openxmlformats.org/officeDocument/2006/relationships/notesMaster" Target="/ppt/notesMasters/notesMaster1.xml" Id="Rf9b88a208fad43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2af51e843747dc" /><Relationship Type="http://schemas.openxmlformats.org/officeDocument/2006/relationships/notesMaster" Target="/ppt/notesMasters/notesMaster1.xml" Id="Radd77c3365a044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8d3edecd69475a" /><Relationship Type="http://schemas.openxmlformats.org/officeDocument/2006/relationships/notesMaster" Target="/ppt/notesMasters/notesMaster1.xml" Id="R52c855d6aa8d49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e899d8e5c24013" /><Relationship Type="http://schemas.openxmlformats.org/officeDocument/2006/relationships/notesMaster" Target="/ppt/notesMasters/notesMaster1.xml" Id="Rf1421802865f4f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2a16f7cfe6498d" /><Relationship Type="http://schemas.openxmlformats.org/officeDocument/2006/relationships/notesMaster" Target="/ppt/notesMasters/notesMaster1.xml" Id="Rd06b6c0da95a45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34827ed7764157" /><Relationship Type="http://schemas.openxmlformats.org/officeDocument/2006/relationships/notesMaster" Target="/ppt/notesMasters/notesMaster1.xml" Id="R42296f4e23764f2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54ffbd6e9748ec" /><Relationship Type="http://schemas.openxmlformats.org/officeDocument/2006/relationships/notesMaster" Target="/ppt/notesMasters/notesMaster1.xml" Id="R33bd4ccfa04c46e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e55e812891e4ceb" /><Relationship Type="http://schemas.openxmlformats.org/officeDocument/2006/relationships/notesMaster" Target="/ppt/notesMasters/notesMaster1.xml" Id="Rcf4cf0f07082410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a66566c14ed4957" /><Relationship Type="http://schemas.openxmlformats.org/officeDocument/2006/relationships/notesMaster" Target="/ppt/notesMasters/notesMaster1.xml" Id="Rb20da8785f654d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65339ea801c443f" /><Relationship Type="http://schemas.openxmlformats.org/officeDocument/2006/relationships/notesMaster" Target="/ppt/notesMasters/notesMaster1.xml" Id="R8b090df190d445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f746843aef4110" /><Relationship Type="http://schemas.openxmlformats.org/officeDocument/2006/relationships/notesMaster" Target="/ppt/notesMasters/notesMaster1.xml" Id="R988190beeee7406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9efa1113cd24a74" /><Relationship Type="http://schemas.openxmlformats.org/officeDocument/2006/relationships/notesMaster" Target="/ppt/notesMasters/notesMaster1.xml" Id="Re1704b50ec454b8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a74008a4bc4a31" /><Relationship Type="http://schemas.openxmlformats.org/officeDocument/2006/relationships/notesMaster" Target="/ppt/notesMasters/notesMaster1.xml" Id="R1436f8b094924d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 à 0:10 (10 secondes prévues).</a:t>
            </a:r>
          </a:p>
          <a:p xmlns:a="http://schemas.openxmlformats.org/drawingml/2006/main">
            <a:r>
              <a:t/>
            </a:r>
          </a:p>
          <a:p xmlns:a="http://schemas.openxmlformats.org/drawingml/2006/main">
            <a:r>
              <a:t>Texte oral proposé : La solution extrait trois catégories de mentions militaires dans TASS. Elle aide à retrouver les passages et reste expérimentale.</a:t>
            </a:r>
          </a:p>
          <a:p xmlns:a="http://schemas.openxmlformats.org/drawingml/2006/main">
            <a:r>
              <a:t/>
            </a:r>
          </a:p>
          <a:p xmlns:a="http://schemas.openxmlformats.org/drawingml/2006/main">
            <a:r>
              <a:t>Détails et sources pour les questions :</a:t>
            </a:r>
          </a:p>
          <a:p xmlns:a="http://schemas.openxmlformats.org/drawingml/2006/main">
            <a:r>
              <a:t>Je présente une solution d’extraction de mentions militaires dans le corpus TASS. Elle traite localement 21 676 articles avec trois catégories d’entités. L’objectif est d’aider un analyste à retrouver et vérifier des passages sourcés. Le modèle reste expérimental.</a:t>
            </a:r>
          </a:p>
          <a:p xmlns:a="http://schemas.openxmlformats.org/drawingml/2006/main">
            <a:r>
              <a:t/>
            </a:r>
          </a:p>
          <a:p xmlns:a="http://schemas.openxmlformats.org/drawingml/2006/main">
            <a:r>
              <a:t>Sources : README.md, docs/Cahier_des_charges.md.</a:t>
            </a:r>
          </a:p>
          <a:p xmlns:a="http://schemas.openxmlformats.org/drawingml/2006/main">
            <a:r>
              <a:t/>
            </a:r>
          </a:p>
          <a:p xmlns:a="http://schemas.openxmlformats.org/drawingml/2006/main">
            <a:r>
              <a:t>Durée indicative. Aucune répétition humaine chronométrée n’est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 à 0:30 (20 secondes prévues).</a:t>
            </a:r>
          </a:p>
          <a:p xmlns:a="http://schemas.openxmlformats.org/drawingml/2006/main">
            <a:r>
              <a:t/>
            </a:r>
          </a:p>
          <a:p xmlns:a="http://schemas.openxmlformats.org/drawingml/2006/main">
            <a:r>
              <a:t>Texte oral proposé : L’analyste filtre les mentions et vérifie le texte source. Le responsable contrôle les versions et les limites. Ces personas restent hypothétiques.</a:t>
            </a:r>
          </a:p>
          <a:p xmlns:a="http://schemas.openxmlformats.org/drawingml/2006/main">
            <a:r>
              <a:t/>
            </a:r>
          </a:p>
          <a:p xmlns:a="http://schemas.openxmlformats.org/drawingml/2006/main">
            <a:r>
              <a:t>Détails et sources pour les questions :</a:t>
            </a:r>
          </a:p>
          <a:p xmlns:a="http://schemas.openxmlformats.org/drawingml/2006/main">
            <a:r>
              <a:t>Le cahier des charges part de deux personas hypothétiques : l’analyste qui cherche une mention et le responsable qui contrôle la qualité. L’outil conserve le texte, la source et les positions des entités. Il permet de filtrer et de comparer des périodes. Les tests avec de vrais utilisateurs restent à effectuer.</a:t>
            </a:r>
          </a:p>
          <a:p xmlns:a="http://schemas.openxmlformats.org/drawingml/2006/main">
            <a:r>
              <a:t/>
            </a:r>
          </a:p>
          <a:p xmlns:a="http://schemas.openxmlformats.org/drawingml/2006/main">
            <a:r>
              <a:t>Sources : docs/Cahier_des_charges.md.</a:t>
            </a:r>
          </a:p>
          <a:p xmlns:a="http://schemas.openxmlformats.org/drawingml/2006/main">
            <a:r>
              <a:t/>
            </a:r>
          </a:p>
          <a:p xmlns:a="http://schemas.openxmlformats.org/drawingml/2006/main">
            <a:r>
              <a:t>Durée indicative. Aucune répétition humaine chronométrée n’est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 à 0:50 (20 secondes prévues).</a:t>
            </a:r>
          </a:p>
          <a:p xmlns:a="http://schemas.openxmlformats.org/drawingml/2006/main">
            <a:r>
              <a:t/>
            </a:r>
          </a:p>
          <a:p xmlns:a="http://schemas.openxmlformats.org/drawingml/2006/main">
            <a:r>
              <a:t>Texte oral proposé : Le Bloc 3 fournit articles et métadonnées. spaCy extrait les mentions. Elasticsearch, l’interface locale et Kibana restituent les résultats.</a:t>
            </a:r>
          </a:p>
          <a:p xmlns:a="http://schemas.openxmlformats.org/drawingml/2006/main">
            <a:r>
              <a:t/>
            </a:r>
          </a:p>
          <a:p xmlns:a="http://schemas.openxmlformats.org/drawingml/2006/main">
            <a:r>
              <a:t>Détails et sources pour les questions :</a:t>
            </a:r>
          </a:p>
          <a:p xmlns:a="http://schemas.openxmlformats.org/drawingml/2006/main">
            <a:r>
              <a:t>Le Bloc 3 fournit les articles et leurs métadonnées. spaCy extrait les mentions en local. Je les exporte dans un index Elasticsearch distinct de celui des articles, puis les restitue dans l’interface et Kibana. Le raccordement TLS a été exécuté sur le poste local.</a:t>
            </a:r>
          </a:p>
          <a:p xmlns:a="http://schemas.openxmlformats.org/drawingml/2006/main">
            <a:r>
              <a:t/>
            </a:r>
          </a:p>
          <a:p xmlns:a="http://schemas.openxmlformats.org/drawingml/2006/main">
            <a:r>
              <a:t>Sources : Preuves/Raccordement_manuel_5_articles.json, config/elasticsearch-entities-mapping.json.</a:t>
            </a:r>
          </a:p>
          <a:p xmlns:a="http://schemas.openxmlformats.org/drawingml/2006/main">
            <a:r>
              <a:t/>
            </a:r>
          </a:p>
          <a:p xmlns:a="http://schemas.openxmlformats.org/drawingml/2006/main">
            <a:r>
              <a:t>Durée indicative. Aucune répétition humaine chronométrée n’est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 à 1:15 (25 secondes prévues).</a:t>
            </a:r>
          </a:p>
          <a:p xmlns:a="http://schemas.openxmlformats.org/drawingml/2006/main">
            <a:r>
              <a:t/>
            </a:r>
          </a:p>
          <a:p xmlns:a="http://schemas.openxmlformats.org/drawingml/2006/main">
            <a:r>
              <a:t>Texte oral proposé : La baseline spaCy part de poids aléatoires. Elle apprend sur 240 articles et 60 de validation pendant six époques, avec des préannotations lexicales.</a:t>
            </a:r>
          </a:p>
          <a:p xmlns:a="http://schemas.openxmlformats.org/drawingml/2006/main">
            <a:r>
              <a:t/>
            </a:r>
          </a:p>
          <a:p xmlns:a="http://schemas.openxmlformats.org/drawingml/2006/main">
            <a:r>
              <a:t>Détails et sources pour les questions :</a:t>
            </a:r>
          </a:p>
          <a:p xmlns:a="http://schemas.openxmlformats.org/drawingml/2006/main">
            <a:r>
              <a:t>Le modèle apprend les labels WEAPON, MIL_UNIT et MIL_ORG. La baseline part de poids aléatoires avec 240 articles d’entraînement et 60 de validation, pendant six époques sur CPU. Les annotations d’apprentissage proviennent de règles lexicales. Les groupes limitent les doublons entre jeux. Le diagnostic utilise 42 articles réservés au test, avec des annotations proposées par Codex.</a:t>
            </a:r>
          </a:p>
          <a:p xmlns:a="http://schemas.openxmlformats.org/drawingml/2006/main">
            <a:r>
              <a:t/>
            </a:r>
          </a:p>
          <a:p xmlns:a="http://schemas.openxmlformats.org/drawingml/2006/main">
            <a:r>
              <a:t>Sources : Preuves/training_run.json, Preuves/split_audit_42_articles.json, docs/Annotation_et_protocole.md.</a:t>
            </a:r>
          </a:p>
          <a:p xmlns:a="http://schemas.openxmlformats.org/drawingml/2006/main">
            <a:r>
              <a:t/>
            </a:r>
          </a:p>
          <a:p xmlns:a="http://schemas.openxmlformats.org/drawingml/2006/main">
            <a:r>
              <a:t>Durée indicative. Aucune répétition humaine chronométrée n’est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à 1:30 (15 secondes prévues).</a:t>
            </a:r>
          </a:p>
          <a:p xmlns:a="http://schemas.openxmlformats.org/drawingml/2006/main">
            <a:r>
              <a:t/>
            </a:r>
          </a:p>
          <a:p xmlns:a="http://schemas.openxmlformats.org/drawingml/2006/main">
            <a:r>
              <a:t>Texte oral proposé : Chaque article conserve sa provenance. Les contrôles vérifient les formats, les positions et la séparation des jeux. La relecture humaine reste à effectuer.</a:t>
            </a:r>
          </a:p>
          <a:p xmlns:a="http://schemas.openxmlformats.org/drawingml/2006/main">
            <a:r>
              <a:t/>
            </a:r>
          </a:p>
          <a:p xmlns:a="http://schemas.openxmlformats.org/drawingml/2006/main">
            <a:r>
              <a:t>Détails et sources pour les questions :</a:t>
            </a:r>
          </a:p>
          <a:p xmlns:a="http://schemas.openxmlformats.org/drawingml/2006/main">
            <a:r>
              <a:t>src/osint_ner/contracts.py ; docs/Annotation_et_protocole.md ; Preuves/split_audit_42_articles.json.</a:t>
            </a:r>
          </a:p>
          <a:p xmlns:a="http://schemas.openxmlformats.org/drawingml/2006/main">
            <a:r>
              <a:t/>
            </a:r>
          </a:p>
          <a:p xmlns:a="http://schemas.openxmlformats.org/drawingml/2006/main">
            <a:r>
              <a:t>Durée indicative. Aucune répétition humaine chronométrée n’est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à 1:55 (25 secondes prévues).</a:t>
            </a:r>
          </a:p>
          <a:p xmlns:a="http://schemas.openxmlformats.org/drawingml/2006/main">
            <a:r>
              <a:t/>
            </a:r>
          </a:p>
          <a:p xmlns:a="http://schemas.openxmlformats.org/drawingml/2006/main">
            <a:r>
              <a:t>Texte oral proposé : L’analyste choisit une période et un label, ouvre un article puis vérifie la mention dans son contexte. Les mentions ne prouvent pas les événements.</a:t>
            </a:r>
          </a:p>
          <a:p xmlns:a="http://schemas.openxmlformats.org/drawingml/2006/main">
            <a:r>
              <a:t/>
            </a:r>
          </a:p>
          <a:p xmlns:a="http://schemas.openxmlformats.org/drawingml/2006/main">
            <a:r>
              <a:t>Détails et sources pour les questions :</a:t>
            </a:r>
          </a:p>
          <a:p xmlns:a="http://schemas.openxmlformats.org/drawingml/2006/main">
            <a:r>
              <a:t>Cette capture montre l’interface exécutée sur le corpus. L’analyste filtre une année ou un label, choisit un article puis retrouve la mention dans le texte complet. Il peut consulter la source et confronter le passage à d’autres informations. Le nombre de mentions décrit ce qui apparaît dans TASS et ne prouve pas les événements.</a:t>
            </a:r>
          </a:p>
          <a:p xmlns:a="http://schemas.openxmlformats.org/drawingml/2006/main">
            <a:r>
              <a:t/>
            </a:r>
          </a:p>
          <a:p xmlns:a="http://schemas.openxmlformats.org/drawingml/2006/main">
            <a:r>
              <a:t>Sources : Preuves/captures, Preuves/Video_metadata.json.</a:t>
            </a:r>
          </a:p>
          <a:p xmlns:a="http://schemas.openxmlformats.org/drawingml/2006/main">
            <a:r>
              <a:t/>
            </a:r>
          </a:p>
          <a:p xmlns:a="http://schemas.openxmlformats.org/drawingml/2006/main">
            <a:r>
              <a:t>Durée indicative. Aucune répétition humaine chronométrée n’est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1:55 à 2:20 (25 secondes prévues).</a:t>
            </a:r>
          </a:p>
          <a:p xmlns:a="http://schemas.openxmlformats.org/drawingml/2006/main">
            <a:r>
              <a:t/>
            </a:r>
          </a:p>
          <a:p xmlns:a="http://schemas.openxmlformats.org/drawingml/2006/main">
            <a:r>
              <a:t>Texte oral proposé : L’inférence traite 21 676 articles en 312,8 secondes. Le diagnostic contre une référence IA donne 32,73 % de F1 et révèle de nombreuses omissions.</a:t>
            </a:r>
          </a:p>
          <a:p xmlns:a="http://schemas.openxmlformats.org/drawingml/2006/main">
            <a:r>
              <a:t/>
            </a:r>
          </a:p>
          <a:p xmlns:a="http://schemas.openxmlformats.org/drawingml/2006/main">
            <a:r>
              <a:t>Détails et sources pour les questions :</a:t>
            </a:r>
          </a:p>
          <a:p xmlns:a="http://schemas.openxmlformats.org/drawingml/2006/main">
            <a:r>
              <a:t>L’inférence complète traite 21 676 articles en 312,8 secondes, soit environ 69 articles par seconde. Le diagnostic donne 71,05 pour cent de précision, 21,26 de rappel et 32,73 de F1. Le rappel révèle de nombreuses omissions. Ces scores comparent le modèle à une référence générée par IA, encore sans attestation humaine. L’erreur NATO classé WEAPON illustre la nécessité du contrôle.</a:t>
            </a:r>
          </a:p>
          <a:p xmlns:a="http://schemas.openxmlformats.org/drawingml/2006/main">
            <a:r>
              <a:t/>
            </a:r>
          </a:p>
          <a:p xmlns:a="http://schemas.openxmlformats.org/drawingml/2006/main">
            <a:r>
              <a:t>Sources : Preuves/inference_full.json, Preuves/Diagnostic_annotations_IA_42_articles.json.</a:t>
            </a:r>
          </a:p>
          <a:p xmlns:a="http://schemas.openxmlformats.org/drawingml/2006/main">
            <a:r>
              <a:t/>
            </a:r>
          </a:p>
          <a:p xmlns:a="http://schemas.openxmlformats.org/drawingml/2006/main">
            <a:r>
              <a:t>Durée indicative. Aucune répétition humaine chronométrée n’est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 à 2:40 (20 secondes prévues).</a:t>
            </a:r>
          </a:p>
          <a:p xmlns:a="http://schemas.openxmlformats.org/drawingml/2006/main">
            <a:r>
              <a:t/>
            </a:r>
          </a:p>
          <a:p xmlns:a="http://schemas.openxmlformats.org/drawingml/2006/main">
            <a:r>
              <a:t>Texte oral proposé : La précision porte sur les 76 prédictions, le rappel sur les 254 mentions proposées. Avec 200 omissions, la couverture reste faible. La référence attend une revue humaine.</a:t>
            </a:r>
          </a:p>
          <a:p xmlns:a="http://schemas.openxmlformats.org/drawingml/2006/main">
            <a:r>
              <a:t/>
            </a:r>
          </a:p>
          <a:p xmlns:a="http://schemas.openxmlformats.org/drawingml/2006/main">
            <a:r>
              <a:t>Détails et sources pour les questions :</a:t>
            </a:r>
          </a:p>
          <a:p xmlns:a="http://schemas.openxmlformats.org/drawingml/2006/main">
            <a:r>
              <a:t>docs/Diagnostic_IA_42_articles.md ; Preuves/Diagnostic_annotations_IA_42_articles.json. Précision : 54/(54+22). Rappel : 54/(54+200).</a:t>
            </a:r>
          </a:p>
          <a:p xmlns:a="http://schemas.openxmlformats.org/drawingml/2006/main">
            <a:r>
              <a:t/>
            </a:r>
          </a:p>
          <a:p xmlns:a="http://schemas.openxmlformats.org/drawingml/2006/main">
            <a:r>
              <a:t>Durée indicative. Aucune répétition humaine chronométrée n’est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 à 3:00 (20 secondes prévues).</a:t>
            </a:r>
          </a:p>
          <a:p xmlns:a="http://schemas.openxmlformats.org/drawingml/2006/main">
            <a:r>
              <a:t/>
            </a:r>
          </a:p>
          <a:p xmlns:a="http://schemas.openxmlformats.org/drawingml/2006/main">
            <a:r>
              <a:t>Texte oral proposé : POST /api/predict analyse un texte nouveau sans l’enregistrer. La réponse conserve les positions et l’identité du modèle. Le service suit séparément les durées et les erreurs.</a:t>
            </a:r>
          </a:p>
          <a:p xmlns:a="http://schemas.openxmlformats.org/drawingml/2006/main">
            <a:r>
              <a:t/>
            </a:r>
          </a:p>
          <a:p xmlns:a="http://schemas.openxmlformats.org/drawingml/2006/main">
            <a:r>
              <a:t>Détails et sources pour les questions :</a:t>
            </a:r>
          </a:p>
          <a:p xmlns:a="http://schemas.openxmlformats.org/drawingml/2006/main">
            <a:r>
              <a:t>POST /api/predict calcule les spans sur un texte saisi. Le modèle est chargé et vérifié au démarrage. Le texte est renvoyé sans persistance. Une seule inférence simultanée, autres requêtes refusées avec 429. Source : server.py, tests/test_serving_lifecycle.py, Preuves_complement_20261018/Verification_interface.json. Modèle expérimental, sans précision humaine établie.</a:t>
            </a:r>
          </a:p>
          <a:p xmlns:a="http://schemas.openxmlformats.org/drawingml/2006/main">
            <a:r>
              <a:t/>
            </a:r>
          </a:p>
          <a:p xmlns:a="http://schemas.openxmlformats.org/drawingml/2006/main">
            <a:r>
              <a:t>Durée indicative. Aucune répétition humaine chronométrée n’est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 à 3:20 (20 secondes prévues).</a:t>
            </a:r>
          </a:p>
          <a:p xmlns:a="http://schemas.openxmlformats.org/drawingml/2006/main">
            <a:r>
              <a:t/>
            </a:r>
          </a:p>
          <a:p xmlns:a="http://schemas.openxmlformats.org/drawingml/2006/main">
            <a:r>
              <a:t>Texte oral proposé : Un changement des données produit un candidat, son évaluation et une décision de promotion. Les branches favorables sont vérifiées sur des fixtures synthétiques.</a:t>
            </a:r>
          </a:p>
          <a:p xmlns:a="http://schemas.openxmlformats.org/drawingml/2006/main">
            <a:r>
              <a:t/>
            </a:r>
          </a:p>
          <a:p xmlns:a="http://schemas.openxmlformats.org/drawingml/2006/main">
            <a:r>
              <a:t>Détails et sources pour les questions :</a:t>
            </a:r>
          </a:p>
          <a:p xmlns:a="http://schemas.openxmlformats.org/drawingml/2006/main">
            <a:r>
              <a:t>L’ordonnanceur reçoit référence et manifeste, évalue le candidat et relie le gel de dérive au contrôle de promotion. Une configuration de livraison peut reconstruire les sorties avec le même candidat et livrer la release. Les tests de branche favorable utilisent des fixtures synthétiques, sans attester la revue TASS. Source : automation.py et tests/test_serving_lifecycle.py.</a:t>
            </a:r>
          </a:p>
          <a:p xmlns:a="http://schemas.openxmlformats.org/drawingml/2006/main">
            <a:r>
              <a:t/>
            </a:r>
          </a:p>
          <a:p xmlns:a="http://schemas.openxmlformats.org/drawingml/2006/main">
            <a:r>
              <a:t>Durée indicative. Aucune répétition humaine chronométrée n’est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3:20 à 3:40 (20 secondes prévues).</a:t>
            </a:r>
          </a:p>
          <a:p xmlns:a="http://schemas.openxmlformats.org/drawingml/2006/main">
            <a:r>
              <a:t/>
            </a:r>
          </a:p>
          <a:p xmlns:a="http://schemas.openxmlformats.org/drawingml/2006/main">
            <a:r>
              <a:t>Texte oral proposé : La promotion exige des annotations revues, un test suffisamment fourni et les seuils affichés. Ce sont mes choix de protection. Le modèle TASS actuel reste bloqué.</a:t>
            </a:r>
          </a:p>
          <a:p xmlns:a="http://schemas.openxmlformats.org/drawingml/2006/main">
            <a:r>
              <a:t/>
            </a:r>
          </a:p>
          <a:p xmlns:a="http://schemas.openxmlformats.org/drawingml/2006/main">
            <a:r>
              <a:t>Détails et sources pour les questions :</a:t>
            </a:r>
          </a:p>
          <a:p xmlns:a="http://schemas.openxmlformats.org/drawingml/2006/main">
            <a:r>
              <a:t>src/osint_ner/registry.py : gate ; src/osint_ner/automation.py. Seuils de projet : F1 micro 0,70, rappel 0,50 et support 20 par label, 100 documents. Annotation humaine requise pour train et test. Pas de qualité humaine calculée sur TASS.</a:t>
            </a:r>
          </a:p>
          <a:p xmlns:a="http://schemas.openxmlformats.org/drawingml/2006/main">
            <a:r>
              <a:t/>
            </a:r>
          </a:p>
          <a:p xmlns:a="http://schemas.openxmlformats.org/drawingml/2006/main">
            <a:r>
              <a:t>Durée indicative. Aucune répétition humaine chronométrée n’est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 à 4:00 (20 secondes prévues).</a:t>
            </a:r>
          </a:p>
          <a:p xmlns:a="http://schemas.openxmlformats.org/drawingml/2006/main">
            <a:r>
              <a:t/>
            </a:r>
          </a:p>
          <a:p xmlns:a="http://schemas.openxmlformats.org/drawingml/2006/main">
            <a:r>
              <a:t>Texte oral proposé : Un changement des sources déclenche contrôles, tests, construction et livraison locale. Cette révision ne dispose pas d’un nouveau run GitHub.</a:t>
            </a:r>
          </a:p>
          <a:p xmlns:a="http://schemas.openxmlformats.org/drawingml/2006/main">
            <a:r>
              <a:t/>
            </a:r>
          </a:p>
          <a:p xmlns:a="http://schemas.openxmlformats.org/drawingml/2006/main">
            <a:r>
              <a:t>Détails et sources pour les questions :</a:t>
            </a:r>
          </a:p>
          <a:p xmlns:a="http://schemas.openxmlformats.org/drawingml/2006/main">
            <a:r>
              <a:t>Le watcher local déclenche dépendances, lint, tests, wheel et livraison sur changement des sources. La passerelle conserve son adresse, teste le backend avant bascule et garde une version précédente. Mise à jour, rollback et refus d’un candidat corrompu sont testés sur fixture. Source : Preuves_complement_20261018/Verification_livraison.json et ci_local.json. Pas de nouveau run GitHub attribué à cette révision. Les processus ne redémarrent pas automatiquement après reboot.</a:t>
            </a:r>
          </a:p>
          <a:p xmlns:a="http://schemas.openxmlformats.org/drawingml/2006/main">
            <a:r>
              <a:t/>
            </a:r>
          </a:p>
          <a:p xmlns:a="http://schemas.openxmlformats.org/drawingml/2006/main">
            <a:r>
              <a:t>Durée indicative. Aucune répétition humaine chronométrée n’est attestée.</a:t>
            </a:r>
          </a:p>
          <a:p xmlns:a="http://schemas.openxmlformats.org/drawingml/2006/main">
            <a:r>
              <a:t/>
            </a:r>
          </a:p>
          <a:p xmlns:a="http://schemas.openxmlformats.org/drawingml/2006/main">
            <a:r>
              <a:t>Complément vérifié : Dockerfile, docker-compose.yml et Preuves_complement_20261018/Docker.json. Image locale non privilégiée avec montages en lecture seule. Santé, prédiction et rejet d’un Host tiers testés sur fixtures. Le conteneur et la livraison wheel sont deux chemins distincts. Aucun nouveau run GitHub attesté.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 à 4:20 (20 secondes prévues).</a:t>
            </a:r>
          </a:p>
          <a:p xmlns:a="http://schemas.openxmlformats.org/drawingml/2006/main">
            <a:r>
              <a:t/>
            </a:r>
          </a:p>
          <a:p xmlns:a="http://schemas.openxmlformats.org/drawingml/2006/main">
            <a:r>
              <a:t>Texte oral proposé : La passerelle attend un service sain avant de basculer. L’adresse reste stable et un retour arrière est testé. Les processus ne reprennent pas automatiquement après redémarrage du Mac.</a:t>
            </a:r>
          </a:p>
          <a:p xmlns:a="http://schemas.openxmlformats.org/drawingml/2006/main">
            <a:r>
              <a:t/>
            </a:r>
          </a:p>
          <a:p xmlns:a="http://schemas.openxmlformats.org/drawingml/2006/main">
            <a:r>
              <a:t>Détails et sources pour les questions :</a:t>
            </a:r>
          </a:p>
          <a:p xmlns:a="http://schemas.openxmlformats.org/drawingml/2006/main">
            <a:r>
              <a:t>src/osint_ner/deployment.py ; Preuves_complement_20261018/Verification_livraison.json. Essais sur fixtures synthétiques. Le contrôle de santé ne valide pas la qualité NER.</a:t>
            </a:r>
          </a:p>
          <a:p xmlns:a="http://schemas.openxmlformats.org/drawingml/2006/main">
            <a:r>
              <a:t/>
            </a:r>
          </a:p>
          <a:p xmlns:a="http://schemas.openxmlformats.org/drawingml/2006/main">
            <a:r>
              <a:t>Durée indicative. Aucune répétition humaine chronométrée n’est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 à 4:40 (20 secondes prévues).</a:t>
            </a:r>
          </a:p>
          <a:p xmlns:a="http://schemas.openxmlformats.org/drawingml/2006/main">
            <a:r>
              <a:t/>
            </a:r>
          </a:p>
          <a:p xmlns:a="http://schemas.openxmlformats.org/drawingml/2006/main">
            <a:r>
              <a:t>Texte oral proposé : Le capteur compare la longueur des textes et peut geler la promotion. Mesurer une baisse de F1 exige une référence humaine commune, aujourd’hui indisponible.</a:t>
            </a:r>
          </a:p>
          <a:p xmlns:a="http://schemas.openxmlformats.org/drawingml/2006/main">
            <a:r>
              <a:t/>
            </a:r>
          </a:p>
          <a:p xmlns:a="http://schemas.openxmlformats.org/drawingml/2006/main">
            <a:r>
              <a:t>Détails et sources pour les questions :</a:t>
            </a:r>
          </a:p>
          <a:p xmlns:a="http://schemas.openxmlformats.org/drawingml/2006/main">
            <a:r>
              <a:t>Distribution de longueur et qualité sont distinctes. Une baisse de F1 exige la même référence humaine. Le monitoring bloque maintenant la promotion dans la même boucle. /api/metrics suit séparément requêtes, erreurs et durées de serving. Aucun diagnostic IA ne prouve une baisse temporelle de qualité. Sources : monitor.py, automation.py et tests de cycle.</a:t>
            </a:r>
          </a:p>
          <a:p xmlns:a="http://schemas.openxmlformats.org/drawingml/2006/main">
            <a:r>
              <a:t/>
            </a:r>
          </a:p>
          <a:p xmlns:a="http://schemas.openxmlformats.org/drawingml/2006/main">
            <a:r>
              <a:t>Durée indicative. Aucune répétition humaine chronométrée n’est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 à 5:00 (20 secondes prévues).</a:t>
            </a:r>
          </a:p>
          <a:p xmlns:a="http://schemas.openxmlformats.org/drawingml/2006/main">
            <a:r>
              <a:t/>
            </a:r>
          </a:p>
          <a:p xmlns:a="http://schemas.openxmlformats.org/drawingml/2006/main">
            <a:r>
              <a:t>Texte oral proposé : La chaîne locale et ses limites sont documentées. La priorité reste une revue humaine, puis une comparaison des candidats sur une référence commune.</a:t>
            </a:r>
          </a:p>
          <a:p xmlns:a="http://schemas.openxmlformats.org/drawingml/2006/main">
            <a:r>
              <a:t/>
            </a:r>
          </a:p>
          <a:p xmlns:a="http://schemas.openxmlformats.org/drawingml/2006/main">
            <a:r>
              <a:t>Détails et sources pour les questions :</a:t>
            </a:r>
          </a:p>
          <a:p xmlns:a="http://schemas.openxmlformats.org/drawingml/2006/main">
            <a:r>
              <a:t>L’infrastructure de serving et les mécanismes de livraison sont vérifiés localement. Le rappel exploratoire faible et les erreurs de catégories restent inchangés. La priorité métier reste la revue humaine des annotations, puis la comparaison sur un même jeu. Aucune amélioration des poids n’est attribuée aux corrections d’API.</a:t>
            </a:r>
          </a:p>
          <a:p xmlns:a="http://schemas.openxmlformats.org/drawingml/2006/main">
            <a:r>
              <a:t/>
            </a:r>
          </a:p>
          <a:p xmlns:a="http://schemas.openxmlformats.org/drawingml/2006/main">
            <a:r>
              <a:t>Durée indicative. Aucune répétition humaine chronométrée n’est attestée.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pour les questions du jury. Sources : docs/Diagnostic_IA_42_articles.md, Preuves/Diagnostic_annotations_IA_42_articles.json, docs/Revue_humaine_42_articles.md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pour les questions du jury. Sources : src/osint_ner/model.py, Preuves/training_run.json, docs/Annotation_et_protocole.md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pour les questions du jury. Sources : docs/Integration_securite_gouvernance.md, Preuves/Protection_copies_B4.json, Preuves/browser_accessibility.json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 révision locale du 18 octobre 2026, code 0.2.1. Sources de vérification : Preuves_complement_20261018/ci_local.json, Verification_livraison.json, Verification_interface.json et matrice de critères. Les empreintes des sources incluent les modifications non commitées. Les runs GitHub antérieurs restent des preuves distinctes. Les tests synthétiques n’attestent aucune revue humaine TASS.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562658d9474d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18a50e7f0843c1" /><Relationship Type="http://schemas.openxmlformats.org/officeDocument/2006/relationships/slideLayout" Target="/ppt/slideLayouts/slideLayout1.xml" Id="Rd8465271513b46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465271513b46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5c5a8fdfa8c4db2" /><Relationship Type="http://schemas.openxmlformats.org/officeDocument/2006/relationships/notesSlide" Target="/ppt/notesSlides/notesSlide1.xml" Id="Ra5b6882187194e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e23f88987194880" /><Relationship Type="http://schemas.openxmlformats.org/officeDocument/2006/relationships/notesSlide" Target="/ppt/notesSlides/notesSlide2.xml" Id="R2a3509f2097041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e64b19179c4ded" /><Relationship Type="http://schemas.openxmlformats.org/officeDocument/2006/relationships/notesSlide" Target="/ppt/notesSlides/notesSlide3.xml" Id="R427a9b2aed9342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9553c857ee411b" /><Relationship Type="http://schemas.openxmlformats.org/officeDocument/2006/relationships/notesSlide" Target="/ppt/notesSlides/notesSlide4.xml" Id="Rdbb3785fa5a94a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7968f2507a04c1a" /><Relationship Type="http://schemas.openxmlformats.org/officeDocument/2006/relationships/notesSlide" Target="/ppt/notesSlides/notesSlide5.xml" Id="Rffa855040e2f40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eb829781a84f97" /><Relationship Type="http://schemas.openxmlformats.org/officeDocument/2006/relationships/image" Target="/ppt/media/image.png" Id="R31b1f2e3afc04f60" /><Relationship Type="http://schemas.openxmlformats.org/officeDocument/2006/relationships/notesSlide" Target="/ppt/notesSlides/notesSlide6.xml" Id="Rac46a42cb90a41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92fc6bdf3de4d6a" /><Relationship Type="http://schemas.openxmlformats.org/officeDocument/2006/relationships/notesSlide" Target="/ppt/notesSlides/notesSlide7.xml" Id="R66cac5a150354e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97b690c71f4005" /><Relationship Type="http://schemas.openxmlformats.org/officeDocument/2006/relationships/notesSlide" Target="/ppt/notesSlides/notesSlide8.xml" Id="Re89ded01dc604e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d905d12a7542b1" /><Relationship Type="http://schemas.openxmlformats.org/officeDocument/2006/relationships/notesSlide" Target="/ppt/notesSlides/notesSlide9.xml" Id="Reeb0ef32a4ef48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9cb56ac87c44a97" /><Relationship Type="http://schemas.openxmlformats.org/officeDocument/2006/relationships/notesSlide" Target="/ppt/notesSlides/notesSlide10.xml" Id="Ra0a6862681644f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d3d7055cb014f2c" /><Relationship Type="http://schemas.openxmlformats.org/officeDocument/2006/relationships/notesSlide" Target="/ppt/notesSlides/notesSlide11.xml" Id="R6f832ec29fe049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a2698111b62498e" /><Relationship Type="http://schemas.openxmlformats.org/officeDocument/2006/relationships/notesSlide" Target="/ppt/notesSlides/notesSlide12.xml" Id="R5ae368906c2043a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99f34e6e2334651" /><Relationship Type="http://schemas.openxmlformats.org/officeDocument/2006/relationships/notesSlide" Target="/ppt/notesSlides/notesSlide13.xml" Id="R2a900db920cd4f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356807522ec4946" /><Relationship Type="http://schemas.openxmlformats.org/officeDocument/2006/relationships/notesSlide" Target="/ppt/notesSlides/notesSlide14.xml" Id="Rf684adca9c82464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e0f901ca19b4f91" /><Relationship Type="http://schemas.openxmlformats.org/officeDocument/2006/relationships/notesSlide" Target="/ppt/notesSlides/notesSlide15.xml" Id="Ra123a3e45bd3442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7dd345b551540db" /><Relationship Type="http://schemas.openxmlformats.org/officeDocument/2006/relationships/notesSlide" Target="/ppt/notesSlides/notesSlide16.xml" Id="R5528e011de6d45c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15391a040f443c0" /><Relationship Type="http://schemas.openxmlformats.org/officeDocument/2006/relationships/notesSlide" Target="/ppt/notesSlides/notesSlide17.xml" Id="R6686aa02269342f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769a7fe4b7b4a22" /><Relationship Type="http://schemas.openxmlformats.org/officeDocument/2006/relationships/notesSlide" Target="/ppt/notesSlides/notesSlide18.xml" Id="Re2d26362ab4344a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1ab8fa471b24ff8" /><Relationship Type="http://schemas.openxmlformats.org/officeDocument/2006/relationships/notesSlide" Target="/ppt/notesSlides/notesSlide19.xml" Id="Rf61465d777744e40" /></Relationships>
</file>

<file path=ppt/slides/slide1.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7236B7-C98B-4D19-B30B-783F3403B3C5}"/>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Mentions militaires dans TASS</a:t>
            </a:r>
          </a:p>
        </p:txBody>
      </p:sp>
      <p:sp>
        <p:nvSpPr>
          <p:cNvPr id="2" name="">
            <a:extLst xmlns:a="http://schemas.openxmlformats.org/drawingml/2006/main">
              <a:ext uri="{FF2B5EF4-FFF2-40B4-BE49-F238E27FC236}">
                <a16:creationId xmlns:a16="http://schemas.microsoft.com/office/drawing/2014/main" id="{98E39C5E-CF6B-4653-9C63-940968EE7A92}"/>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92818359-AAA1-4974-B977-CAE1EEA647F3}"/>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1</a:t>
            </a:r>
          </a:p>
        </p:txBody>
      </p:sp>
      <p:sp>
        <p:nvSpPr>
          <p:cNvPr id="4" name="">
            <a:extLst xmlns:a="http://schemas.openxmlformats.org/drawingml/2006/main">
              <a:ext uri="{FF2B5EF4-FFF2-40B4-BE49-F238E27FC236}">
                <a16:creationId xmlns:a16="http://schemas.microsoft.com/office/drawing/2014/main" id="{7D5936DF-4172-4480-BF10-5121668DEA01}"/>
              </a:ext>
            </a:extLst>
          </p:cNvPr>
          <p:cNvSpPr>
            <a:spLocks xmlns:a="http://schemas.openxmlformats.org/drawingml/2006/main" noGrp="1"/>
          </p:cNvSpPr>
          <p:nvPr/>
        </p:nvSpPr>
        <p:spPr>
          <a:xfrm xmlns:a="http://schemas.openxmlformats.org/drawingml/2006/main">
            <a:off x="666750" y="1666875"/>
            <a:ext cx="1076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200" b="1">
                <a:solidFill>
                  <a:srgbClr val="173B50"/>
                </a:solidFill>
                <a:latin typeface="Helvetica Neue"/>
                <a:ea typeface="Helvetica Neue"/>
                <a:cs typeface="Helvetica Neue"/>
              </a:defRPr>
            </a:pPr>
            <a:r>
              <a:rPr sz="4200" b="1">
                <a:solidFill>
                  <a:srgbClr val="173B50"/>
                </a:solidFill>
                <a:latin typeface="Helvetica Neue"/>
                <a:ea typeface="Helvetica Neue"/>
                <a:cs typeface="Helvetica Neue"/>
              </a:rPr>
              <a:t>Une solution locale</a:t>
            </a:r>
          </a:p>
          <a:p xmlns:a="http://schemas.openxmlformats.org/drawingml/2006/main">
            <a:pPr>
              <a:buNone/>
              <a:defRPr sz="4200" b="1">
                <a:solidFill>
                  <a:srgbClr val="173B50"/>
                </a:solidFill>
                <a:latin typeface="Helvetica Neue"/>
                <a:ea typeface="Helvetica Neue"/>
                <a:cs typeface="Helvetica Neue"/>
              </a:defRPr>
            </a:pPr>
            <a:r>
              <a:rPr sz="4200" b="1">
                <a:solidFill>
                  <a:srgbClr val="173B50"/>
                </a:solidFill>
                <a:latin typeface="Helvetica Neue"/>
                <a:ea typeface="Helvetica Neue"/>
                <a:cs typeface="Helvetica Neue"/>
              </a:rPr>
              <a:t>d’extraction et de vérification</a:t>
            </a:r>
          </a:p>
        </p:txBody>
      </p:sp>
      <p:sp>
        <p:nvSpPr>
          <p:cNvPr id="5" name="">
            <a:extLst xmlns:a="http://schemas.openxmlformats.org/drawingml/2006/main">
              <a:ext uri="{FF2B5EF4-FFF2-40B4-BE49-F238E27FC236}">
                <a16:creationId xmlns:a16="http://schemas.microsoft.com/office/drawing/2014/main" id="{4BA3D7D9-9F6C-42A6-AFDA-301087B15792}"/>
              </a:ext>
            </a:extLst>
          </p:cNvPr>
          <p:cNvSpPr>
            <a:spLocks xmlns:a="http://schemas.openxmlformats.org/drawingml/2006/main" noGrp="1"/>
          </p:cNvSpPr>
          <p:nvPr/>
        </p:nvSpPr>
        <p:spPr>
          <a:xfrm xmlns:a="http://schemas.openxmlformats.org/drawingml/2006/main">
            <a:off x="666750" y="37147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13D50"/>
                </a:solidFill>
                <a:latin typeface="Helvetica Neue"/>
                <a:ea typeface="Helvetica Neue"/>
                <a:cs typeface="Helvetica Neue"/>
              </a:defRPr>
            </a:pPr>
            <a:r>
              <a:rPr sz="2400" b="0">
                <a:solidFill>
                  <a:srgbClr val="213D50"/>
                </a:solidFill>
                <a:latin typeface="Helvetica Neue"/>
                <a:ea typeface="Helvetica Neue"/>
                <a:cs typeface="Helvetica Neue"/>
              </a:rPr>
              <a:t>21 676 articles, trois catégories de mentions militaires</a:t>
            </a:r>
          </a:p>
        </p:txBody>
      </p:sp>
      <p:sp>
        <p:nvSpPr>
          <p:cNvPr id="6" name="">
            <a:extLst xmlns:a="http://schemas.openxmlformats.org/drawingml/2006/main">
              <a:ext uri="{FF2B5EF4-FFF2-40B4-BE49-F238E27FC236}">
                <a16:creationId xmlns:a16="http://schemas.microsoft.com/office/drawing/2014/main" id="{61428FB2-9656-4937-B25B-0B0414F2D475}"/>
              </a:ext>
            </a:extLst>
          </p:cNvPr>
          <p:cNvSpPr>
            <a:spLocks xmlns:a="http://schemas.openxmlformats.org/drawingml/2006/main" noGrp="1"/>
          </p:cNvSpPr>
          <p:nvPr/>
        </p:nvSpPr>
        <p:spPr>
          <a:xfrm xmlns:a="http://schemas.openxmlformats.org/drawingml/2006/main">
            <a:off x="666750" y="4905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A64B17"/>
                </a:solidFill>
                <a:latin typeface="Helvetica Neue"/>
                <a:ea typeface="Helvetica Neue"/>
                <a:cs typeface="Helvetica Neue"/>
              </a:defRPr>
            </a:pPr>
            <a:r>
              <a:rPr sz="2100" b="1">
                <a:solidFill>
                  <a:srgbClr val="A64B17"/>
                </a:solidFill>
                <a:latin typeface="Helvetica Neue"/>
                <a:ea typeface="Helvetica Neue"/>
                <a:cs typeface="Helvetica Neue"/>
              </a:rPr>
              <a:t>Modèle expérimental local</a:t>
            </a:r>
          </a:p>
          <a:p xmlns:a="http://schemas.openxmlformats.org/drawingml/2006/main">
            <a:pPr>
              <a:buNone/>
              <a:defRPr sz="2100" b="1">
                <a:solidFill>
                  <a:srgbClr val="A64B17"/>
                </a:solidFill>
                <a:latin typeface="Helvetica Neue"/>
                <a:ea typeface="Helvetica Neue"/>
                <a:cs typeface="Helvetica Neue"/>
              </a:defRPr>
            </a:pPr>
            <a:r>
              <a:rPr sz="2100" b="1">
                <a:solidFill>
                  <a:srgbClr val="A64B17"/>
                </a:solidFill>
                <a:latin typeface="Helvetica Neue"/>
                <a:ea typeface="Helvetica Neue"/>
                <a:cs typeface="Helvetica Neue"/>
              </a:rPr>
              <a:t>Évaluation exploratoire sur 42 articles de test</a:t>
            </a:r>
          </a:p>
        </p:txBody>
      </p:sp>
    </p:spTree>
    <p:extLst>
      <p:ext uri="{BB962C8B-B14F-4D97-AF65-F5344CB8AC3E}">
        <p14:creationId xmlns:p14="http://schemas.microsoft.com/office/powerpoint/2010/main" val="1249305778"/>
      </p:ext>
    </p:extLst>
  </p:cSld>
</p:sld>
</file>

<file path=ppt/slides/slide2.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846EDC-4294-4628-AD31-58DFC6A3428D}"/>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Cahier des charges</a:t>
            </a:r>
          </a:p>
        </p:txBody>
      </p:sp>
      <p:sp>
        <p:nvSpPr>
          <p:cNvPr id="2" name="">
            <a:extLst xmlns:a="http://schemas.openxmlformats.org/drawingml/2006/main">
              <a:ext uri="{FF2B5EF4-FFF2-40B4-BE49-F238E27FC236}">
                <a16:creationId xmlns:a16="http://schemas.microsoft.com/office/drawing/2014/main" id="{EA37C58C-54C1-4BA0-858C-7EC800D027F8}"/>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F3E12963-E0AC-44AE-B83D-0CE485135AFF}"/>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2</a:t>
            </a:r>
          </a:p>
        </p:txBody>
      </p:sp>
      <p:sp>
        <p:nvSpPr>
          <p:cNvPr id="4" name="">
            <a:extLst xmlns:a="http://schemas.openxmlformats.org/drawingml/2006/main">
              <a:ext uri="{FF2B5EF4-FFF2-40B4-BE49-F238E27FC236}">
                <a16:creationId xmlns:a16="http://schemas.microsoft.com/office/drawing/2014/main" id="{A0F2F260-0BEC-4D9F-BEDE-C5EC1398534E}"/>
              </a:ext>
            </a:extLst>
          </p:cNvPr>
          <p:cNvSpPr>
            <a:spLocks xmlns:a="http://schemas.openxmlformats.org/drawingml/2006/main" noGrp="1"/>
          </p:cNvSpPr>
          <p:nvPr/>
        </p:nvSpPr>
        <p:spPr>
          <a:xfrm xmlns:a="http://schemas.openxmlformats.org/drawingml/2006/main">
            <a:off x="666750" y="1714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Retrouver les mentions militaires dans les articles</a:t>
            </a:r>
          </a:p>
        </p:txBody>
      </p:sp>
      <p:sp>
        <p:nvSpPr>
          <p:cNvPr id="5" name="">
            <a:extLst xmlns:a="http://schemas.openxmlformats.org/drawingml/2006/main">
              <a:ext uri="{FF2B5EF4-FFF2-40B4-BE49-F238E27FC236}">
                <a16:creationId xmlns:a16="http://schemas.microsoft.com/office/drawing/2014/main" id="{DD34C4C6-E7D2-4127-AEA6-9C4F414ABEB5}"/>
              </a:ext>
            </a:extLst>
          </p:cNvPr>
          <p:cNvSpPr>
            <a:spLocks xmlns:a="http://schemas.openxmlformats.org/drawingml/2006/main" noGrp="1"/>
          </p:cNvSpPr>
          <p:nvPr/>
        </p:nvSpPr>
        <p:spPr>
          <a:xfrm xmlns:a="http://schemas.openxmlformats.org/drawingml/2006/main">
            <a:off x="666750" y="2686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Conserver la source, le texte et les positions exactes</a:t>
            </a:r>
          </a:p>
        </p:txBody>
      </p:sp>
      <p:sp>
        <p:nvSpPr>
          <p:cNvPr id="6" name="">
            <a:extLst xmlns:a="http://schemas.openxmlformats.org/drawingml/2006/main">
              <a:ext uri="{FF2B5EF4-FFF2-40B4-BE49-F238E27FC236}">
                <a16:creationId xmlns:a16="http://schemas.microsoft.com/office/drawing/2014/main" id="{A416A48F-49B5-4C20-8C08-80DEA9C75576}"/>
              </a:ext>
            </a:extLst>
          </p:cNvPr>
          <p:cNvSpPr>
            <a:spLocks xmlns:a="http://schemas.openxmlformats.org/drawingml/2006/main" noGrp="1"/>
          </p:cNvSpPr>
          <p:nvPr/>
        </p:nvSpPr>
        <p:spPr>
          <a:xfrm xmlns:a="http://schemas.openxmlformats.org/drawingml/2006/main">
            <a:off x="666750" y="36576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Filtrer une période et comparer les volumes</a:t>
            </a:r>
          </a:p>
        </p:txBody>
      </p:sp>
      <p:sp>
        <p:nvSpPr>
          <p:cNvPr id="7" name="">
            <a:extLst xmlns:a="http://schemas.openxmlformats.org/drawingml/2006/main">
              <a:ext uri="{FF2B5EF4-FFF2-40B4-BE49-F238E27FC236}">
                <a16:creationId xmlns:a16="http://schemas.microsoft.com/office/drawing/2014/main" id="{02A20614-12EF-43BF-A33C-8D3BE1AB1E24}"/>
              </a:ext>
            </a:extLst>
          </p:cNvPr>
          <p:cNvSpPr>
            <a:spLocks xmlns:a="http://schemas.openxmlformats.org/drawingml/2006/main" noGrp="1"/>
          </p:cNvSpPr>
          <p:nvPr/>
        </p:nvSpPr>
        <p:spPr>
          <a:xfrm xmlns:a="http://schemas.openxmlformats.org/drawingml/2006/main">
            <a:off x="666750" y="4629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Afficher la version du modèle et ses limites</a:t>
            </a:r>
          </a:p>
        </p:txBody>
      </p:sp>
      <p:sp>
        <p:nvSpPr>
          <p:cNvPr id="8" name="">
            <a:extLst xmlns:a="http://schemas.openxmlformats.org/drawingml/2006/main">
              <a:ext uri="{FF2B5EF4-FFF2-40B4-BE49-F238E27FC236}">
                <a16:creationId xmlns:a16="http://schemas.microsoft.com/office/drawing/2014/main" id="{0C252FAF-36EB-406E-9719-F71B00D790F8}"/>
              </a:ext>
            </a:extLst>
          </p:cNvPr>
          <p:cNvSpPr>
            <a:spLocks xmlns:a="http://schemas.openxmlformats.org/drawingml/2006/main" noGrp="1"/>
          </p:cNvSpPr>
          <p:nvPr/>
        </p:nvSpPr>
        <p:spPr>
          <a:xfrm xmlns:a="http://schemas.openxmlformats.org/drawingml/2006/main">
            <a:off x="666750" y="5619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A94B0B"/>
                </a:solidFill>
                <a:latin typeface="Helvetica Neue"/>
                <a:ea typeface="Helvetica Neue"/>
                <a:cs typeface="Helvetica Neue"/>
              </a:defRPr>
            </a:pPr>
            <a:r>
              <a:rPr sz="1800" b="0">
                <a:solidFill>
                  <a:srgbClr val="A94B0B"/>
                </a:solidFill>
                <a:latin typeface="Helvetica Neue"/>
                <a:ea typeface="Helvetica Neue"/>
                <a:cs typeface="Helvetica Neue"/>
              </a:rPr>
              <a:t>Personas de conception. Les tests avec utilisateurs restent à réaliser</a:t>
            </a:r>
          </a:p>
        </p:txBody>
      </p:sp>
    </p:spTree>
    <p:extLst>
      <p:ext uri="{BB962C8B-B14F-4D97-AF65-F5344CB8AC3E}">
        <p14:creationId xmlns:p14="http://schemas.microsoft.com/office/powerpoint/2010/main" val="470999147"/>
      </p:ext>
    </p:extLst>
  </p:cSld>
</p:sld>
</file>

<file path=ppt/slides/slide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846EDC-4294-4628-AD31-58DFC6A3428D}"/>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Architecture de la solution</a:t>
            </a:r>
          </a:p>
        </p:txBody>
      </p:sp>
      <p:sp>
        <p:nvSpPr>
          <p:cNvPr id="2" name="">
            <a:extLst xmlns:a="http://schemas.openxmlformats.org/drawingml/2006/main">
              <a:ext uri="{FF2B5EF4-FFF2-40B4-BE49-F238E27FC236}">
                <a16:creationId xmlns:a16="http://schemas.microsoft.com/office/drawing/2014/main" id="{EA37C58C-54C1-4BA0-858C-7EC800D027F8}"/>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F3E12963-E0AC-44AE-B83D-0CE485135AFF}"/>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3</a:t>
            </a:r>
          </a:p>
        </p:txBody>
      </p:sp>
      <p:sp>
        <p:nvSpPr>
          <p:cNvPr id="4" name="">
            <a:extLst xmlns:a="http://schemas.openxmlformats.org/drawingml/2006/main">
              <a:ext uri="{FF2B5EF4-FFF2-40B4-BE49-F238E27FC236}">
                <a16:creationId xmlns:a16="http://schemas.microsoft.com/office/drawing/2014/main" id="{A0F2F260-0BEC-4D9F-BEDE-C5EC1398534E}"/>
              </a:ext>
            </a:extLst>
          </p:cNvPr>
          <p:cNvSpPr>
            <a:spLocks xmlns:a="http://schemas.openxmlformats.org/drawingml/2006/main" noGrp="1"/>
          </p:cNvSpPr>
          <p:nvPr/>
        </p:nvSpPr>
        <p:spPr>
          <a:xfrm xmlns:a="http://schemas.openxmlformats.org/drawingml/2006/main">
            <a:off x="666750" y="1714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Corpus du Bloc 3 : articles, dates, URL et identifiants</a:t>
            </a:r>
          </a:p>
        </p:txBody>
      </p:sp>
      <p:sp>
        <p:nvSpPr>
          <p:cNvPr id="5" name="">
            <a:extLst xmlns:a="http://schemas.openxmlformats.org/drawingml/2006/main">
              <a:ext uri="{FF2B5EF4-FFF2-40B4-BE49-F238E27FC236}">
                <a16:creationId xmlns:a16="http://schemas.microsoft.com/office/drawing/2014/main" id="{DD34C4C6-E7D2-4127-AEA6-9C4F414ABEB5}"/>
              </a:ext>
            </a:extLst>
          </p:cNvPr>
          <p:cNvSpPr>
            <a:spLocks xmlns:a="http://schemas.openxmlformats.org/drawingml/2006/main" noGrp="1"/>
          </p:cNvSpPr>
          <p:nvPr/>
        </p:nvSpPr>
        <p:spPr>
          <a:xfrm xmlns:a="http://schemas.openxmlformats.org/drawingml/2006/main">
            <a:off x="666750" y="2686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spaCy : extraction locale des mentions militaires</a:t>
            </a:r>
          </a:p>
        </p:txBody>
      </p:sp>
      <p:sp>
        <p:nvSpPr>
          <p:cNvPr id="6" name="">
            <a:extLst xmlns:a="http://schemas.openxmlformats.org/drawingml/2006/main">
              <a:ext uri="{FF2B5EF4-FFF2-40B4-BE49-F238E27FC236}">
                <a16:creationId xmlns:a16="http://schemas.microsoft.com/office/drawing/2014/main" id="{A416A48F-49B5-4C20-8C08-80DEA9C75576}"/>
              </a:ext>
            </a:extLst>
          </p:cNvPr>
          <p:cNvSpPr>
            <a:spLocks xmlns:a="http://schemas.openxmlformats.org/drawingml/2006/main" noGrp="1"/>
          </p:cNvSpPr>
          <p:nvPr/>
        </p:nvSpPr>
        <p:spPr>
          <a:xfrm xmlns:a="http://schemas.openxmlformats.org/drawingml/2006/main">
            <a:off x="666750" y="36576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Index de mentions distinct dans Elasticsearch</a:t>
            </a:r>
          </a:p>
        </p:txBody>
      </p:sp>
      <p:sp>
        <p:nvSpPr>
          <p:cNvPr id="7" name="">
            <a:extLst xmlns:a="http://schemas.openxmlformats.org/drawingml/2006/main">
              <a:ext uri="{FF2B5EF4-FFF2-40B4-BE49-F238E27FC236}">
                <a16:creationId xmlns:a16="http://schemas.microsoft.com/office/drawing/2014/main" id="{02A20614-12EF-43BF-A33C-8D3BE1AB1E24}"/>
              </a:ext>
            </a:extLst>
          </p:cNvPr>
          <p:cNvSpPr>
            <a:spLocks xmlns:a="http://schemas.openxmlformats.org/drawingml/2006/main" noGrp="1"/>
          </p:cNvSpPr>
          <p:nvPr/>
        </p:nvSpPr>
        <p:spPr>
          <a:xfrm xmlns:a="http://schemas.openxmlformats.org/drawingml/2006/main">
            <a:off x="666750" y="4629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Interface locale et Kibana : recherche et restitution</a:t>
            </a:r>
          </a:p>
        </p:txBody>
      </p:sp>
      <p:sp>
        <p:nvSpPr>
          <p:cNvPr id="8" name="">
            <a:extLst xmlns:a="http://schemas.openxmlformats.org/drawingml/2006/main">
              <a:ext uri="{FF2B5EF4-FFF2-40B4-BE49-F238E27FC236}">
                <a16:creationId xmlns:a16="http://schemas.microsoft.com/office/drawing/2014/main" id="{0C252FAF-36EB-406E-9719-F71B00D790F8}"/>
              </a:ext>
            </a:extLst>
          </p:cNvPr>
          <p:cNvSpPr>
            <a:spLocks xmlns:a="http://schemas.openxmlformats.org/drawingml/2006/main" noGrp="1"/>
          </p:cNvSpPr>
          <p:nvPr/>
        </p:nvSpPr>
        <p:spPr>
          <a:xfrm xmlns:a="http://schemas.openxmlformats.org/drawingml/2006/main">
            <a:off x="666750" y="5619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A94B0B"/>
                </a:solidFill>
                <a:latin typeface="Helvetica Neue"/>
                <a:ea typeface="Helvetica Neue"/>
                <a:cs typeface="Helvetica Neue"/>
              </a:defRPr>
            </a:pPr>
            <a:r>
              <a:rPr sz="1800" b="0">
                <a:solidFill>
                  <a:srgbClr val="A94B0B"/>
                </a:solidFill>
                <a:latin typeface="Helvetica Neue"/>
                <a:ea typeface="Helvetica Neue"/>
                <a:cs typeface="Helvetica Neue"/>
              </a:rPr>
              <a:t>Raccordement TLS testé sur le poste de démonstration</a:t>
            </a:r>
          </a:p>
        </p:txBody>
      </p:sp>
    </p:spTree>
    <p:extLst>
      <p:ext uri="{BB962C8B-B14F-4D97-AF65-F5344CB8AC3E}">
        <p14:creationId xmlns:p14="http://schemas.microsoft.com/office/powerpoint/2010/main" val="470999147"/>
      </p:ext>
    </p:extLst>
  </p:cSld>
</p:sld>
</file>

<file path=ppt/slides/slide4.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6D7F50-2D55-49CA-96DF-CB06BDD806AE}"/>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Modèle et données</a:t>
            </a:r>
          </a:p>
        </p:txBody>
      </p:sp>
      <p:sp>
        <p:nvSpPr>
          <p:cNvPr id="2" name="">
            <a:extLst xmlns:a="http://schemas.openxmlformats.org/drawingml/2006/main">
              <a:ext uri="{FF2B5EF4-FFF2-40B4-BE49-F238E27FC236}">
                <a16:creationId xmlns:a16="http://schemas.microsoft.com/office/drawing/2014/main" id="{FBFBA839-51E6-4865-993D-5BC49A46D253}"/>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F474098D-E5D9-4C8E-977A-8ACB42946D0E}"/>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4</a:t>
            </a:r>
          </a:p>
        </p:txBody>
      </p:sp>
      <p:graphicFrame>
        <p:nvGraphicFramePr>
          <p:cNvPr id="12" name="">
            <a:extLst xmlns:a="http://schemas.openxmlformats.org/drawingml/2006/main">
              <a:ext uri="{FF2B5EF4-FFF2-40B4-BE49-F238E27FC236}">
                <a16:creationId xmlns:a16="http://schemas.microsoft.com/office/drawing/2014/main" id="{4C65A27A-A372-4B38-8C0A-83886AA51236}"/>
              </a:ext>
            </a:extLst>
          </p:cNvPr>
          <p:cNvGraphicFramePr/>
          <p:nvPr/>
        </p:nvGraphicFramePr>
        <p:xfrm>
          <a:off xmlns:a="http://schemas.openxmlformats.org/drawingml/2006/main" x="666750" y="1619250"/>
          <a:ext xmlns:a="http://schemas.openxmlformats.org/drawingml/2006/main" cx="10858500" cy="3000375"/>
        </p:xfrm>
        <a:graphic xmlns:a="http://schemas.openxmlformats.org/drawingml/2006/main">
          <a:graphicData uri="http://schemas.openxmlformats.org/drawingml/2006/table">
            <a:tbl>
              <a:tblPr/>
              <a:tblGrid>
                <a:gridCol w="3048000"/>
                <a:gridCol w="7810500"/>
              </a:tblGrid>
              <a:tr h="600075">
                <a:tc>
                  <a:txBody>
                    <a:bodyPr/>
                    <a:lstStyle/>
                    <a:p>
                      <a:r>
                        <a:rPr sz="1875" b="1">
                          <a:solidFill>
                            <a:srgbClr val="213D50"/>
                          </a:solidFill>
                          <a:latin typeface="Helvetica Neue"/>
                          <a:ea typeface="Helvetica Neue"/>
                          <a:cs typeface="Helvetica Neue"/>
                        </a:rPr>
                        <a:t>Étape</a:t>
                      </a:r>
                    </a:p>
                  </a:txBody>
                  <a:tcPr marL="91440" marR="91440" marT="45720" marB="45720">
                    <a:solidFill>
                      <a:srgbClr val="DFE8EE"/>
                    </a:solidFill>
                  </a:tcPr>
                </a:tc>
                <a:tc>
                  <a:txBody>
                    <a:bodyPr/>
                    <a:lstStyle/>
                    <a:p>
                      <a:r>
                        <a:rPr sz="1875" b="1">
                          <a:solidFill>
                            <a:srgbClr val="213D50"/>
                          </a:solidFill>
                          <a:latin typeface="Helvetica Neue"/>
                          <a:ea typeface="Helvetica Neue"/>
                          <a:cs typeface="Helvetica Neue"/>
                        </a:rPr>
                        <a:t>Version livrée</a:t>
                      </a:r>
                    </a:p>
                  </a:txBody>
                  <a:tcPr marL="91440" marR="91440" marT="45720" marB="45720">
                    <a:solidFill>
                      <a:srgbClr val="DFE8EE"/>
                    </a:solidFill>
                  </a:tcPr>
                </a:tc>
              </a:tr>
              <a:tr h="600075">
                <a:tc>
                  <a:txBody>
                    <a:bodyPr/>
                    <a:lstStyle/>
                    <a:p>
                      <a:r>
                        <a:rPr sz="1875" b="0">
                          <a:solidFill>
                            <a:srgbClr val="213D50"/>
                          </a:solidFill>
                          <a:latin typeface="Helvetica Neue"/>
                          <a:ea typeface="Helvetica Neue"/>
                          <a:cs typeface="Helvetica Neue"/>
                        </a:rPr>
                        <a:t>Source</a:t>
                      </a:r>
                    </a:p>
                  </a:txBody>
                  <a:tcPr marL="91440" marR="91440" marT="45720" marB="45720">
                    <a:solidFill>
                      <a:srgbClr val="F5F7F9"/>
                    </a:solidFill>
                  </a:tcPr>
                </a:tc>
                <a:tc>
                  <a:txBody>
                    <a:bodyPr/>
                    <a:lstStyle/>
                    <a:p>
                      <a:r>
                        <a:rPr sz="1875" b="0">
                          <a:solidFill>
                            <a:srgbClr val="213D50"/>
                          </a:solidFill>
                          <a:latin typeface="Helvetica Neue"/>
                          <a:ea typeface="Helvetica Neue"/>
                          <a:cs typeface="Helvetica Neue"/>
                        </a:rPr>
                        <a:t>Texte du Bloc 3, ID, date, URL et empreinte</a:t>
                      </a:r>
                    </a:p>
                  </a:txBody>
                  <a:tcPr marL="91440" marR="91440" marT="45720" marB="45720">
                    <a:solidFill>
                      <a:srgbClr val="F5F7F9"/>
                    </a:solidFill>
                  </a:tcPr>
                </a:tc>
              </a:tr>
              <a:tr h="600075">
                <a:tc>
                  <a:txBody>
                    <a:bodyPr/>
                    <a:lstStyle/>
                    <a:p>
                      <a:r>
                        <a:rPr sz="1875" b="0">
                          <a:solidFill>
                            <a:srgbClr val="213D50"/>
                          </a:solidFill>
                          <a:latin typeface="Helvetica Neue"/>
                          <a:ea typeface="Helvetica Neue"/>
                          <a:cs typeface="Helvetica Neue"/>
                        </a:rPr>
                        <a:t>Préannotation</a:t>
                      </a:r>
                    </a:p>
                  </a:txBody>
                  <a:tcPr marL="91440" marR="91440" marT="45720" marB="45720">
                    <a:solidFill>
                      <a:srgbClr val="F5F7F9"/>
                    </a:solidFill>
                  </a:tcPr>
                </a:tc>
                <a:tc>
                  <a:txBody>
                    <a:bodyPr/>
                    <a:lstStyle/>
                    <a:p>
                      <a:r>
                        <a:rPr sz="1875" b="0">
                          <a:solidFill>
                            <a:srgbClr val="213D50"/>
                          </a:solidFill>
                          <a:latin typeface="Helvetica Neue"/>
                          <a:ea typeface="Helvetica Neue"/>
                          <a:cs typeface="Helvetica Neue"/>
                        </a:rPr>
                        <a:t>Règles locales sur trois labels militaires</a:t>
                      </a:r>
                    </a:p>
                  </a:txBody>
                  <a:tcPr marL="91440" marR="91440" marT="45720" marB="45720">
                    <a:solidFill>
                      <a:srgbClr val="F5F7F9"/>
                    </a:solidFill>
                  </a:tcPr>
                </a:tc>
              </a:tr>
              <a:tr h="600075">
                <a:tc>
                  <a:txBody>
                    <a:bodyPr/>
                    <a:lstStyle/>
                    <a:p>
                      <a:r>
                        <a:rPr sz="1875" b="0">
                          <a:solidFill>
                            <a:srgbClr val="213D50"/>
                          </a:solidFill>
                          <a:latin typeface="Helvetica Neue"/>
                          <a:ea typeface="Helvetica Neue"/>
                          <a:cs typeface="Helvetica Neue"/>
                        </a:rPr>
                        <a:t>Apprentissage</a:t>
                      </a:r>
                    </a:p>
                  </a:txBody>
                  <a:tcPr marL="91440" marR="91440" marT="45720" marB="45720">
                    <a:solidFill>
                      <a:srgbClr val="F5F7F9"/>
                    </a:solidFill>
                  </a:tcPr>
                </a:tc>
                <a:tc>
                  <a:txBody>
                    <a:bodyPr/>
                    <a:lstStyle/>
                    <a:p>
                      <a:r>
                        <a:rPr sz="1875" b="0">
                          <a:solidFill>
                            <a:srgbClr val="213D50"/>
                          </a:solidFill>
                          <a:latin typeface="Helvetica Neue"/>
                          <a:ea typeface="Helvetica Neue"/>
                          <a:cs typeface="Helvetica Neue"/>
                        </a:rPr>
                        <a:t>240 articles train, 60 dev, six époques CPU</a:t>
                      </a:r>
                    </a:p>
                  </a:txBody>
                  <a:tcPr marL="91440" marR="91440" marT="45720" marB="45720">
                    <a:solidFill>
                      <a:srgbClr val="F5F7F9"/>
                    </a:solidFill>
                  </a:tcPr>
                </a:tc>
              </a:tr>
              <a:tr h="600075">
                <a:tc>
                  <a:txBody>
                    <a:bodyPr/>
                    <a:lstStyle/>
                    <a:p>
                      <a:r>
                        <a:rPr sz="1875" b="0">
                          <a:solidFill>
                            <a:srgbClr val="213D50"/>
                          </a:solidFill>
                          <a:latin typeface="Helvetica Neue"/>
                          <a:ea typeface="Helvetica Neue"/>
                          <a:cs typeface="Helvetica Neue"/>
                        </a:rPr>
                        <a:t>Contrôle par IA</a:t>
                      </a:r>
                    </a:p>
                  </a:txBody>
                  <a:tcPr marL="91440" marR="91440" marT="45720" marB="45720">
                    <a:solidFill>
                      <a:srgbClr val="F5F7F9"/>
                    </a:solidFill>
                  </a:tcPr>
                </a:tc>
                <a:tc>
                  <a:txBody>
                    <a:bodyPr/>
                    <a:lstStyle/>
                    <a:p>
                      <a:r>
                        <a:rPr sz="1875" b="0">
                          <a:solidFill>
                            <a:srgbClr val="213D50"/>
                          </a:solidFill>
                          <a:latin typeface="Helvetica Neue"/>
                          <a:ea typeface="Helvetica Neue"/>
                          <a:cs typeface="Helvetica Neue"/>
                        </a:rPr>
                        <a:t>42 articles de test, 254 mentions proposées par Codex</a:t>
                      </a:r>
                    </a:p>
                  </a:txBody>
                  <a:tcPr marL="91440" marR="91440" marT="45720" marB="45720">
                    <a:solidFill>
                      <a:srgbClr val="F5F7F9"/>
                    </a:solidFill>
                  </a:tcPr>
                </a:tc>
              </a:tr>
            </a:tbl>
          </a:graphicData>
        </a:graphic>
      </p:graphicFrame>
      <p:sp>
        <p:nvSpPr>
          <p:cNvPr id="5" name="">
            <a:extLst xmlns:a="http://schemas.openxmlformats.org/drawingml/2006/main">
              <a:ext uri="{FF2B5EF4-FFF2-40B4-BE49-F238E27FC236}">
                <a16:creationId xmlns:a16="http://schemas.microsoft.com/office/drawing/2014/main" id="{BD650E18-627A-4F86-A8DF-A0814167EF5E}"/>
              </a:ext>
            </a:extLst>
          </p:cNvPr>
          <p:cNvSpPr>
            <a:spLocks xmlns:a="http://schemas.openxmlformats.org/drawingml/2006/main" noGrp="1"/>
          </p:cNvSpPr>
          <p:nvPr/>
        </p:nvSpPr>
        <p:spPr>
          <a:xfrm xmlns:a="http://schemas.openxmlformats.org/drawingml/2006/main">
            <a:off x="666750" y="5000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73B50"/>
                </a:solidFill>
                <a:latin typeface="Helvetica Neue"/>
                <a:ea typeface="Helvetica Neue"/>
                <a:cs typeface="Helvetica Neue"/>
              </a:defRPr>
            </a:pPr>
            <a:r>
              <a:rPr sz="2175" b="1">
                <a:solidFill>
                  <a:srgbClr val="173B50"/>
                </a:solidFill>
                <a:latin typeface="Helvetica Neue"/>
                <a:ea typeface="Helvetica Neue"/>
                <a:cs typeface="Helvetica Neue"/>
              </a:rPr>
              <a:t>Séparation par groupes et test réservé</a:t>
            </a:r>
          </a:p>
        </p:txBody>
      </p:sp>
      <p:sp>
        <p:nvSpPr>
          <p:cNvPr id="6" name="">
            <a:extLst xmlns:a="http://schemas.openxmlformats.org/drawingml/2006/main">
              <a:ext uri="{FF2B5EF4-FFF2-40B4-BE49-F238E27FC236}">
                <a16:creationId xmlns:a16="http://schemas.microsoft.com/office/drawing/2014/main" id="{AD8E5887-A9E6-48E2-BF28-BA23B79AC3D5}"/>
              </a:ext>
            </a:extLst>
          </p:cNvPr>
          <p:cNvSpPr>
            <a:spLocks xmlns:a="http://schemas.openxmlformats.org/drawingml/2006/main" noGrp="1"/>
          </p:cNvSpPr>
          <p:nvPr/>
        </p:nvSpPr>
        <p:spPr>
          <a:xfrm xmlns:a="http://schemas.openxmlformats.org/drawingml/2006/main">
            <a:off x="666750" y="56007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878"/>
                </a:solidFill>
                <a:latin typeface="Helvetica Neue"/>
                <a:ea typeface="Helvetica Neue"/>
                <a:cs typeface="Helvetica Neue"/>
              </a:defRPr>
            </a:pPr>
            <a:r>
              <a:rPr sz="1875" b="0">
                <a:solidFill>
                  <a:srgbClr val="536878"/>
                </a:solidFill>
                <a:latin typeface="Helvetica Neue"/>
                <a:ea typeface="Helvetica Neue"/>
                <a:cs typeface="Helvetica Neue"/>
              </a:rPr>
              <a:t>42 groupes de test distincts du train/dev. Des récits du même événement peuvent rester proches.</a:t>
            </a:r>
          </a:p>
        </p:txBody>
      </p:sp>
    </p:spTree>
    <p:extLst>
      <p:ext uri="{BB962C8B-B14F-4D97-AF65-F5344CB8AC3E}">
        <p14:creationId xmlns:p14="http://schemas.microsoft.com/office/powerpoint/2010/main" val="73465232"/>
      </p:ext>
    </p:extLst>
  </p:cSld>
</p:sld>
</file>

<file path=ppt/slides/slide5.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846EDC-4294-4628-AD31-58DFC6A3428D}"/>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Préparation et traçabilité des données</a:t>
            </a:r>
          </a:p>
        </p:txBody>
      </p:sp>
      <p:sp>
        <p:nvSpPr>
          <p:cNvPr id="2" name="">
            <a:extLst xmlns:a="http://schemas.openxmlformats.org/drawingml/2006/main">
              <a:ext uri="{FF2B5EF4-FFF2-40B4-BE49-F238E27FC236}">
                <a16:creationId xmlns:a16="http://schemas.microsoft.com/office/drawing/2014/main" id="{EA37C58C-54C1-4BA0-858C-7EC800D027F8}"/>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F3E12963-E0AC-44AE-B83D-0CE485135AFF}"/>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5</a:t>
            </a:r>
          </a:p>
        </p:txBody>
      </p:sp>
      <p:sp>
        <p:nvSpPr>
          <p:cNvPr id="4" name="">
            <a:extLst xmlns:a="http://schemas.openxmlformats.org/drawingml/2006/main">
              <a:ext uri="{FF2B5EF4-FFF2-40B4-BE49-F238E27FC236}">
                <a16:creationId xmlns:a16="http://schemas.microsoft.com/office/drawing/2014/main" id="{A0F2F260-0BEC-4D9F-BEDE-C5EC1398534E}"/>
              </a:ext>
            </a:extLst>
          </p:cNvPr>
          <p:cNvSpPr>
            <a:spLocks xmlns:a="http://schemas.openxmlformats.org/drawingml/2006/main" noGrp="1"/>
          </p:cNvSpPr>
          <p:nvPr/>
        </p:nvSpPr>
        <p:spPr>
          <a:xfrm xmlns:a="http://schemas.openxmlformats.org/drawingml/2006/main">
            <a:off x="666750" y="1714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ID, URL, date et empreinte accompagnent chaque article</a:t>
            </a:r>
          </a:p>
        </p:txBody>
      </p:sp>
      <p:sp>
        <p:nvSpPr>
          <p:cNvPr id="5" name="">
            <a:extLst xmlns:a="http://schemas.openxmlformats.org/drawingml/2006/main">
              <a:ext uri="{FF2B5EF4-FFF2-40B4-BE49-F238E27FC236}">
                <a16:creationId xmlns:a16="http://schemas.microsoft.com/office/drawing/2014/main" id="{DD34C4C6-E7D2-4127-AEA6-9C4F414ABEB5}"/>
              </a:ext>
            </a:extLst>
          </p:cNvPr>
          <p:cNvSpPr>
            <a:spLocks xmlns:a="http://schemas.openxmlformats.org/drawingml/2006/main" noGrp="1"/>
          </p:cNvSpPr>
          <p:nvPr/>
        </p:nvSpPr>
        <p:spPr>
          <a:xfrm xmlns:a="http://schemas.openxmlformats.org/drawingml/2006/main">
            <a:off x="666750" y="2686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Les contrôles vérifient les formats et positions Unicode</a:t>
            </a:r>
          </a:p>
        </p:txBody>
      </p:sp>
      <p:sp>
        <p:nvSpPr>
          <p:cNvPr id="6" name="">
            <a:extLst xmlns:a="http://schemas.openxmlformats.org/drawingml/2006/main">
              <a:ext uri="{FF2B5EF4-FFF2-40B4-BE49-F238E27FC236}">
                <a16:creationId xmlns:a16="http://schemas.microsoft.com/office/drawing/2014/main" id="{A416A48F-49B5-4C20-8C08-80DEA9C75576}"/>
              </a:ext>
            </a:extLst>
          </p:cNvPr>
          <p:cNvSpPr>
            <a:spLocks xmlns:a="http://schemas.openxmlformats.org/drawingml/2006/main" noGrp="1"/>
          </p:cNvSpPr>
          <p:nvPr/>
        </p:nvSpPr>
        <p:spPr>
          <a:xfrm xmlns:a="http://schemas.openxmlformats.org/drawingml/2006/main">
            <a:off x="666750" y="36576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Les groupes séparent apprentissage, validation et test</a:t>
            </a:r>
          </a:p>
        </p:txBody>
      </p:sp>
      <p:sp>
        <p:nvSpPr>
          <p:cNvPr id="7" name="">
            <a:extLst xmlns:a="http://schemas.openxmlformats.org/drawingml/2006/main">
              <a:ext uri="{FF2B5EF4-FFF2-40B4-BE49-F238E27FC236}">
                <a16:creationId xmlns:a16="http://schemas.microsoft.com/office/drawing/2014/main" id="{02A20614-12EF-43BF-A33C-8D3BE1AB1E24}"/>
              </a:ext>
            </a:extLst>
          </p:cNvPr>
          <p:cNvSpPr>
            <a:spLocks xmlns:a="http://schemas.openxmlformats.org/drawingml/2006/main" noGrp="1"/>
          </p:cNvSpPr>
          <p:nvPr/>
        </p:nvSpPr>
        <p:spPr>
          <a:xfrm xmlns:a="http://schemas.openxmlformats.org/drawingml/2006/main">
            <a:off x="666750" y="4629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Les préannotations lexicales restent à relire par une personne</a:t>
            </a:r>
          </a:p>
        </p:txBody>
      </p:sp>
      <p:sp>
        <p:nvSpPr>
          <p:cNvPr id="8" name="">
            <a:extLst xmlns:a="http://schemas.openxmlformats.org/drawingml/2006/main">
              <a:ext uri="{FF2B5EF4-FFF2-40B4-BE49-F238E27FC236}">
                <a16:creationId xmlns:a16="http://schemas.microsoft.com/office/drawing/2014/main" id="{0C252FAF-36EB-406E-9719-F71B00D790F8}"/>
              </a:ext>
            </a:extLst>
          </p:cNvPr>
          <p:cNvSpPr>
            <a:spLocks xmlns:a="http://schemas.openxmlformats.org/drawingml/2006/main" noGrp="1"/>
          </p:cNvSpPr>
          <p:nvPr/>
        </p:nvSpPr>
        <p:spPr>
          <a:xfrm xmlns:a="http://schemas.openxmlformats.org/drawingml/2006/main">
            <a:off x="666750" y="5619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A94B0B"/>
                </a:solidFill>
                <a:latin typeface="Helvetica Neue"/>
                <a:ea typeface="Helvetica Neue"/>
                <a:cs typeface="Helvetica Neue"/>
              </a:defRPr>
            </a:pPr>
            <a:r>
              <a:rPr sz="1800" b="0">
                <a:solidFill>
                  <a:srgbClr val="A94B0B"/>
                </a:solidFill>
                <a:latin typeface="Helvetica Neue"/>
                <a:ea typeface="Helvetica Neue"/>
                <a:cs typeface="Helvetica Neue"/>
              </a:rPr>
              <a:t>Préannotation, contrôle par IA et revue humaine restent distincts</a:t>
            </a:r>
          </a:p>
        </p:txBody>
      </p:sp>
    </p:spTree>
    <p:extLst>
      <p:ext uri="{BB962C8B-B14F-4D97-AF65-F5344CB8AC3E}">
        <p14:creationId xmlns:p14="http://schemas.microsoft.com/office/powerpoint/2010/main" val="470999147"/>
      </p:ext>
    </p:extLst>
  </p:cSld>
</p:sld>
</file>

<file path=ppt/slides/slide6.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6BA3C6-AD32-4F42-9137-00123DE2EA9B}"/>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Chaque prédiction conserve son contexte</a:t>
            </a:r>
          </a:p>
        </p:txBody>
      </p:sp>
      <p:sp>
        <p:nvSpPr>
          <p:cNvPr id="2" name="">
            <a:extLst xmlns:a="http://schemas.openxmlformats.org/drawingml/2006/main">
              <a:ext uri="{FF2B5EF4-FFF2-40B4-BE49-F238E27FC236}">
                <a16:creationId xmlns:a16="http://schemas.microsoft.com/office/drawing/2014/main" id="{5F3B3610-57FD-4DCF-898F-215DAF2DDB7C}"/>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66ABD4D4-8F9F-49A0-B7A8-1C7E684CB28A}"/>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6</a:t>
            </a:r>
          </a:p>
        </p:txBody>
      </p:sp>
      <p:pic>
        <p:nvPicPr>
          <p:cNvPr id="13" name="">
            <a:extLst xmlns:a="http://schemas.openxmlformats.org/drawingml/2006/main">
              <a:ext uri="{FF2B5EF4-FFF2-40B4-BE49-F238E27FC236}">
                <a16:creationId xmlns:a16="http://schemas.microsoft.com/office/drawing/2014/main" id="{B8236A9B-190E-4BDE-A41E-A33521DDA47E}"/>
              </a:ext>
            </a:extLst>
          </p:cNvPr>
          <p:cNvPicPr>
            <a:picLocks xmlns:a="http://schemas.openxmlformats.org/drawingml/2006/main" noChangeAspect="1"/>
          </p:cNvPicPr>
          <p:nvPr/>
        </p:nvPicPr>
        <p:blipFill>
          <a:blip xmlns:r="http://schemas.openxmlformats.org/officeDocument/2006/relationships" xmlns:a="http://schemas.openxmlformats.org/drawingml/2006/main" r:embed="R31b1f2e3afc04f60"/>
          <a:stretch xmlns:a="http://schemas.openxmlformats.org/drawingml/2006/main"/>
        </p:blipFill>
        <p:spPr>
          <a:xfrm xmlns:a="http://schemas.openxmlformats.org/drawingml/2006/main">
            <a:off x="952500" y="1381125"/>
            <a:ext cx="6858000"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7A26F77-B44A-4F85-87E8-BA98F56271C2}"/>
              </a:ext>
            </a:extLst>
          </p:cNvPr>
          <p:cNvSpPr>
            <a:spLocks xmlns:a="http://schemas.openxmlformats.org/drawingml/2006/main" noGrp="1"/>
          </p:cNvSpPr>
          <p:nvPr/>
        </p:nvSpPr>
        <p:spPr>
          <a:xfrm xmlns:a="http://schemas.openxmlformats.org/drawingml/2006/main">
            <a:off x="8572500" y="1714500"/>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Filtrer une année</a:t>
            </a:r>
          </a:p>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et un label</a:t>
            </a:r>
          </a:p>
        </p:txBody>
      </p:sp>
      <p:sp>
        <p:nvSpPr>
          <p:cNvPr id="6" name="">
            <a:extLst xmlns:a="http://schemas.openxmlformats.org/drawingml/2006/main">
              <a:ext uri="{FF2B5EF4-FFF2-40B4-BE49-F238E27FC236}">
                <a16:creationId xmlns:a16="http://schemas.microsoft.com/office/drawing/2014/main" id="{D6B0ED2C-F9DC-4FCD-B168-D7CF0E59916E}"/>
              </a:ext>
            </a:extLst>
          </p:cNvPr>
          <p:cNvSpPr>
            <a:spLocks xmlns:a="http://schemas.openxmlformats.org/drawingml/2006/main" noGrp="1"/>
          </p:cNvSpPr>
          <p:nvPr/>
        </p:nvSpPr>
        <p:spPr>
          <a:xfrm xmlns:a="http://schemas.openxmlformats.org/drawingml/2006/main">
            <a:off x="8572500" y="31432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13D50"/>
                </a:solidFill>
                <a:latin typeface="Helvetica Neue"/>
                <a:ea typeface="Helvetica Neue"/>
                <a:cs typeface="Helvetica Neue"/>
              </a:defRPr>
            </a:pPr>
            <a:r>
              <a:rPr sz="2175" b="0">
                <a:solidFill>
                  <a:srgbClr val="213D50"/>
                </a:solidFill>
                <a:latin typeface="Helvetica Neue"/>
                <a:ea typeface="Helvetica Neue"/>
                <a:cs typeface="Helvetica Neue"/>
              </a:rPr>
              <a:t>Ouvrir l’article</a:t>
            </a:r>
          </a:p>
          <a:p xmlns:a="http://schemas.openxmlformats.org/drawingml/2006/main">
            <a:pPr>
              <a:buNone/>
              <a:defRPr sz="2175" b="0">
                <a:solidFill>
                  <a:srgbClr val="213D50"/>
                </a:solidFill>
                <a:latin typeface="Helvetica Neue"/>
                <a:ea typeface="Helvetica Neue"/>
                <a:cs typeface="Helvetica Neue"/>
              </a:defRPr>
            </a:pPr>
            <a:r>
              <a:rPr sz="2175" b="0">
                <a:solidFill>
                  <a:srgbClr val="213D50"/>
                </a:solidFill>
                <a:latin typeface="Helvetica Neue"/>
                <a:ea typeface="Helvetica Neue"/>
                <a:cs typeface="Helvetica Neue"/>
              </a:rPr>
              <a:t>et vérifier le passage</a:t>
            </a:r>
          </a:p>
        </p:txBody>
      </p:sp>
      <p:sp>
        <p:nvSpPr>
          <p:cNvPr id="7" name="">
            <a:extLst xmlns:a="http://schemas.openxmlformats.org/drawingml/2006/main">
              <a:ext uri="{FF2B5EF4-FFF2-40B4-BE49-F238E27FC236}">
                <a16:creationId xmlns:a16="http://schemas.microsoft.com/office/drawing/2014/main" id="{478AD27B-98A3-4726-A5FA-225E9B271729}"/>
              </a:ext>
            </a:extLst>
          </p:cNvPr>
          <p:cNvSpPr>
            <a:spLocks xmlns:a="http://schemas.openxmlformats.org/drawingml/2006/main" noGrp="1"/>
          </p:cNvSpPr>
          <p:nvPr/>
        </p:nvSpPr>
        <p:spPr>
          <a:xfrm xmlns:a="http://schemas.openxmlformats.org/drawingml/2006/main">
            <a:off x="8572500" y="4810125"/>
            <a:ext cx="276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A64B17"/>
                </a:solidFill>
                <a:latin typeface="Helvetica Neue"/>
                <a:ea typeface="Helvetica Neue"/>
                <a:cs typeface="Helvetica Neue"/>
              </a:defRPr>
            </a:pPr>
            <a:r>
              <a:rPr sz="2175" b="0">
                <a:solidFill>
                  <a:srgbClr val="A64B17"/>
                </a:solidFill>
                <a:latin typeface="Helvetica Neue"/>
                <a:ea typeface="Helvetica Neue"/>
                <a:cs typeface="Helvetica Neue"/>
              </a:rPr>
              <a:t>Comparer ensuite</a:t>
            </a:r>
          </a:p>
          <a:p xmlns:a="http://schemas.openxmlformats.org/drawingml/2006/main">
            <a:pPr>
              <a:buNone/>
              <a:defRPr sz="2175" b="0">
                <a:solidFill>
                  <a:srgbClr val="A64B17"/>
                </a:solidFill>
                <a:latin typeface="Helvetica Neue"/>
                <a:ea typeface="Helvetica Neue"/>
                <a:cs typeface="Helvetica Neue"/>
              </a:defRPr>
            </a:pPr>
            <a:r>
              <a:rPr sz="2175" b="0">
                <a:solidFill>
                  <a:srgbClr val="A64B17"/>
                </a:solidFill>
                <a:latin typeface="Helvetica Neue"/>
                <a:ea typeface="Helvetica Neue"/>
                <a:cs typeface="Helvetica Neue"/>
              </a:rPr>
              <a:t>à d’autres sources</a:t>
            </a:r>
          </a:p>
        </p:txBody>
      </p:sp>
    </p:spTree>
    <p:extLst>
      <p:ext uri="{BB962C8B-B14F-4D97-AF65-F5344CB8AC3E}">
        <p14:creationId xmlns:p14="http://schemas.microsoft.com/office/powerpoint/2010/main" val="347414965"/>
      </p:ext>
    </p:extLst>
  </p:cSld>
</p:sld>
</file>

<file path=ppt/slides/slide7.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660F6C-F161-4B88-BDF1-74E2538F8149}"/>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Fonctionnement et diagnostic exploratoire</a:t>
            </a:r>
          </a:p>
        </p:txBody>
      </p:sp>
      <p:sp>
        <p:nvSpPr>
          <p:cNvPr id="2" name="">
            <a:extLst xmlns:a="http://schemas.openxmlformats.org/drawingml/2006/main">
              <a:ext uri="{FF2B5EF4-FFF2-40B4-BE49-F238E27FC236}">
                <a16:creationId xmlns:a16="http://schemas.microsoft.com/office/drawing/2014/main" id="{0D2BFE61-6DB2-4C7E-985B-859A54C4F585}"/>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904F95D3-5B99-44FA-A144-572D629E52EE}"/>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7</a:t>
            </a:r>
          </a:p>
        </p:txBody>
      </p:sp>
      <p:graphicFrame>
        <p:nvGraphicFramePr>
          <p:cNvPr id="12" name="">
            <a:extLst xmlns:a="http://schemas.openxmlformats.org/drawingml/2006/main">
              <a:ext uri="{FF2B5EF4-FFF2-40B4-BE49-F238E27FC236}">
                <a16:creationId xmlns:a16="http://schemas.microsoft.com/office/drawing/2014/main" id="{09769E73-5A64-4397-A208-3C84CFD420F6}"/>
              </a:ext>
            </a:extLst>
          </p:cNvPr>
          <p:cNvGraphicFramePr/>
          <p:nvPr/>
        </p:nvGraphicFramePr>
        <p:xfrm>
          <a:off xmlns:a="http://schemas.openxmlformats.org/drawingml/2006/main" x="666750" y="1619250"/>
          <a:ext xmlns:a="http://schemas.openxmlformats.org/drawingml/2006/main" cx="10858500" cy="2952750"/>
        </p:xfrm>
        <a:graphic xmlns:a="http://schemas.openxmlformats.org/drawingml/2006/main">
          <a:graphicData uri="http://schemas.openxmlformats.org/drawingml/2006/table">
            <a:tbl>
              <a:tblPr/>
              <a:tblGrid>
                <a:gridCol w="5238750"/>
                <a:gridCol w="5619750"/>
              </a:tblGrid>
              <a:tr h="590550">
                <a:tc>
                  <a:txBody>
                    <a:bodyPr/>
                    <a:lstStyle/>
                    <a:p>
                      <a:r>
                        <a:rPr sz="1875" b="1">
                          <a:solidFill>
                            <a:srgbClr val="213D50"/>
                          </a:solidFill>
                          <a:latin typeface="Helvetica Neue"/>
                          <a:ea typeface="Helvetica Neue"/>
                          <a:cs typeface="Helvetica Neue"/>
                        </a:rPr>
                        <a:t>Mesure</a:t>
                      </a:r>
                    </a:p>
                  </a:txBody>
                  <a:tcPr marL="91440" marR="91440" marT="45720" marB="45720">
                    <a:solidFill>
                      <a:srgbClr val="DFE8EE"/>
                    </a:solidFill>
                  </a:tcPr>
                </a:tc>
                <a:tc>
                  <a:txBody>
                    <a:bodyPr/>
                    <a:lstStyle/>
                    <a:p>
                      <a:r>
                        <a:rPr sz="1875" b="1">
                          <a:solidFill>
                            <a:srgbClr val="213D50"/>
                          </a:solidFill>
                          <a:latin typeface="Helvetica Neue"/>
                          <a:ea typeface="Helvetica Neue"/>
                          <a:cs typeface="Helvetica Neue"/>
                        </a:rPr>
                        <a:t>Résultat local</a:t>
                      </a:r>
                    </a:p>
                  </a:txBody>
                  <a:tcPr marL="91440" marR="91440" marT="45720" marB="45720">
                    <a:solidFill>
                      <a:srgbClr val="DFE8EE"/>
                    </a:solidFill>
                  </a:tcPr>
                </a:tc>
              </a:tr>
              <a:tr h="590550">
                <a:tc>
                  <a:txBody>
                    <a:bodyPr/>
                    <a:lstStyle/>
                    <a:p>
                      <a:r>
                        <a:rPr sz="1875" b="0">
                          <a:solidFill>
                            <a:srgbClr val="213D50"/>
                          </a:solidFill>
                          <a:latin typeface="Helvetica Neue"/>
                          <a:ea typeface="Helvetica Neue"/>
                          <a:cs typeface="Helvetica Neue"/>
                        </a:rPr>
                        <a:t>Articles traités</a:t>
                      </a:r>
                    </a:p>
                  </a:txBody>
                  <a:tcPr marL="91440" marR="91440" marT="45720" marB="45720">
                    <a:solidFill>
                      <a:srgbClr val="F5F7F9"/>
                    </a:solidFill>
                  </a:tcPr>
                </a:tc>
                <a:tc>
                  <a:txBody>
                    <a:bodyPr/>
                    <a:lstStyle/>
                    <a:p>
                      <a:r>
                        <a:rPr sz="1875" b="0">
                          <a:solidFill>
                            <a:srgbClr val="213D50"/>
                          </a:solidFill>
                          <a:latin typeface="Helvetica Neue"/>
                          <a:ea typeface="Helvetica Neue"/>
                          <a:cs typeface="Helvetica Neue"/>
                        </a:rPr>
                        <a:t>21 676 en 312,8 s</a:t>
                      </a:r>
                    </a:p>
                  </a:txBody>
                  <a:tcPr marL="91440" marR="91440" marT="45720" marB="45720">
                    <a:solidFill>
                      <a:srgbClr val="F5F7F9"/>
                    </a:solidFill>
                  </a:tcPr>
                </a:tc>
              </a:tr>
              <a:tr h="590550">
                <a:tc>
                  <a:txBody>
                    <a:bodyPr/>
                    <a:lstStyle/>
                    <a:p>
                      <a:r>
                        <a:rPr sz="1875" b="0">
                          <a:solidFill>
                            <a:srgbClr val="213D50"/>
                          </a:solidFill>
                          <a:latin typeface="Helvetica Neue"/>
                          <a:ea typeface="Helvetica Neue"/>
                          <a:cs typeface="Helvetica Neue"/>
                        </a:rPr>
                        <a:t>Débit complet</a:t>
                      </a:r>
                    </a:p>
                  </a:txBody>
                  <a:tcPr marL="91440" marR="91440" marT="45720" marB="45720">
                    <a:solidFill>
                      <a:srgbClr val="F5F7F9"/>
                    </a:solidFill>
                  </a:tcPr>
                </a:tc>
                <a:tc>
                  <a:txBody>
                    <a:bodyPr/>
                    <a:lstStyle/>
                    <a:p>
                      <a:r>
                        <a:rPr sz="1875" b="0">
                          <a:solidFill>
                            <a:srgbClr val="213D50"/>
                          </a:solidFill>
                          <a:latin typeface="Helvetica Neue"/>
                          <a:ea typeface="Helvetica Neue"/>
                          <a:cs typeface="Helvetica Neue"/>
                        </a:rPr>
                        <a:t>69,3 articles par seconde</a:t>
                      </a:r>
                    </a:p>
                  </a:txBody>
                  <a:tcPr marL="91440" marR="91440" marT="45720" marB="45720">
                    <a:solidFill>
                      <a:srgbClr val="F5F7F9"/>
                    </a:solidFill>
                  </a:tcPr>
                </a:tc>
              </a:tr>
              <a:tr h="590550">
                <a:tc>
                  <a:txBody>
                    <a:bodyPr/>
                    <a:lstStyle/>
                    <a:p>
                      <a:r>
                        <a:rPr sz="1875" b="0">
                          <a:solidFill>
                            <a:srgbClr val="213D50"/>
                          </a:solidFill>
                          <a:latin typeface="Helvetica Neue"/>
                          <a:ea typeface="Helvetica Neue"/>
                          <a:cs typeface="Helvetica Neue"/>
                        </a:rPr>
                        <a:t>Mentions prédites</a:t>
                      </a:r>
                    </a:p>
                  </a:txBody>
                  <a:tcPr marL="91440" marR="91440" marT="45720" marB="45720">
                    <a:solidFill>
                      <a:srgbClr val="F5F7F9"/>
                    </a:solidFill>
                  </a:tcPr>
                </a:tc>
                <a:tc>
                  <a:txBody>
                    <a:bodyPr/>
                    <a:lstStyle/>
                    <a:p>
                      <a:r>
                        <a:rPr sz="1875" b="0">
                          <a:solidFill>
                            <a:srgbClr val="213D50"/>
                          </a:solidFill>
                          <a:latin typeface="Helvetica Neue"/>
                          <a:ea typeface="Helvetica Neue"/>
                          <a:cs typeface="Helvetica Neue"/>
                        </a:rPr>
                        <a:t>39 511, dont des erreurs</a:t>
                      </a:r>
                    </a:p>
                  </a:txBody>
                  <a:tcPr marL="91440" marR="91440" marT="45720" marB="45720">
                    <a:solidFill>
                      <a:srgbClr val="F5F7F9"/>
                    </a:solidFill>
                  </a:tcPr>
                </a:tc>
              </a:tr>
              <a:tr h="590550">
                <a:tc>
                  <a:txBody>
                    <a:bodyPr/>
                    <a:lstStyle/>
                    <a:p>
                      <a:r>
                        <a:rPr sz="1875" b="0">
                          <a:solidFill>
                            <a:srgbClr val="213D50"/>
                          </a:solidFill>
                          <a:latin typeface="Helvetica Neue"/>
                          <a:ea typeface="Helvetica Neue"/>
                          <a:cs typeface="Helvetica Neue"/>
                        </a:rPr>
                        <a:t>Diagnostic IA sur 42 articles</a:t>
                      </a:r>
                    </a:p>
                  </a:txBody>
                  <a:tcPr marL="91440" marR="91440" marT="45720" marB="45720">
                    <a:solidFill>
                      <a:srgbClr val="F5F7F9"/>
                    </a:solidFill>
                  </a:tcPr>
                </a:tc>
                <a:tc>
                  <a:txBody>
                    <a:bodyPr/>
                    <a:lstStyle/>
                    <a:p>
                      <a:r>
                        <a:rPr sz="1875" b="0">
                          <a:solidFill>
                            <a:srgbClr val="213D50"/>
                          </a:solidFill>
                          <a:latin typeface="Helvetica Neue"/>
                          <a:ea typeface="Helvetica Neue"/>
                          <a:cs typeface="Helvetica Neue"/>
                        </a:rPr>
                        <a:t>P 71,05 %   R 21,26 %   F1 32,73 %</a:t>
                      </a:r>
                    </a:p>
                  </a:txBody>
                  <a:tcPr marL="91440" marR="91440" marT="45720" marB="45720">
                    <a:solidFill>
                      <a:srgbClr val="F5F7F9"/>
                    </a:solidFill>
                  </a:tcPr>
                </a:tc>
              </a:tr>
            </a:tbl>
          </a:graphicData>
        </a:graphic>
      </p:graphicFrame>
      <p:sp>
        <p:nvSpPr>
          <p:cNvPr id="5" name="">
            <a:extLst xmlns:a="http://schemas.openxmlformats.org/drawingml/2006/main">
              <a:ext uri="{FF2B5EF4-FFF2-40B4-BE49-F238E27FC236}">
                <a16:creationId xmlns:a16="http://schemas.microsoft.com/office/drawing/2014/main" id="{6E26EBCE-ECB5-40FD-B64B-40245C8F1554}"/>
              </a:ext>
            </a:extLst>
          </p:cNvPr>
          <p:cNvSpPr>
            <a:spLocks xmlns:a="http://schemas.openxmlformats.org/drawingml/2006/main" noGrp="1"/>
          </p:cNvSpPr>
          <p:nvPr/>
        </p:nvSpPr>
        <p:spPr>
          <a:xfrm xmlns:a="http://schemas.openxmlformats.org/drawingml/2006/main">
            <a:off x="666750" y="50482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A64B17"/>
                </a:solidFill>
                <a:latin typeface="Helvetica Neue"/>
                <a:ea typeface="Helvetica Neue"/>
                <a:cs typeface="Helvetica Neue"/>
              </a:defRPr>
            </a:pPr>
            <a:r>
              <a:rPr sz="2325" b="1">
                <a:solidFill>
                  <a:srgbClr val="A64B17"/>
                </a:solidFill>
                <a:latin typeface="Helvetica Neue"/>
                <a:ea typeface="Helvetica Neue"/>
                <a:cs typeface="Helvetica Neue"/>
              </a:rPr>
              <a:t>Erreur observée : NATO classé WEAPON</a:t>
            </a:r>
          </a:p>
        </p:txBody>
      </p:sp>
      <p:sp>
        <p:nvSpPr>
          <p:cNvPr id="6" name="">
            <a:extLst xmlns:a="http://schemas.openxmlformats.org/drawingml/2006/main">
              <a:ext uri="{FF2B5EF4-FFF2-40B4-BE49-F238E27FC236}">
                <a16:creationId xmlns:a16="http://schemas.microsoft.com/office/drawing/2014/main" id="{DC66A2D9-4ABD-4B1B-9620-4D17EB9A93FE}"/>
              </a:ext>
            </a:extLst>
          </p:cNvPr>
          <p:cNvSpPr>
            <a:spLocks xmlns:a="http://schemas.openxmlformats.org/drawingml/2006/main" noGrp="1"/>
          </p:cNvSpPr>
          <p:nvPr/>
        </p:nvSpPr>
        <p:spPr>
          <a:xfrm xmlns:a="http://schemas.openxmlformats.org/drawingml/2006/main">
            <a:off x="666750" y="56769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13D50"/>
                </a:solidFill>
                <a:latin typeface="Helvetica Neue"/>
                <a:ea typeface="Helvetica Neue"/>
                <a:cs typeface="Helvetica Neue"/>
              </a:defRPr>
            </a:pPr>
            <a:r>
              <a:rPr sz="1875" b="0">
                <a:solidFill>
                  <a:srgbClr val="213D50"/>
                </a:solidFill>
                <a:latin typeface="Helvetica Neue"/>
                <a:ea typeface="Helvetica Neue"/>
                <a:cs typeface="Helvetica Neue"/>
              </a:rPr>
              <a:t>Les classements orientent une vérification. Ils ne fondent pas une conclusion stratégique automatique.</a:t>
            </a:r>
          </a:p>
        </p:txBody>
      </p:sp>
    </p:spTree>
    <p:extLst>
      <p:ext uri="{BB962C8B-B14F-4D97-AF65-F5344CB8AC3E}">
        <p14:creationId xmlns:p14="http://schemas.microsoft.com/office/powerpoint/2010/main" val="1052523868"/>
      </p:ext>
    </p:extLst>
  </p:cSld>
</p:sld>
</file>

<file path=ppt/slides/slide8.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846EDC-4294-4628-AD31-58DFC6A3428D}"/>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Lecture des métriques et des erreurs</a:t>
            </a:r>
          </a:p>
        </p:txBody>
      </p:sp>
      <p:sp>
        <p:nvSpPr>
          <p:cNvPr id="2" name="">
            <a:extLst xmlns:a="http://schemas.openxmlformats.org/drawingml/2006/main">
              <a:ext uri="{FF2B5EF4-FFF2-40B4-BE49-F238E27FC236}">
                <a16:creationId xmlns:a16="http://schemas.microsoft.com/office/drawing/2014/main" id="{EA37C58C-54C1-4BA0-858C-7EC800D027F8}"/>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F3E12963-E0AC-44AE-B83D-0CE485135AFF}"/>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8</a:t>
            </a:r>
          </a:p>
        </p:txBody>
      </p:sp>
      <p:sp>
        <p:nvSpPr>
          <p:cNvPr id="4" name="">
            <a:extLst xmlns:a="http://schemas.openxmlformats.org/drawingml/2006/main">
              <a:ext uri="{FF2B5EF4-FFF2-40B4-BE49-F238E27FC236}">
                <a16:creationId xmlns:a16="http://schemas.microsoft.com/office/drawing/2014/main" id="{A0F2F260-0BEC-4D9F-BEDE-C5EC1398534E}"/>
              </a:ext>
            </a:extLst>
          </p:cNvPr>
          <p:cNvSpPr>
            <a:spLocks xmlns:a="http://schemas.openxmlformats.org/drawingml/2006/main" noGrp="1"/>
          </p:cNvSpPr>
          <p:nvPr/>
        </p:nvSpPr>
        <p:spPr>
          <a:xfrm xmlns:a="http://schemas.openxmlformats.org/drawingml/2006/main">
            <a:off x="666750" y="1714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Précision : 54 mentions correctes parmi 76 prédictions</a:t>
            </a:r>
          </a:p>
        </p:txBody>
      </p:sp>
      <p:sp>
        <p:nvSpPr>
          <p:cNvPr id="5" name="">
            <a:extLst xmlns:a="http://schemas.openxmlformats.org/drawingml/2006/main">
              <a:ext uri="{FF2B5EF4-FFF2-40B4-BE49-F238E27FC236}">
                <a16:creationId xmlns:a16="http://schemas.microsoft.com/office/drawing/2014/main" id="{DD34C4C6-E7D2-4127-AEA6-9C4F414ABEB5}"/>
              </a:ext>
            </a:extLst>
          </p:cNvPr>
          <p:cNvSpPr>
            <a:spLocks xmlns:a="http://schemas.openxmlformats.org/drawingml/2006/main" noGrp="1"/>
          </p:cNvSpPr>
          <p:nvPr/>
        </p:nvSpPr>
        <p:spPr>
          <a:xfrm xmlns:a="http://schemas.openxmlformats.org/drawingml/2006/main">
            <a:off x="666750" y="2686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Rappel : 54 mentions retrouvées sur 254 proposées</a:t>
            </a:r>
          </a:p>
        </p:txBody>
      </p:sp>
      <p:sp>
        <p:nvSpPr>
          <p:cNvPr id="6" name="">
            <a:extLst xmlns:a="http://schemas.openxmlformats.org/drawingml/2006/main">
              <a:ext uri="{FF2B5EF4-FFF2-40B4-BE49-F238E27FC236}">
                <a16:creationId xmlns:a16="http://schemas.microsoft.com/office/drawing/2014/main" id="{A416A48F-49B5-4C20-8C08-80DEA9C75576}"/>
              </a:ext>
            </a:extLst>
          </p:cNvPr>
          <p:cNvSpPr>
            <a:spLocks xmlns:a="http://schemas.openxmlformats.org/drawingml/2006/main" noGrp="1"/>
          </p:cNvSpPr>
          <p:nvPr/>
        </p:nvSpPr>
        <p:spPr>
          <a:xfrm xmlns:a="http://schemas.openxmlformats.org/drawingml/2006/main">
            <a:off x="666750" y="36576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200 omissions contre la référence IA sur les 42 articles</a:t>
            </a:r>
          </a:p>
        </p:txBody>
      </p:sp>
      <p:sp>
        <p:nvSpPr>
          <p:cNvPr id="7" name="">
            <a:extLst xmlns:a="http://schemas.openxmlformats.org/drawingml/2006/main">
              <a:ext uri="{FF2B5EF4-FFF2-40B4-BE49-F238E27FC236}">
                <a16:creationId xmlns:a16="http://schemas.microsoft.com/office/drawing/2014/main" id="{02A20614-12EF-43BF-A33C-8D3BE1AB1E24}"/>
              </a:ext>
            </a:extLst>
          </p:cNvPr>
          <p:cNvSpPr>
            <a:spLocks xmlns:a="http://schemas.openxmlformats.org/drawingml/2006/main" noGrp="1"/>
          </p:cNvSpPr>
          <p:nvPr/>
        </p:nvSpPr>
        <p:spPr>
          <a:xfrm xmlns:a="http://schemas.openxmlformats.org/drawingml/2006/main">
            <a:off x="666750" y="4629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Une erreur de label ou de frontière pénalise le score</a:t>
            </a:r>
          </a:p>
        </p:txBody>
      </p:sp>
      <p:sp>
        <p:nvSpPr>
          <p:cNvPr id="8" name="">
            <a:extLst xmlns:a="http://schemas.openxmlformats.org/drawingml/2006/main">
              <a:ext uri="{FF2B5EF4-FFF2-40B4-BE49-F238E27FC236}">
                <a16:creationId xmlns:a16="http://schemas.microsoft.com/office/drawing/2014/main" id="{0C252FAF-36EB-406E-9719-F71B00D790F8}"/>
              </a:ext>
            </a:extLst>
          </p:cNvPr>
          <p:cNvSpPr>
            <a:spLocks xmlns:a="http://schemas.openxmlformats.org/drawingml/2006/main" noGrp="1"/>
          </p:cNvSpPr>
          <p:nvPr/>
        </p:nvSpPr>
        <p:spPr>
          <a:xfrm xmlns:a="http://schemas.openxmlformats.org/drawingml/2006/main">
            <a:off x="666750" y="5619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A94B0B"/>
                </a:solidFill>
                <a:latin typeface="Helvetica Neue"/>
                <a:ea typeface="Helvetica Neue"/>
                <a:cs typeface="Helvetica Neue"/>
              </a:defRPr>
            </a:pPr>
            <a:r>
              <a:rPr sz="1800" b="0">
                <a:solidFill>
                  <a:srgbClr val="A94B0B"/>
                </a:solidFill>
                <a:latin typeface="Helvetica Neue"/>
                <a:ea typeface="Helvetica Neue"/>
                <a:cs typeface="Helvetica Neue"/>
              </a:rPr>
              <a:t>Diagnostic exploratoire contre l’IA, sans score de qualité humaine</a:t>
            </a:r>
          </a:p>
        </p:txBody>
      </p:sp>
    </p:spTree>
    <p:extLst>
      <p:ext uri="{BB962C8B-B14F-4D97-AF65-F5344CB8AC3E}">
        <p14:creationId xmlns:p14="http://schemas.microsoft.com/office/powerpoint/2010/main" val="470999147"/>
      </p:ext>
    </p:extLst>
  </p:cSld>
</p:sld>
</file>

<file path=ppt/slides/slide9.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846EDC-4294-4628-AD31-58DFC6A3428D}"/>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API et mode de déploiement</a:t>
            </a:r>
          </a:p>
        </p:txBody>
      </p:sp>
      <p:sp>
        <p:nvSpPr>
          <p:cNvPr id="2" name="">
            <a:extLst xmlns:a="http://schemas.openxmlformats.org/drawingml/2006/main">
              <a:ext uri="{FF2B5EF4-FFF2-40B4-BE49-F238E27FC236}">
                <a16:creationId xmlns:a16="http://schemas.microsoft.com/office/drawing/2014/main" id="{EA37C58C-54C1-4BA0-858C-7EC800D027F8}"/>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F3E12963-E0AC-44AE-B83D-0CE485135AFF}"/>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9</a:t>
            </a:r>
          </a:p>
        </p:txBody>
      </p:sp>
      <p:sp>
        <p:nvSpPr>
          <p:cNvPr id="4" name="">
            <a:extLst xmlns:a="http://schemas.openxmlformats.org/drawingml/2006/main">
              <a:ext uri="{FF2B5EF4-FFF2-40B4-BE49-F238E27FC236}">
                <a16:creationId xmlns:a16="http://schemas.microsoft.com/office/drawing/2014/main" id="{A0F2F260-0BEC-4D9F-BEDE-C5EC1398534E}"/>
              </a:ext>
            </a:extLst>
          </p:cNvPr>
          <p:cNvSpPr>
            <a:spLocks xmlns:a="http://schemas.openxmlformats.org/drawingml/2006/main" noGrp="1"/>
          </p:cNvSpPr>
          <p:nvPr/>
        </p:nvSpPr>
        <p:spPr>
          <a:xfrm xmlns:a="http://schemas.openxmlformats.org/drawingml/2006/main">
            <a:off x="666750" y="1714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POST /api/predict : prédiction sur un texte nouveau</a:t>
            </a:r>
          </a:p>
        </p:txBody>
      </p:sp>
      <p:sp>
        <p:nvSpPr>
          <p:cNvPr id="5" name="">
            <a:extLst xmlns:a="http://schemas.openxmlformats.org/drawingml/2006/main">
              <a:ext uri="{FF2B5EF4-FFF2-40B4-BE49-F238E27FC236}">
                <a16:creationId xmlns:a16="http://schemas.microsoft.com/office/drawing/2014/main" id="{DD34C4C6-E7D2-4127-AEA6-9C4F414ABEB5}"/>
              </a:ext>
            </a:extLst>
          </p:cNvPr>
          <p:cNvSpPr>
            <a:spLocks xmlns:a="http://schemas.openxmlformats.org/drawingml/2006/main" noGrp="1"/>
          </p:cNvSpPr>
          <p:nvPr/>
        </p:nvSpPr>
        <p:spPr>
          <a:xfrm xmlns:a="http://schemas.openxmlformats.org/drawingml/2006/main">
            <a:off x="666750" y="2686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GET /api/summary et /api/article : consultation</a:t>
            </a:r>
          </a:p>
        </p:txBody>
      </p:sp>
      <p:sp>
        <p:nvSpPr>
          <p:cNvPr id="6" name="">
            <a:extLst xmlns:a="http://schemas.openxmlformats.org/drawingml/2006/main">
              <a:ext uri="{FF2B5EF4-FFF2-40B4-BE49-F238E27FC236}">
                <a16:creationId xmlns:a16="http://schemas.microsoft.com/office/drawing/2014/main" id="{A416A48F-49B5-4C20-8C08-80DEA9C75576}"/>
              </a:ext>
            </a:extLst>
          </p:cNvPr>
          <p:cNvSpPr>
            <a:spLocks xmlns:a="http://schemas.openxmlformats.org/drawingml/2006/main" noGrp="1"/>
          </p:cNvSpPr>
          <p:nvPr/>
        </p:nvSpPr>
        <p:spPr>
          <a:xfrm xmlns:a="http://schemas.openxmlformats.org/drawingml/2006/main">
            <a:off x="666750" y="36576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GET /api/metrics : compteurs et durées d’inférence</a:t>
            </a:r>
          </a:p>
        </p:txBody>
      </p:sp>
      <p:sp>
        <p:nvSpPr>
          <p:cNvPr id="7" name="">
            <a:extLst xmlns:a="http://schemas.openxmlformats.org/drawingml/2006/main">
              <a:ext uri="{FF2B5EF4-FFF2-40B4-BE49-F238E27FC236}">
                <a16:creationId xmlns:a16="http://schemas.microsoft.com/office/drawing/2014/main" id="{02A20614-12EF-43BF-A33C-8D3BE1AB1E24}"/>
              </a:ext>
            </a:extLst>
          </p:cNvPr>
          <p:cNvSpPr>
            <a:spLocks xmlns:a="http://schemas.openxmlformats.org/drawingml/2006/main" noGrp="1"/>
          </p:cNvSpPr>
          <p:nvPr/>
        </p:nvSpPr>
        <p:spPr>
          <a:xfrm xmlns:a="http://schemas.openxmlformats.org/drawingml/2006/main">
            <a:off x="666750" y="4629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GET /health : modèle chargé et identité de release</a:t>
            </a:r>
          </a:p>
        </p:txBody>
      </p:sp>
      <p:sp>
        <p:nvSpPr>
          <p:cNvPr id="8" name="">
            <a:extLst xmlns:a="http://schemas.openxmlformats.org/drawingml/2006/main">
              <a:ext uri="{FF2B5EF4-FFF2-40B4-BE49-F238E27FC236}">
                <a16:creationId xmlns:a16="http://schemas.microsoft.com/office/drawing/2014/main" id="{0C252FAF-36EB-406E-9719-F71B00D790F8}"/>
              </a:ext>
            </a:extLst>
          </p:cNvPr>
          <p:cNvSpPr>
            <a:spLocks xmlns:a="http://schemas.openxmlformats.org/drawingml/2006/main" noGrp="1"/>
          </p:cNvSpPr>
          <p:nvPr/>
        </p:nvSpPr>
        <p:spPr>
          <a:xfrm xmlns:a="http://schemas.openxmlformats.org/drawingml/2006/main">
            <a:off x="666750" y="5619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A94B0B"/>
                </a:solidFill>
                <a:latin typeface="Helvetica Neue"/>
                <a:ea typeface="Helvetica Neue"/>
                <a:cs typeface="Helvetica Neue"/>
              </a:defRPr>
            </a:pPr>
            <a:r>
              <a:rPr sz="1800" b="0">
                <a:solidFill>
                  <a:srgbClr val="A94B0B"/>
                </a:solidFill>
                <a:latin typeface="Helvetica Neue"/>
                <a:ea typeface="Helvetica Neue"/>
                <a:cs typeface="Helvetica Neue"/>
              </a:rPr>
              <a:t>Texte non enregistré. Modèle vérifié par empreinte.</a:t>
            </a:r>
          </a:p>
        </p:txBody>
      </p:sp>
    </p:spTree>
    <p:extLst>
      <p:ext uri="{BB962C8B-B14F-4D97-AF65-F5344CB8AC3E}">
        <p14:creationId xmlns:p14="http://schemas.microsoft.com/office/powerpoint/2010/main" val="470999147"/>
      </p:ext>
    </p:extLst>
  </p:cSld>
</p:sld>
</file>

<file path=ppt/slides/slide10.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846EDC-4294-4628-AD31-58DFC6A3428D}"/>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Réentraînement et livraison contrôlés</a:t>
            </a:r>
          </a:p>
        </p:txBody>
      </p:sp>
      <p:sp>
        <p:nvSpPr>
          <p:cNvPr id="2" name="">
            <a:extLst xmlns:a="http://schemas.openxmlformats.org/drawingml/2006/main">
              <a:ext uri="{FF2B5EF4-FFF2-40B4-BE49-F238E27FC236}">
                <a16:creationId xmlns:a16="http://schemas.microsoft.com/office/drawing/2014/main" id="{EA37C58C-54C1-4BA0-858C-7EC800D027F8}"/>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F3E12963-E0AC-44AE-B83D-0CE485135AFF}"/>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A0F2F260-0BEC-4D9F-BEDE-C5EC1398534E}"/>
              </a:ext>
            </a:extLst>
          </p:cNvPr>
          <p:cNvSpPr>
            <a:spLocks xmlns:a="http://schemas.openxmlformats.org/drawingml/2006/main" noGrp="1"/>
          </p:cNvSpPr>
          <p:nvPr/>
        </p:nvSpPr>
        <p:spPr>
          <a:xfrm xmlns:a="http://schemas.openxmlformats.org/drawingml/2006/main">
            <a:off x="666750" y="1714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3B50"/>
                </a:solidFill>
                <a:latin typeface="Helvetica Neue"/>
                <a:ea typeface="Helvetica Neue"/>
                <a:cs typeface="Helvetica Neue"/>
              </a:defRPr>
            </a:pPr>
            <a:r>
              <a:rPr sz="2400" b="1">
                <a:solidFill>
                  <a:srgbClr val="173B50"/>
                </a:solidFill>
                <a:latin typeface="Helvetica Neue"/>
                <a:ea typeface="Helvetica Neue"/>
                <a:cs typeface="Helvetica Neue"/>
              </a:rPr>
              <a:t>1. Un changement des données déclenche un candidat</a:t>
            </a:r>
          </a:p>
        </p:txBody>
      </p:sp>
      <p:sp>
        <p:nvSpPr>
          <p:cNvPr id="5" name="">
            <a:extLst xmlns:a="http://schemas.openxmlformats.org/drawingml/2006/main">
              <a:ext uri="{FF2B5EF4-FFF2-40B4-BE49-F238E27FC236}">
                <a16:creationId xmlns:a16="http://schemas.microsoft.com/office/drawing/2014/main" id="{DD34C4C6-E7D2-4127-AEA6-9C4F414ABEB5}"/>
              </a:ext>
            </a:extLst>
          </p:cNvPr>
          <p:cNvSpPr>
            <a:spLocks xmlns:a="http://schemas.openxmlformats.org/drawingml/2006/main" noGrp="1"/>
          </p:cNvSpPr>
          <p:nvPr/>
        </p:nvSpPr>
        <p:spPr>
          <a:xfrm xmlns:a="http://schemas.openxmlformats.org/drawingml/2006/main">
            <a:off x="666750" y="2686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3B50"/>
                </a:solidFill>
                <a:latin typeface="Helvetica Neue"/>
                <a:ea typeface="Helvetica Neue"/>
                <a:cs typeface="Helvetica Neue"/>
              </a:defRPr>
            </a:pPr>
            <a:r>
              <a:rPr sz="2400" b="1">
                <a:solidFill>
                  <a:srgbClr val="173B50"/>
                </a:solidFill>
                <a:latin typeface="Helvetica Neue"/>
                <a:ea typeface="Helvetica Neue"/>
                <a:cs typeface="Helvetica Neue"/>
              </a:rPr>
              <a:t>2. Le candidat est évalué sur une référence figée</a:t>
            </a:r>
          </a:p>
        </p:txBody>
      </p:sp>
      <p:sp>
        <p:nvSpPr>
          <p:cNvPr id="6" name="">
            <a:extLst xmlns:a="http://schemas.openxmlformats.org/drawingml/2006/main">
              <a:ext uri="{FF2B5EF4-FFF2-40B4-BE49-F238E27FC236}">
                <a16:creationId xmlns:a16="http://schemas.microsoft.com/office/drawing/2014/main" id="{A416A48F-49B5-4C20-8C08-80DEA9C75576}"/>
              </a:ext>
            </a:extLst>
          </p:cNvPr>
          <p:cNvSpPr>
            <a:spLocks xmlns:a="http://schemas.openxmlformats.org/drawingml/2006/main" noGrp="1"/>
          </p:cNvSpPr>
          <p:nvPr/>
        </p:nvSpPr>
        <p:spPr>
          <a:xfrm xmlns:a="http://schemas.openxmlformats.org/drawingml/2006/main">
            <a:off x="666750" y="36576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3B50"/>
                </a:solidFill>
                <a:latin typeface="Helvetica Neue"/>
                <a:ea typeface="Helvetica Neue"/>
                <a:cs typeface="Helvetica Neue"/>
              </a:defRPr>
            </a:pPr>
            <a:r>
              <a:rPr sz="2400" b="1">
                <a:solidFill>
                  <a:srgbClr val="173B50"/>
                </a:solidFill>
                <a:latin typeface="Helvetica Neue"/>
                <a:ea typeface="Helvetica Neue"/>
                <a:cs typeface="Helvetica Neue"/>
              </a:rPr>
              <a:t>3. La dérive et la qualité contrôlent sa promotion</a:t>
            </a:r>
          </a:p>
        </p:txBody>
      </p:sp>
      <p:sp>
        <p:nvSpPr>
          <p:cNvPr id="7" name="">
            <a:extLst xmlns:a="http://schemas.openxmlformats.org/drawingml/2006/main">
              <a:ext uri="{FF2B5EF4-FFF2-40B4-BE49-F238E27FC236}">
                <a16:creationId xmlns:a16="http://schemas.microsoft.com/office/drawing/2014/main" id="{02A20614-12EF-43BF-A33C-8D3BE1AB1E24}"/>
              </a:ext>
            </a:extLst>
          </p:cNvPr>
          <p:cNvSpPr>
            <a:spLocks xmlns:a="http://schemas.openxmlformats.org/drawingml/2006/main" noGrp="1"/>
          </p:cNvSpPr>
          <p:nvPr/>
        </p:nvSpPr>
        <p:spPr>
          <a:xfrm xmlns:a="http://schemas.openxmlformats.org/drawingml/2006/main">
            <a:off x="666750" y="4629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3B50"/>
                </a:solidFill>
                <a:latin typeface="Helvetica Neue"/>
                <a:ea typeface="Helvetica Neue"/>
                <a:cs typeface="Helvetica Neue"/>
              </a:defRPr>
            </a:pPr>
            <a:r>
              <a:rPr sz="2400" b="1">
                <a:solidFill>
                  <a:srgbClr val="173B50"/>
                </a:solidFill>
                <a:latin typeface="Helvetica Neue"/>
                <a:ea typeface="Helvetica Neue"/>
                <a:cs typeface="Helvetica Neue"/>
              </a:rPr>
              <a:t>4. Une livraison refusée conserve le modèle courant</a:t>
            </a:r>
          </a:p>
        </p:txBody>
      </p:sp>
      <p:sp>
        <p:nvSpPr>
          <p:cNvPr id="8" name="">
            <a:extLst xmlns:a="http://schemas.openxmlformats.org/drawingml/2006/main">
              <a:ext uri="{FF2B5EF4-FFF2-40B4-BE49-F238E27FC236}">
                <a16:creationId xmlns:a16="http://schemas.microsoft.com/office/drawing/2014/main" id="{0C252FAF-36EB-406E-9719-F71B00D790F8}"/>
              </a:ext>
            </a:extLst>
          </p:cNvPr>
          <p:cNvSpPr>
            <a:spLocks xmlns:a="http://schemas.openxmlformats.org/drawingml/2006/main" noGrp="1"/>
          </p:cNvSpPr>
          <p:nvPr/>
        </p:nvSpPr>
        <p:spPr>
          <a:xfrm xmlns:a="http://schemas.openxmlformats.org/drawingml/2006/main">
            <a:off x="666750" y="5619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A64B17"/>
                </a:solidFill>
                <a:latin typeface="Helvetica Neue"/>
                <a:ea typeface="Helvetica Neue"/>
                <a:cs typeface="Helvetica Neue"/>
              </a:defRPr>
            </a:pPr>
            <a:r>
              <a:rPr sz="1800" b="0">
                <a:solidFill>
                  <a:srgbClr val="A64B17"/>
                </a:solidFill>
                <a:latin typeface="Helvetica Neue"/>
                <a:ea typeface="Helvetica Neue"/>
                <a:cs typeface="Helvetica Neue"/>
              </a:rPr>
              <a:t>Mécanismes testés sur fixtures. Revue humaine TASS à réaliser</a:t>
            </a:r>
          </a:p>
        </p:txBody>
      </p:sp>
    </p:spTree>
    <p:extLst>
      <p:ext uri="{BB962C8B-B14F-4D97-AF65-F5344CB8AC3E}">
        <p14:creationId xmlns:p14="http://schemas.microsoft.com/office/powerpoint/2010/main" val="470999147"/>
      </p:ext>
    </p:extLst>
  </p:cSld>
</p:sld>
</file>

<file path=ppt/slides/slide11.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846EDC-4294-4628-AD31-58DFC6A3428D}"/>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Conditions de promotion d’un candidat</a:t>
            </a:r>
          </a:p>
        </p:txBody>
      </p:sp>
      <p:sp>
        <p:nvSpPr>
          <p:cNvPr id="2" name="">
            <a:extLst xmlns:a="http://schemas.openxmlformats.org/drawingml/2006/main">
              <a:ext uri="{FF2B5EF4-FFF2-40B4-BE49-F238E27FC236}">
                <a16:creationId xmlns:a16="http://schemas.microsoft.com/office/drawing/2014/main" id="{EA37C58C-54C1-4BA0-858C-7EC800D027F8}"/>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F3E12963-E0AC-44AE-B83D-0CE485135AFF}"/>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A0F2F260-0BEC-4D9F-BEDE-C5EC1398534E}"/>
              </a:ext>
            </a:extLst>
          </p:cNvPr>
          <p:cNvSpPr>
            <a:spLocks xmlns:a="http://schemas.openxmlformats.org/drawingml/2006/main" noGrp="1"/>
          </p:cNvSpPr>
          <p:nvPr/>
        </p:nvSpPr>
        <p:spPr>
          <a:xfrm xmlns:a="http://schemas.openxmlformats.org/drawingml/2006/main">
            <a:off x="666750" y="1714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Annotations revues pour l’apprentissage et le test</a:t>
            </a:r>
          </a:p>
        </p:txBody>
      </p:sp>
      <p:sp>
        <p:nvSpPr>
          <p:cNvPr id="5" name="">
            <a:extLst xmlns:a="http://schemas.openxmlformats.org/drawingml/2006/main">
              <a:ext uri="{FF2B5EF4-FFF2-40B4-BE49-F238E27FC236}">
                <a16:creationId xmlns:a16="http://schemas.microsoft.com/office/drawing/2014/main" id="{DD34C4C6-E7D2-4127-AEA6-9C4F414ABEB5}"/>
              </a:ext>
            </a:extLst>
          </p:cNvPr>
          <p:cNvSpPr>
            <a:spLocks xmlns:a="http://schemas.openxmlformats.org/drawingml/2006/main" noGrp="1"/>
          </p:cNvSpPr>
          <p:nvPr/>
        </p:nvSpPr>
        <p:spPr>
          <a:xfrm xmlns:a="http://schemas.openxmlformats.org/drawingml/2006/main">
            <a:off x="666750" y="2686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F1 global ≥ 70 %, rappel ≥ 50 % pour chaque label</a:t>
            </a:r>
          </a:p>
        </p:txBody>
      </p:sp>
      <p:sp>
        <p:nvSpPr>
          <p:cNvPr id="6" name="">
            <a:extLst xmlns:a="http://schemas.openxmlformats.org/drawingml/2006/main">
              <a:ext uri="{FF2B5EF4-FFF2-40B4-BE49-F238E27FC236}">
                <a16:creationId xmlns:a16="http://schemas.microsoft.com/office/drawing/2014/main" id="{A416A48F-49B5-4C20-8C08-80DEA9C75576}"/>
              </a:ext>
            </a:extLst>
          </p:cNvPr>
          <p:cNvSpPr>
            <a:spLocks xmlns:a="http://schemas.openxmlformats.org/drawingml/2006/main" noGrp="1"/>
          </p:cNvSpPr>
          <p:nvPr/>
        </p:nvSpPr>
        <p:spPr>
          <a:xfrm xmlns:a="http://schemas.openxmlformats.org/drawingml/2006/main">
            <a:off x="666750" y="36576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Au moins 100 articles de test et 20 mentions par label</a:t>
            </a:r>
          </a:p>
        </p:txBody>
      </p:sp>
      <p:sp>
        <p:nvSpPr>
          <p:cNvPr id="7" name="">
            <a:extLst xmlns:a="http://schemas.openxmlformats.org/drawingml/2006/main">
              <a:ext uri="{FF2B5EF4-FFF2-40B4-BE49-F238E27FC236}">
                <a16:creationId xmlns:a16="http://schemas.microsoft.com/office/drawing/2014/main" id="{02A20614-12EF-43BF-A33C-8D3BE1AB1E24}"/>
              </a:ext>
            </a:extLst>
          </p:cNvPr>
          <p:cNvSpPr>
            <a:spLocks xmlns:a="http://schemas.openxmlformats.org/drawingml/2006/main" noGrp="1"/>
          </p:cNvSpPr>
          <p:nvPr/>
        </p:nvSpPr>
        <p:spPr>
          <a:xfrm xmlns:a="http://schemas.openxmlformats.org/drawingml/2006/main">
            <a:off x="666750" y="4629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Empreinte du modèle contrôlée et dérive non bloquante</a:t>
            </a:r>
          </a:p>
        </p:txBody>
      </p:sp>
      <p:sp>
        <p:nvSpPr>
          <p:cNvPr id="8" name="">
            <a:extLst xmlns:a="http://schemas.openxmlformats.org/drawingml/2006/main">
              <a:ext uri="{FF2B5EF4-FFF2-40B4-BE49-F238E27FC236}">
                <a16:creationId xmlns:a16="http://schemas.microsoft.com/office/drawing/2014/main" id="{0C252FAF-36EB-406E-9719-F71B00D790F8}"/>
              </a:ext>
            </a:extLst>
          </p:cNvPr>
          <p:cNvSpPr>
            <a:spLocks xmlns:a="http://schemas.openxmlformats.org/drawingml/2006/main" noGrp="1"/>
          </p:cNvSpPr>
          <p:nvPr/>
        </p:nvSpPr>
        <p:spPr>
          <a:xfrm xmlns:a="http://schemas.openxmlformats.org/drawingml/2006/main">
            <a:off x="666750" y="5619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A94B0B"/>
                </a:solidFill>
                <a:latin typeface="Helvetica Neue"/>
                <a:ea typeface="Helvetica Neue"/>
                <a:cs typeface="Helvetica Neue"/>
              </a:defRPr>
            </a:pPr>
            <a:r>
              <a:rPr sz="1800" b="0">
                <a:solidFill>
                  <a:srgbClr val="A94B0B"/>
                </a:solidFill>
                <a:latin typeface="Helvetica Neue"/>
                <a:ea typeface="Helvetica Neue"/>
                <a:cs typeface="Helvetica Neue"/>
              </a:rPr>
              <a:t>Seuils choisis pour le projet. La référence TASS actuelle reste insuffisante</a:t>
            </a:r>
          </a:p>
        </p:txBody>
      </p:sp>
    </p:spTree>
    <p:extLst>
      <p:ext uri="{BB962C8B-B14F-4D97-AF65-F5344CB8AC3E}">
        <p14:creationId xmlns:p14="http://schemas.microsoft.com/office/powerpoint/2010/main" val="470999147"/>
      </p:ext>
    </p:extLst>
  </p:cSld>
</p:sld>
</file>

<file path=ppt/slides/slide12.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846EDC-4294-4628-AD31-58DFC6A3428D}"/>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Intégration et livraison continues</a:t>
            </a:r>
          </a:p>
        </p:txBody>
      </p:sp>
      <p:sp>
        <p:nvSpPr>
          <p:cNvPr id="2" name="">
            <a:extLst xmlns:a="http://schemas.openxmlformats.org/drawingml/2006/main">
              <a:ext uri="{FF2B5EF4-FFF2-40B4-BE49-F238E27FC236}">
                <a16:creationId xmlns:a16="http://schemas.microsoft.com/office/drawing/2014/main" id="{EA37C58C-54C1-4BA0-858C-7EC800D027F8}"/>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F3E12963-E0AC-44AE-B83D-0CE485135AFF}"/>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A0F2F260-0BEC-4D9F-BEDE-C5EC1398534E}"/>
              </a:ext>
            </a:extLst>
          </p:cNvPr>
          <p:cNvSpPr>
            <a:spLocks xmlns:a="http://schemas.openxmlformats.org/drawingml/2006/main" noGrp="1"/>
          </p:cNvSpPr>
          <p:nvPr/>
        </p:nvSpPr>
        <p:spPr>
          <a:xfrm xmlns:a="http://schemas.openxmlformats.org/drawingml/2006/main">
            <a:off x="666750" y="1714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Un changement des sources déclenche la chaîne locale</a:t>
            </a:r>
          </a:p>
        </p:txBody>
      </p:sp>
      <p:sp>
        <p:nvSpPr>
          <p:cNvPr id="5" name="">
            <a:extLst xmlns:a="http://schemas.openxmlformats.org/drawingml/2006/main">
              <a:ext uri="{FF2B5EF4-FFF2-40B4-BE49-F238E27FC236}">
                <a16:creationId xmlns:a16="http://schemas.microsoft.com/office/drawing/2014/main" id="{DD34C4C6-E7D2-4127-AEA6-9C4F414ABEB5}"/>
              </a:ext>
            </a:extLst>
          </p:cNvPr>
          <p:cNvSpPr>
            <a:spLocks xmlns:a="http://schemas.openxmlformats.org/drawingml/2006/main" noGrp="1"/>
          </p:cNvSpPr>
          <p:nvPr/>
        </p:nvSpPr>
        <p:spPr>
          <a:xfrm xmlns:a="http://schemas.openxmlformats.org/drawingml/2006/main">
            <a:off x="666750" y="2686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La chaîne contrôle le code et exécute les tests</a:t>
            </a:r>
          </a:p>
        </p:txBody>
      </p:sp>
      <p:sp>
        <p:nvSpPr>
          <p:cNvPr id="6" name="">
            <a:extLst xmlns:a="http://schemas.openxmlformats.org/drawingml/2006/main">
              <a:ext uri="{FF2B5EF4-FFF2-40B4-BE49-F238E27FC236}">
                <a16:creationId xmlns:a16="http://schemas.microsoft.com/office/drawing/2014/main" id="{A416A48F-49B5-4C20-8C08-80DEA9C75576}"/>
              </a:ext>
            </a:extLst>
          </p:cNvPr>
          <p:cNvSpPr>
            <a:spLocks xmlns:a="http://schemas.openxmlformats.org/drawingml/2006/main" noGrp="1"/>
          </p:cNvSpPr>
          <p:nvPr/>
        </p:nvSpPr>
        <p:spPr>
          <a:xfrm xmlns:a="http://schemas.openxmlformats.org/drawingml/2006/main">
            <a:off x="666750" y="36576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Paquet wheel et image Docker construits et testés</a:t>
            </a:r>
          </a:p>
        </p:txBody>
      </p:sp>
      <p:sp>
        <p:nvSpPr>
          <p:cNvPr id="7" name="">
            <a:extLst xmlns:a="http://schemas.openxmlformats.org/drawingml/2006/main">
              <a:ext uri="{FF2B5EF4-FFF2-40B4-BE49-F238E27FC236}">
                <a16:creationId xmlns:a16="http://schemas.microsoft.com/office/drawing/2014/main" id="{02A20614-12EF-43BF-A33C-8D3BE1AB1E24}"/>
              </a:ext>
            </a:extLst>
          </p:cNvPr>
          <p:cNvSpPr>
            <a:spLocks xmlns:a="http://schemas.openxmlformats.org/drawingml/2006/main" noGrp="1"/>
          </p:cNvSpPr>
          <p:nvPr/>
        </p:nvSpPr>
        <p:spPr>
          <a:xfrm xmlns:a="http://schemas.openxmlformats.org/drawingml/2006/main">
            <a:off x="666750" y="4629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Elle bascule vers un backend sain à adresse stable</a:t>
            </a:r>
          </a:p>
        </p:txBody>
      </p:sp>
      <p:sp>
        <p:nvSpPr>
          <p:cNvPr id="8" name="">
            <a:extLst xmlns:a="http://schemas.openxmlformats.org/drawingml/2006/main">
              <a:ext uri="{FF2B5EF4-FFF2-40B4-BE49-F238E27FC236}">
                <a16:creationId xmlns:a16="http://schemas.microsoft.com/office/drawing/2014/main" id="{0C252FAF-36EB-406E-9719-F71B00D790F8}"/>
              </a:ext>
            </a:extLst>
          </p:cNvPr>
          <p:cNvSpPr>
            <a:spLocks xmlns:a="http://schemas.openxmlformats.org/drawingml/2006/main" noGrp="1"/>
          </p:cNvSpPr>
          <p:nvPr/>
        </p:nvSpPr>
        <p:spPr>
          <a:xfrm xmlns:a="http://schemas.openxmlformats.org/drawingml/2006/main">
            <a:off x="666750" y="5619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A94B0B"/>
                </a:solidFill>
                <a:latin typeface="Helvetica Neue"/>
                <a:ea typeface="Helvetica Neue"/>
                <a:cs typeface="Helvetica Neue"/>
              </a:defRPr>
            </a:pPr>
            <a:r>
              <a:rPr sz="1800" b="0">
                <a:solidFill>
                  <a:srgbClr val="A94B0B"/>
                </a:solidFill>
                <a:latin typeface="Helvetica Neue"/>
                <a:ea typeface="Helvetica Neue"/>
                <a:cs typeface="Helvetica Neue"/>
              </a:rPr>
              <a:t>Mise à jour et retour arrière vérifiés sur le poste local</a:t>
            </a:r>
          </a:p>
        </p:txBody>
      </p:sp>
    </p:spTree>
    <p:extLst>
      <p:ext uri="{BB962C8B-B14F-4D97-AF65-F5344CB8AC3E}">
        <p14:creationId xmlns:p14="http://schemas.microsoft.com/office/powerpoint/2010/main" val="470999147"/>
      </p:ext>
    </p:extLst>
  </p:cSld>
</p:sld>
</file>

<file path=ppt/slides/slide1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846EDC-4294-4628-AD31-58DFC6A3428D}"/>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Mise à jour et retour arrière</a:t>
            </a:r>
          </a:p>
        </p:txBody>
      </p:sp>
      <p:sp>
        <p:nvSpPr>
          <p:cNvPr id="2" name="">
            <a:extLst xmlns:a="http://schemas.openxmlformats.org/drawingml/2006/main">
              <a:ext uri="{FF2B5EF4-FFF2-40B4-BE49-F238E27FC236}">
                <a16:creationId xmlns:a16="http://schemas.microsoft.com/office/drawing/2014/main" id="{EA37C58C-54C1-4BA0-858C-7EC800D027F8}"/>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F3E12963-E0AC-44AE-B83D-0CE485135AFF}"/>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A0F2F260-0BEC-4D9F-BEDE-C5EC1398534E}"/>
              </a:ext>
            </a:extLst>
          </p:cNvPr>
          <p:cNvSpPr>
            <a:spLocks xmlns:a="http://schemas.openxmlformats.org/drawingml/2006/main" noGrp="1"/>
          </p:cNvSpPr>
          <p:nvPr/>
        </p:nvSpPr>
        <p:spPr>
          <a:xfrm xmlns:a="http://schemas.openxmlformats.org/drawingml/2006/main">
            <a:off x="666750" y="1714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Le nouveau service démarre dans une release distincte</a:t>
            </a:r>
          </a:p>
        </p:txBody>
      </p:sp>
      <p:sp>
        <p:nvSpPr>
          <p:cNvPr id="5" name="">
            <a:extLst xmlns:a="http://schemas.openxmlformats.org/drawingml/2006/main">
              <a:ext uri="{FF2B5EF4-FFF2-40B4-BE49-F238E27FC236}">
                <a16:creationId xmlns:a16="http://schemas.microsoft.com/office/drawing/2014/main" id="{DD34C4C6-E7D2-4127-AEA6-9C4F414ABEB5}"/>
              </a:ext>
            </a:extLst>
          </p:cNvPr>
          <p:cNvSpPr>
            <a:spLocks xmlns:a="http://schemas.openxmlformats.org/drawingml/2006/main" noGrp="1"/>
          </p:cNvSpPr>
          <p:nvPr/>
        </p:nvSpPr>
        <p:spPr>
          <a:xfrm xmlns:a="http://schemas.openxmlformats.org/drawingml/2006/main">
            <a:off x="666750" y="2686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Le contrôle de santé précède la bascule de la passerelle</a:t>
            </a:r>
          </a:p>
        </p:txBody>
      </p:sp>
      <p:sp>
        <p:nvSpPr>
          <p:cNvPr id="6" name="">
            <a:extLst xmlns:a="http://schemas.openxmlformats.org/drawingml/2006/main">
              <a:ext uri="{FF2B5EF4-FFF2-40B4-BE49-F238E27FC236}">
                <a16:creationId xmlns:a16="http://schemas.microsoft.com/office/drawing/2014/main" id="{A416A48F-49B5-4C20-8C08-80DEA9C75576}"/>
              </a:ext>
            </a:extLst>
          </p:cNvPr>
          <p:cNvSpPr>
            <a:spLocks xmlns:a="http://schemas.openxmlformats.org/drawingml/2006/main" noGrp="1"/>
          </p:cNvSpPr>
          <p:nvPr/>
        </p:nvSpPr>
        <p:spPr>
          <a:xfrm xmlns:a="http://schemas.openxmlformats.org/drawingml/2006/main">
            <a:off x="666750" y="36576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L’adresse locale reste stable pendant la mise à jour</a:t>
            </a:r>
          </a:p>
        </p:txBody>
      </p:sp>
      <p:sp>
        <p:nvSpPr>
          <p:cNvPr id="7" name="">
            <a:extLst xmlns:a="http://schemas.openxmlformats.org/drawingml/2006/main">
              <a:ext uri="{FF2B5EF4-FFF2-40B4-BE49-F238E27FC236}">
                <a16:creationId xmlns:a16="http://schemas.microsoft.com/office/drawing/2014/main" id="{02A20614-12EF-43BF-A33C-8D3BE1AB1E24}"/>
              </a:ext>
            </a:extLst>
          </p:cNvPr>
          <p:cNvSpPr>
            <a:spLocks xmlns:a="http://schemas.openxmlformats.org/drawingml/2006/main" noGrp="1"/>
          </p:cNvSpPr>
          <p:nvPr/>
        </p:nvSpPr>
        <p:spPr>
          <a:xfrm xmlns:a="http://schemas.openxmlformats.org/drawingml/2006/main">
            <a:off x="666750" y="4629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Le service précédent reste disponible pour le retour arrière</a:t>
            </a:r>
          </a:p>
        </p:txBody>
      </p:sp>
      <p:sp>
        <p:nvSpPr>
          <p:cNvPr id="8" name="">
            <a:extLst xmlns:a="http://schemas.openxmlformats.org/drawingml/2006/main">
              <a:ext uri="{FF2B5EF4-FFF2-40B4-BE49-F238E27FC236}">
                <a16:creationId xmlns:a16="http://schemas.microsoft.com/office/drawing/2014/main" id="{0C252FAF-36EB-406E-9719-F71B00D790F8}"/>
              </a:ext>
            </a:extLst>
          </p:cNvPr>
          <p:cNvSpPr>
            <a:spLocks xmlns:a="http://schemas.openxmlformats.org/drawingml/2006/main" noGrp="1"/>
          </p:cNvSpPr>
          <p:nvPr/>
        </p:nvSpPr>
        <p:spPr>
          <a:xfrm xmlns:a="http://schemas.openxmlformats.org/drawingml/2006/main">
            <a:off x="666750" y="5619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A94B0B"/>
                </a:solidFill>
                <a:latin typeface="Helvetica Neue"/>
                <a:ea typeface="Helvetica Neue"/>
                <a:cs typeface="Helvetica Neue"/>
              </a:defRPr>
            </a:pPr>
            <a:r>
              <a:rPr sz="1800" b="0">
                <a:solidFill>
                  <a:srgbClr val="A94B0B"/>
                </a:solidFill>
                <a:latin typeface="Helvetica Neue"/>
                <a:ea typeface="Helvetica Neue"/>
                <a:cs typeface="Helvetica Neue"/>
              </a:rPr>
              <a:t>Mise à jour, retour arrière et refus de corruption testés sur fixtures</a:t>
            </a:r>
          </a:p>
        </p:txBody>
      </p:sp>
    </p:spTree>
    <p:extLst>
      <p:ext uri="{BB962C8B-B14F-4D97-AF65-F5344CB8AC3E}">
        <p14:creationId xmlns:p14="http://schemas.microsoft.com/office/powerpoint/2010/main" val="470999147"/>
      </p:ext>
    </p:extLst>
  </p:cSld>
</p:sld>
</file>

<file path=ppt/slides/slide14.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846EDC-4294-4628-AD31-58DFC6A3428D}"/>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Monitoring et dérive</a:t>
            </a:r>
          </a:p>
        </p:txBody>
      </p:sp>
      <p:sp>
        <p:nvSpPr>
          <p:cNvPr id="2" name="">
            <a:extLst xmlns:a="http://schemas.openxmlformats.org/drawingml/2006/main">
              <a:ext uri="{FF2B5EF4-FFF2-40B4-BE49-F238E27FC236}">
                <a16:creationId xmlns:a16="http://schemas.microsoft.com/office/drawing/2014/main" id="{EA37C58C-54C1-4BA0-858C-7EC800D027F8}"/>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F3E12963-E0AC-44AE-B83D-0CE485135AFF}"/>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A0F2F260-0BEC-4D9F-BEDE-C5EC1398534E}"/>
              </a:ext>
            </a:extLst>
          </p:cNvPr>
          <p:cNvSpPr>
            <a:spLocks xmlns:a="http://schemas.openxmlformats.org/drawingml/2006/main" noGrp="1"/>
          </p:cNvSpPr>
          <p:nvPr/>
        </p:nvSpPr>
        <p:spPr>
          <a:xfrm xmlns:a="http://schemas.openxmlformats.org/drawingml/2006/main">
            <a:off x="666750" y="1714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Comparaison des distributions de longueur des textes</a:t>
            </a:r>
          </a:p>
        </p:txBody>
      </p:sp>
      <p:sp>
        <p:nvSpPr>
          <p:cNvPr id="5" name="">
            <a:extLst xmlns:a="http://schemas.openxmlformats.org/drawingml/2006/main">
              <a:ext uri="{FF2B5EF4-FFF2-40B4-BE49-F238E27FC236}">
                <a16:creationId xmlns:a16="http://schemas.microsoft.com/office/drawing/2014/main" id="{DD34C4C6-E7D2-4127-AEA6-9C4F414ABEB5}"/>
              </a:ext>
            </a:extLst>
          </p:cNvPr>
          <p:cNvSpPr>
            <a:spLocks xmlns:a="http://schemas.openxmlformats.org/drawingml/2006/main" noGrp="1"/>
          </p:cNvSpPr>
          <p:nvPr/>
        </p:nvSpPr>
        <p:spPr>
          <a:xfrm xmlns:a="http://schemas.openxmlformats.org/drawingml/2006/main">
            <a:off x="666750" y="2686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Une dérive déclenche une alerte locale et une revue</a:t>
            </a:r>
          </a:p>
        </p:txBody>
      </p:sp>
      <p:sp>
        <p:nvSpPr>
          <p:cNvPr id="6" name="">
            <a:extLst xmlns:a="http://schemas.openxmlformats.org/drawingml/2006/main">
              <a:ext uri="{FF2B5EF4-FFF2-40B4-BE49-F238E27FC236}">
                <a16:creationId xmlns:a16="http://schemas.microsoft.com/office/drawing/2014/main" id="{A416A48F-49B5-4C20-8C08-80DEA9C75576}"/>
              </a:ext>
            </a:extLst>
          </p:cNvPr>
          <p:cNvSpPr>
            <a:spLocks xmlns:a="http://schemas.openxmlformats.org/drawingml/2006/main" noGrp="1"/>
          </p:cNvSpPr>
          <p:nvPr/>
        </p:nvSpPr>
        <p:spPr>
          <a:xfrm xmlns:a="http://schemas.openxmlformats.org/drawingml/2006/main">
            <a:off x="666750" y="36576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Une baisse de F1 exige la même référence humaine</a:t>
            </a:r>
          </a:p>
        </p:txBody>
      </p:sp>
      <p:sp>
        <p:nvSpPr>
          <p:cNvPr id="7" name="">
            <a:extLst xmlns:a="http://schemas.openxmlformats.org/drawingml/2006/main">
              <a:ext uri="{FF2B5EF4-FFF2-40B4-BE49-F238E27FC236}">
                <a16:creationId xmlns:a16="http://schemas.microsoft.com/office/drawing/2014/main" id="{02A20614-12EF-43BF-A33C-8D3BE1AB1E24}"/>
              </a:ext>
            </a:extLst>
          </p:cNvPr>
          <p:cNvSpPr>
            <a:spLocks xmlns:a="http://schemas.openxmlformats.org/drawingml/2006/main" noGrp="1"/>
          </p:cNvSpPr>
          <p:nvPr/>
        </p:nvSpPr>
        <p:spPr>
          <a:xfrm xmlns:a="http://schemas.openxmlformats.org/drawingml/2006/main">
            <a:off x="666750" y="4629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La dérive gèle la promotion du candidat</a:t>
            </a:r>
          </a:p>
        </p:txBody>
      </p:sp>
      <p:sp>
        <p:nvSpPr>
          <p:cNvPr id="8" name="">
            <a:extLst xmlns:a="http://schemas.openxmlformats.org/drawingml/2006/main">
              <a:ext uri="{FF2B5EF4-FFF2-40B4-BE49-F238E27FC236}">
                <a16:creationId xmlns:a16="http://schemas.microsoft.com/office/drawing/2014/main" id="{0C252FAF-36EB-406E-9719-F71B00D790F8}"/>
              </a:ext>
            </a:extLst>
          </p:cNvPr>
          <p:cNvSpPr>
            <a:spLocks xmlns:a="http://schemas.openxmlformats.org/drawingml/2006/main" noGrp="1"/>
          </p:cNvSpPr>
          <p:nvPr/>
        </p:nvSpPr>
        <p:spPr>
          <a:xfrm xmlns:a="http://schemas.openxmlformats.org/drawingml/2006/main">
            <a:off x="666750" y="5619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A94B0B"/>
                </a:solidFill>
                <a:latin typeface="Helvetica Neue"/>
                <a:ea typeface="Helvetica Neue"/>
                <a:cs typeface="Helvetica Neue"/>
              </a:defRPr>
            </a:pPr>
            <a:r>
              <a:rPr sz="1800" b="0">
                <a:solidFill>
                  <a:srgbClr val="A94B0B"/>
                </a:solidFill>
                <a:latin typeface="Helvetica Neue"/>
                <a:ea typeface="Helvetica Neue"/>
                <a:cs typeface="Helvetica Neue"/>
              </a:rPr>
              <a:t>Capteur limité à la longueur. Qualité temporelle encore indisponible</a:t>
            </a:r>
          </a:p>
        </p:txBody>
      </p:sp>
    </p:spTree>
    <p:extLst>
      <p:ext uri="{BB962C8B-B14F-4D97-AF65-F5344CB8AC3E}">
        <p14:creationId xmlns:p14="http://schemas.microsoft.com/office/powerpoint/2010/main" val="470999147"/>
      </p:ext>
    </p:extLst>
  </p:cSld>
</p:sld>
</file>

<file path=ppt/slides/slide15.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D3AF8B-7EB6-456D-9033-65AB7D6B6042}"/>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Limites et prochaine étape</a:t>
            </a:r>
          </a:p>
        </p:txBody>
      </p:sp>
      <p:sp>
        <p:nvSpPr>
          <p:cNvPr id="2" name="">
            <a:extLst xmlns:a="http://schemas.openxmlformats.org/drawingml/2006/main">
              <a:ext uri="{FF2B5EF4-FFF2-40B4-BE49-F238E27FC236}">
                <a16:creationId xmlns:a16="http://schemas.microsoft.com/office/drawing/2014/main" id="{3C46CD2A-D838-41ED-B626-2D1BF8DE796C}"/>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A4A0D299-0335-444D-A340-71AF6176F16E}"/>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1F8FC3B4-AD7F-4978-B632-A21BB807BDE8}"/>
              </a:ext>
            </a:extLst>
          </p:cNvPr>
          <p:cNvSpPr>
            <a:spLocks xmlns:a="http://schemas.openxmlformats.org/drawingml/2006/main" noGrp="1"/>
          </p:cNvSpPr>
          <p:nvPr/>
        </p:nvSpPr>
        <p:spPr>
          <a:xfrm xmlns:a="http://schemas.openxmlformats.org/drawingml/2006/main">
            <a:off x="666750" y="16192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173B50"/>
                </a:solidFill>
                <a:latin typeface="Helvetica Neue"/>
                <a:ea typeface="Helvetica Neue"/>
                <a:cs typeface="Helvetica Neue"/>
              </a:defRPr>
            </a:pPr>
            <a:r>
              <a:rPr sz="2700" b="1">
                <a:solidFill>
                  <a:srgbClr val="173B50"/>
                </a:solidFill>
                <a:latin typeface="Helvetica Neue"/>
                <a:ea typeface="Helvetica Neue"/>
                <a:cs typeface="Helvetica Neue"/>
              </a:rPr>
              <a:t>Une extraction locale reproductible</a:t>
            </a:r>
          </a:p>
        </p:txBody>
      </p:sp>
      <p:sp>
        <p:nvSpPr>
          <p:cNvPr id="5" name="">
            <a:extLst xmlns:a="http://schemas.openxmlformats.org/drawingml/2006/main">
              <a:ext uri="{FF2B5EF4-FFF2-40B4-BE49-F238E27FC236}">
                <a16:creationId xmlns:a16="http://schemas.microsoft.com/office/drawing/2014/main" id="{F83D925D-C6B5-46B6-99FD-2A7D36721E64}"/>
              </a:ext>
            </a:extLst>
          </p:cNvPr>
          <p:cNvSpPr>
            <a:spLocks xmlns:a="http://schemas.openxmlformats.org/drawingml/2006/main" noGrp="1"/>
          </p:cNvSpPr>
          <p:nvPr/>
        </p:nvSpPr>
        <p:spPr>
          <a:xfrm xmlns:a="http://schemas.openxmlformats.org/drawingml/2006/main">
            <a:off x="666750" y="26670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213D50"/>
                </a:solidFill>
                <a:latin typeface="Helvetica Neue"/>
                <a:ea typeface="Helvetica Neue"/>
                <a:cs typeface="Helvetica Neue"/>
              </a:defRPr>
            </a:pPr>
            <a:r>
              <a:rPr sz="2325" b="0">
                <a:solidFill>
                  <a:srgbClr val="213D50"/>
                </a:solidFill>
                <a:latin typeface="Helvetica Neue"/>
                <a:ea typeface="Helvetica Neue"/>
                <a:cs typeface="Helvetica Neue"/>
              </a:rPr>
              <a:t>Le corpus conserve ses passages sources.</a:t>
            </a:r>
          </a:p>
          <a:p xmlns:a="http://schemas.openxmlformats.org/drawingml/2006/main">
            <a:pPr>
              <a:buNone/>
              <a:defRPr sz="2325" b="0">
                <a:solidFill>
                  <a:srgbClr val="213D50"/>
                </a:solidFill>
                <a:latin typeface="Helvetica Neue"/>
                <a:ea typeface="Helvetica Neue"/>
                <a:cs typeface="Helvetica Neue"/>
              </a:defRPr>
            </a:pPr>
            <a:r>
              <a:rPr sz="2325" b="0">
                <a:solidFill>
                  <a:srgbClr val="213D50"/>
                </a:solidFill>
                <a:latin typeface="Helvetica Neue"/>
                <a:ea typeface="Helvetica Neue"/>
                <a:cs typeface="Helvetica Neue"/>
              </a:rPr>
              <a:t>API, mise à jour et retour arrière vérifiés en local.</a:t>
            </a:r>
          </a:p>
        </p:txBody>
      </p:sp>
      <p:sp>
        <p:nvSpPr>
          <p:cNvPr id="6" name="">
            <a:extLst xmlns:a="http://schemas.openxmlformats.org/drawingml/2006/main">
              <a:ext uri="{FF2B5EF4-FFF2-40B4-BE49-F238E27FC236}">
                <a16:creationId xmlns:a16="http://schemas.microsoft.com/office/drawing/2014/main" id="{D8BC0E4B-79F9-4F6F-9413-4C1C2B3D2B3C}"/>
              </a:ext>
            </a:extLst>
          </p:cNvPr>
          <p:cNvSpPr>
            <a:spLocks xmlns:a="http://schemas.openxmlformats.org/drawingml/2006/main" noGrp="1"/>
          </p:cNvSpPr>
          <p:nvPr/>
        </p:nvSpPr>
        <p:spPr>
          <a:xfrm xmlns:a="http://schemas.openxmlformats.org/drawingml/2006/main">
            <a:off x="666750" y="4048125"/>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A64B17"/>
                </a:solidFill>
                <a:latin typeface="Helvetica Neue"/>
                <a:ea typeface="Helvetica Neue"/>
                <a:cs typeface="Helvetica Neue"/>
              </a:defRPr>
            </a:pPr>
            <a:r>
              <a:rPr sz="2325" b="1">
                <a:solidFill>
                  <a:srgbClr val="A64B17"/>
                </a:solidFill>
                <a:latin typeface="Helvetica Neue"/>
                <a:ea typeface="Helvetica Neue"/>
                <a:cs typeface="Helvetica Neue"/>
              </a:rPr>
              <a:t>Priorité : revue humaine et comparaison des candidats</a:t>
            </a:r>
          </a:p>
          <a:p xmlns:a="http://schemas.openxmlformats.org/drawingml/2006/main">
            <a:pPr>
              <a:buNone/>
              <a:defRPr sz="2325" b="1">
                <a:solidFill>
                  <a:srgbClr val="A64B17"/>
                </a:solidFill>
                <a:latin typeface="Helvetica Neue"/>
                <a:ea typeface="Helvetica Neue"/>
                <a:cs typeface="Helvetica Neue"/>
              </a:defRPr>
            </a:pPr>
            <a:r>
              <a:rPr sz="2325" b="1">
                <a:solidFill>
                  <a:srgbClr val="A64B17"/>
                </a:solidFill>
                <a:latin typeface="Helvetica Neue"/>
                <a:ea typeface="Helvetica Neue"/>
                <a:cs typeface="Helvetica Neue"/>
              </a:rPr>
              <a:t>sur une référence commune et traçable.</a:t>
            </a:r>
          </a:p>
        </p:txBody>
      </p:sp>
      <p:sp>
        <p:nvSpPr>
          <p:cNvPr id="7" name="">
            <a:extLst xmlns:a="http://schemas.openxmlformats.org/drawingml/2006/main">
              <a:ext uri="{FF2B5EF4-FFF2-40B4-BE49-F238E27FC236}">
                <a16:creationId xmlns:a16="http://schemas.microsoft.com/office/drawing/2014/main" id="{37BDCD37-FF88-4A30-8518-162B5294FC81}"/>
              </a:ext>
            </a:extLst>
          </p:cNvPr>
          <p:cNvSpPr>
            <a:spLocks xmlns:a="http://schemas.openxmlformats.org/drawingml/2006/main" noGrp="1"/>
          </p:cNvSpPr>
          <p:nvPr/>
        </p:nvSpPr>
        <p:spPr>
          <a:xfrm xmlns:a="http://schemas.openxmlformats.org/drawingml/2006/main">
            <a:off x="666750" y="56864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878"/>
                </a:solidFill>
                <a:latin typeface="Helvetica Neue"/>
                <a:ea typeface="Helvetica Neue"/>
                <a:cs typeface="Helvetica Neue"/>
              </a:defRPr>
            </a:pPr>
            <a:r>
              <a:rPr sz="1875" b="0">
                <a:solidFill>
                  <a:srgbClr val="536878"/>
                </a:solidFill>
                <a:latin typeface="Helvetica Neue"/>
                <a:ea typeface="Helvetica Neue"/>
                <a:cs typeface="Helvetica Neue"/>
              </a:rPr>
              <a:t>Source unique, omissions et erreurs de catégorie documentées</a:t>
            </a:r>
          </a:p>
        </p:txBody>
      </p:sp>
    </p:spTree>
    <p:extLst>
      <p:ext uri="{BB962C8B-B14F-4D97-AF65-F5344CB8AC3E}">
        <p14:creationId xmlns:p14="http://schemas.microsoft.com/office/powerpoint/2010/main" val="1219250387"/>
      </p:ext>
    </p:extLst>
  </p:cSld>
</p:sld>
</file>

<file path=ppt/slides/slide16.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846EDC-4294-4628-AD31-58DFC6A3428D}"/>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Annexe : protocole d’évaluation</a:t>
            </a:r>
          </a:p>
        </p:txBody>
      </p:sp>
      <p:sp>
        <p:nvSpPr>
          <p:cNvPr id="2" name="">
            <a:extLst xmlns:a="http://schemas.openxmlformats.org/drawingml/2006/main">
              <a:ext uri="{FF2B5EF4-FFF2-40B4-BE49-F238E27FC236}">
                <a16:creationId xmlns:a16="http://schemas.microsoft.com/office/drawing/2014/main" id="{EA37C58C-54C1-4BA0-858C-7EC800D027F8}"/>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F3E12963-E0AC-44AE-B83D-0CE485135AFF}"/>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A0F2F260-0BEC-4D9F-BEDE-C5EC1398534E}"/>
              </a:ext>
            </a:extLst>
          </p:cNvPr>
          <p:cNvSpPr>
            <a:spLocks xmlns:a="http://schemas.openxmlformats.org/drawingml/2006/main" noGrp="1"/>
          </p:cNvSpPr>
          <p:nvPr/>
        </p:nvSpPr>
        <p:spPr>
          <a:xfrm xmlns:a="http://schemas.openxmlformats.org/drawingml/2006/main">
            <a:off x="666750" y="1714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42 articles réservés au test, distincts du train/dev</a:t>
            </a:r>
          </a:p>
        </p:txBody>
      </p:sp>
      <p:sp>
        <p:nvSpPr>
          <p:cNvPr id="5" name="">
            <a:extLst xmlns:a="http://schemas.openxmlformats.org/drawingml/2006/main">
              <a:ext uri="{FF2B5EF4-FFF2-40B4-BE49-F238E27FC236}">
                <a16:creationId xmlns:a16="http://schemas.microsoft.com/office/drawing/2014/main" id="{DD34C4C6-E7D2-4127-AEA6-9C4F414ABEB5}"/>
              </a:ext>
            </a:extLst>
          </p:cNvPr>
          <p:cNvSpPr>
            <a:spLocks xmlns:a="http://schemas.openxmlformats.org/drawingml/2006/main" noGrp="1"/>
          </p:cNvSpPr>
          <p:nvPr/>
        </p:nvSpPr>
        <p:spPr>
          <a:xfrm xmlns:a="http://schemas.openxmlformats.org/drawingml/2006/main">
            <a:off x="666750" y="2686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254 mentions proposées par Codex</a:t>
            </a:r>
          </a:p>
        </p:txBody>
      </p:sp>
      <p:sp>
        <p:nvSpPr>
          <p:cNvPr id="6" name="">
            <a:extLst xmlns:a="http://schemas.openxmlformats.org/drawingml/2006/main">
              <a:ext uri="{FF2B5EF4-FFF2-40B4-BE49-F238E27FC236}">
                <a16:creationId xmlns:a16="http://schemas.microsoft.com/office/drawing/2014/main" id="{A416A48F-49B5-4C20-8C08-80DEA9C75576}"/>
              </a:ext>
            </a:extLst>
          </p:cNvPr>
          <p:cNvSpPr>
            <a:spLocks xmlns:a="http://schemas.openxmlformats.org/drawingml/2006/main" noGrp="1"/>
          </p:cNvSpPr>
          <p:nvPr/>
        </p:nvSpPr>
        <p:spPr>
          <a:xfrm xmlns:a="http://schemas.openxmlformats.org/drawingml/2006/main">
            <a:off x="666750" y="36576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Correspondance exacte du label et des offsets</a:t>
            </a:r>
          </a:p>
        </p:txBody>
      </p:sp>
      <p:sp>
        <p:nvSpPr>
          <p:cNvPr id="7" name="">
            <a:extLst xmlns:a="http://schemas.openxmlformats.org/drawingml/2006/main">
              <a:ext uri="{FF2B5EF4-FFF2-40B4-BE49-F238E27FC236}">
                <a16:creationId xmlns:a16="http://schemas.microsoft.com/office/drawing/2014/main" id="{02A20614-12EF-43BF-A33C-8D3BE1AB1E24}"/>
              </a:ext>
            </a:extLst>
          </p:cNvPr>
          <p:cNvSpPr>
            <a:spLocks xmlns:a="http://schemas.openxmlformats.org/drawingml/2006/main" noGrp="1"/>
          </p:cNvSpPr>
          <p:nvPr/>
        </p:nvSpPr>
        <p:spPr>
          <a:xfrm xmlns:a="http://schemas.openxmlformats.org/drawingml/2006/main">
            <a:off x="666750" y="4629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54 vrais positifs, 22 faux positifs, 200 omissions</a:t>
            </a:r>
          </a:p>
        </p:txBody>
      </p:sp>
      <p:sp>
        <p:nvSpPr>
          <p:cNvPr id="8" name="">
            <a:extLst xmlns:a="http://schemas.openxmlformats.org/drawingml/2006/main">
              <a:ext uri="{FF2B5EF4-FFF2-40B4-BE49-F238E27FC236}">
                <a16:creationId xmlns:a16="http://schemas.microsoft.com/office/drawing/2014/main" id="{0C252FAF-36EB-406E-9719-F71B00D790F8}"/>
              </a:ext>
            </a:extLst>
          </p:cNvPr>
          <p:cNvSpPr>
            <a:spLocks xmlns:a="http://schemas.openxmlformats.org/drawingml/2006/main" noGrp="1"/>
          </p:cNvSpPr>
          <p:nvPr/>
        </p:nvSpPr>
        <p:spPr>
          <a:xfrm xmlns:a="http://schemas.openxmlformats.org/drawingml/2006/main">
            <a:off x="666750" y="5619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A94B0B"/>
                </a:solidFill>
                <a:latin typeface="Helvetica Neue"/>
                <a:ea typeface="Helvetica Neue"/>
                <a:cs typeface="Helvetica Neue"/>
              </a:defRPr>
            </a:pPr>
            <a:r>
              <a:rPr sz="1800" b="0">
                <a:solidFill>
                  <a:srgbClr val="A94B0B"/>
                </a:solidFill>
                <a:latin typeface="Helvetica Neue"/>
                <a:ea typeface="Helvetica Neue"/>
                <a:cs typeface="Helvetica Neue"/>
              </a:rPr>
              <a:t>0/42 attestations humaines. Le diagnostic mesure un accord avec l’IA</a:t>
            </a:r>
          </a:p>
        </p:txBody>
      </p:sp>
    </p:spTree>
    <p:extLst>
      <p:ext uri="{BB962C8B-B14F-4D97-AF65-F5344CB8AC3E}">
        <p14:creationId xmlns:p14="http://schemas.microsoft.com/office/powerpoint/2010/main" val="470999147"/>
      </p:ext>
    </p:extLst>
  </p:cSld>
</p:sld>
</file>

<file path=ppt/slides/slide17.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846EDC-4294-4628-AD31-58DFC6A3428D}"/>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Annexe : choix du modèle</a:t>
            </a:r>
          </a:p>
        </p:txBody>
      </p:sp>
      <p:sp>
        <p:nvSpPr>
          <p:cNvPr id="2" name="">
            <a:extLst xmlns:a="http://schemas.openxmlformats.org/drawingml/2006/main">
              <a:ext uri="{FF2B5EF4-FFF2-40B4-BE49-F238E27FC236}">
                <a16:creationId xmlns:a16="http://schemas.microsoft.com/office/drawing/2014/main" id="{EA37C58C-54C1-4BA0-858C-7EC800D027F8}"/>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F3E12963-E0AC-44AE-B83D-0CE485135AFF}"/>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A0F2F260-0BEC-4D9F-BEDE-C5EC1398534E}"/>
              </a:ext>
            </a:extLst>
          </p:cNvPr>
          <p:cNvSpPr>
            <a:spLocks xmlns:a="http://schemas.openxmlformats.org/drawingml/2006/main" noGrp="1"/>
          </p:cNvSpPr>
          <p:nvPr/>
        </p:nvSpPr>
        <p:spPr>
          <a:xfrm xmlns:a="http://schemas.openxmlformats.org/drawingml/2006/main">
            <a:off x="666750" y="1714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NER spaCy : positions exactes et calcul local sur CPU</a:t>
            </a:r>
          </a:p>
        </p:txBody>
      </p:sp>
      <p:sp>
        <p:nvSpPr>
          <p:cNvPr id="5" name="">
            <a:extLst xmlns:a="http://schemas.openxmlformats.org/drawingml/2006/main">
              <a:ext uri="{FF2B5EF4-FFF2-40B4-BE49-F238E27FC236}">
                <a16:creationId xmlns:a16="http://schemas.microsoft.com/office/drawing/2014/main" id="{DD34C4C6-E7D2-4127-AEA6-9C4F414ABEB5}"/>
              </a:ext>
            </a:extLst>
          </p:cNvPr>
          <p:cNvSpPr>
            <a:spLocks xmlns:a="http://schemas.openxmlformats.org/drawingml/2006/main" noGrp="1"/>
          </p:cNvSpPr>
          <p:nvPr/>
        </p:nvSpPr>
        <p:spPr>
          <a:xfrm xmlns:a="http://schemas.openxmlformats.org/drawingml/2006/main">
            <a:off x="666750" y="2686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WEAPON, MIL_UNIT et MIL_ORG : schéma métier</a:t>
            </a:r>
          </a:p>
        </p:txBody>
      </p:sp>
      <p:sp>
        <p:nvSpPr>
          <p:cNvPr id="6" name="">
            <a:extLst xmlns:a="http://schemas.openxmlformats.org/drawingml/2006/main">
              <a:ext uri="{FF2B5EF4-FFF2-40B4-BE49-F238E27FC236}">
                <a16:creationId xmlns:a16="http://schemas.microsoft.com/office/drawing/2014/main" id="{A416A48F-49B5-4C20-8C08-80DEA9C75576}"/>
              </a:ext>
            </a:extLst>
          </p:cNvPr>
          <p:cNvSpPr>
            <a:spLocks xmlns:a="http://schemas.openxmlformats.org/drawingml/2006/main" noGrp="1"/>
          </p:cNvSpPr>
          <p:nvPr/>
        </p:nvSpPr>
        <p:spPr>
          <a:xfrm xmlns:a="http://schemas.openxmlformats.org/drawingml/2006/main">
            <a:off x="666750" y="36576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240 articles train et 60 dev, six époques</a:t>
            </a:r>
          </a:p>
        </p:txBody>
      </p:sp>
      <p:sp>
        <p:nvSpPr>
          <p:cNvPr id="7" name="">
            <a:extLst xmlns:a="http://schemas.openxmlformats.org/drawingml/2006/main">
              <a:ext uri="{FF2B5EF4-FFF2-40B4-BE49-F238E27FC236}">
                <a16:creationId xmlns:a16="http://schemas.microsoft.com/office/drawing/2014/main" id="{02A20614-12EF-43BF-A33C-8D3BE1AB1E24}"/>
              </a:ext>
            </a:extLst>
          </p:cNvPr>
          <p:cNvSpPr>
            <a:spLocks xmlns:a="http://schemas.openxmlformats.org/drawingml/2006/main" noGrp="1"/>
          </p:cNvSpPr>
          <p:nvPr/>
        </p:nvSpPr>
        <p:spPr>
          <a:xfrm xmlns:a="http://schemas.openxmlformats.org/drawingml/2006/main">
            <a:off x="666750" y="4629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Baseline à poids initiaux aléatoires</a:t>
            </a:r>
          </a:p>
        </p:txBody>
      </p:sp>
      <p:sp>
        <p:nvSpPr>
          <p:cNvPr id="8" name="">
            <a:extLst xmlns:a="http://schemas.openxmlformats.org/drawingml/2006/main">
              <a:ext uri="{FF2B5EF4-FFF2-40B4-BE49-F238E27FC236}">
                <a16:creationId xmlns:a16="http://schemas.microsoft.com/office/drawing/2014/main" id="{0C252FAF-36EB-406E-9719-F71B00D790F8}"/>
              </a:ext>
            </a:extLst>
          </p:cNvPr>
          <p:cNvSpPr>
            <a:spLocks xmlns:a="http://schemas.openxmlformats.org/drawingml/2006/main" noGrp="1"/>
          </p:cNvSpPr>
          <p:nvPr/>
        </p:nvSpPr>
        <p:spPr>
          <a:xfrm xmlns:a="http://schemas.openxmlformats.org/drawingml/2006/main">
            <a:off x="666750" y="5619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A94B0B"/>
                </a:solidFill>
                <a:latin typeface="Helvetica Neue"/>
                <a:ea typeface="Helvetica Neue"/>
                <a:cs typeface="Helvetica Neue"/>
              </a:defRPr>
            </a:pPr>
            <a:r>
              <a:rPr sz="1800" b="0">
                <a:solidFill>
                  <a:srgbClr val="A94B0B"/>
                </a:solidFill>
                <a:latin typeface="Helvetica Neue"/>
                <a:ea typeface="Helvetica Neue"/>
                <a:cs typeface="Helvetica Neue"/>
              </a:rPr>
              <a:t>Le transfert d’apprentissage reste une approche à comparer</a:t>
            </a:r>
          </a:p>
        </p:txBody>
      </p:sp>
    </p:spTree>
    <p:extLst>
      <p:ext uri="{BB962C8B-B14F-4D97-AF65-F5344CB8AC3E}">
        <p14:creationId xmlns:p14="http://schemas.microsoft.com/office/powerpoint/2010/main" val="470999147"/>
      </p:ext>
    </p:extLst>
  </p:cSld>
</p:sld>
</file>

<file path=ppt/slides/slide18.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846EDC-4294-4628-AD31-58DFC6A3428D}"/>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Annexe : sécurité et accessibilité</a:t>
            </a:r>
          </a:p>
        </p:txBody>
      </p:sp>
      <p:sp>
        <p:nvSpPr>
          <p:cNvPr id="2" name="">
            <a:extLst xmlns:a="http://schemas.openxmlformats.org/drawingml/2006/main">
              <a:ext uri="{FF2B5EF4-FFF2-40B4-BE49-F238E27FC236}">
                <a16:creationId xmlns:a16="http://schemas.microsoft.com/office/drawing/2014/main" id="{EA37C58C-54C1-4BA0-858C-7EC800D027F8}"/>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F3E12963-E0AC-44AE-B83D-0CE485135AFF}"/>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A0F2F260-0BEC-4D9F-BEDE-C5EC1398534E}"/>
              </a:ext>
            </a:extLst>
          </p:cNvPr>
          <p:cNvSpPr>
            <a:spLocks xmlns:a="http://schemas.openxmlformats.org/drawingml/2006/main" noGrp="1"/>
          </p:cNvSpPr>
          <p:nvPr/>
        </p:nvSpPr>
        <p:spPr>
          <a:xfrm xmlns:a="http://schemas.openxmlformats.org/drawingml/2006/main">
            <a:off x="666750" y="1714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Copies du Bloc 4 inventoriées sur volume AES-256</a:t>
            </a:r>
          </a:p>
        </p:txBody>
      </p:sp>
      <p:sp>
        <p:nvSpPr>
          <p:cNvPr id="5" name="">
            <a:extLst xmlns:a="http://schemas.openxmlformats.org/drawingml/2006/main">
              <a:ext uri="{FF2B5EF4-FFF2-40B4-BE49-F238E27FC236}">
                <a16:creationId xmlns:a16="http://schemas.microsoft.com/office/drawing/2014/main" id="{DD34C4C6-E7D2-4127-AEA6-9C4F414ABEB5}"/>
              </a:ext>
            </a:extLst>
          </p:cNvPr>
          <p:cNvSpPr>
            <a:spLocks xmlns:a="http://schemas.openxmlformats.org/drawingml/2006/main" noGrp="1"/>
          </p:cNvSpPr>
          <p:nvPr/>
        </p:nvSpPr>
        <p:spPr>
          <a:xfrm xmlns:a="http://schemas.openxmlformats.org/drawingml/2006/main">
            <a:off x="666750" y="2686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Code public séparé du corpus et des états privés</a:t>
            </a:r>
          </a:p>
        </p:txBody>
      </p:sp>
      <p:sp>
        <p:nvSpPr>
          <p:cNvPr id="6" name="">
            <a:extLst xmlns:a="http://schemas.openxmlformats.org/drawingml/2006/main">
              <a:ext uri="{FF2B5EF4-FFF2-40B4-BE49-F238E27FC236}">
                <a16:creationId xmlns:a16="http://schemas.microsoft.com/office/drawing/2014/main" id="{A416A48F-49B5-4C20-8C08-80DEA9C75576}"/>
              </a:ext>
            </a:extLst>
          </p:cNvPr>
          <p:cNvSpPr>
            <a:spLocks xmlns:a="http://schemas.openxmlformats.org/drawingml/2006/main" noGrp="1"/>
          </p:cNvSpPr>
          <p:nvPr/>
        </p:nvSpPr>
        <p:spPr>
          <a:xfrm xmlns:a="http://schemas.openxmlformats.org/drawingml/2006/main">
            <a:off x="666750" y="36576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Exclusions et procédure de purge documentées</a:t>
            </a:r>
          </a:p>
        </p:txBody>
      </p:sp>
      <p:sp>
        <p:nvSpPr>
          <p:cNvPr id="7" name="">
            <a:extLst xmlns:a="http://schemas.openxmlformats.org/drawingml/2006/main">
              <a:ext uri="{FF2B5EF4-FFF2-40B4-BE49-F238E27FC236}">
                <a16:creationId xmlns:a16="http://schemas.microsoft.com/office/drawing/2014/main" id="{02A20614-12EF-43BF-A33C-8D3BE1AB1E24}"/>
              </a:ext>
            </a:extLst>
          </p:cNvPr>
          <p:cNvSpPr>
            <a:spLocks xmlns:a="http://schemas.openxmlformats.org/drawingml/2006/main" noGrp="1"/>
          </p:cNvSpPr>
          <p:nvPr/>
        </p:nvSpPr>
        <p:spPr>
          <a:xfrm xmlns:a="http://schemas.openxmlformats.org/drawingml/2006/main">
            <a:off x="666750" y="4629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Navigation clavier, focus et affichage responsive</a:t>
            </a:r>
          </a:p>
        </p:txBody>
      </p:sp>
      <p:sp>
        <p:nvSpPr>
          <p:cNvPr id="8" name="">
            <a:extLst xmlns:a="http://schemas.openxmlformats.org/drawingml/2006/main">
              <a:ext uri="{FF2B5EF4-FFF2-40B4-BE49-F238E27FC236}">
                <a16:creationId xmlns:a16="http://schemas.microsoft.com/office/drawing/2014/main" id="{0C252FAF-36EB-406E-9719-F71B00D790F8}"/>
              </a:ext>
            </a:extLst>
          </p:cNvPr>
          <p:cNvSpPr>
            <a:spLocks xmlns:a="http://schemas.openxmlformats.org/drawingml/2006/main" noGrp="1"/>
          </p:cNvSpPr>
          <p:nvPr/>
        </p:nvSpPr>
        <p:spPr>
          <a:xfrm xmlns:a="http://schemas.openxmlformats.org/drawingml/2006/main">
            <a:off x="666750" y="5619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A94B0B"/>
                </a:solidFill>
                <a:latin typeface="Helvetica Neue"/>
                <a:ea typeface="Helvetica Neue"/>
                <a:cs typeface="Helvetica Neue"/>
              </a:defRPr>
            </a:pPr>
            <a:r>
              <a:rPr sz="1800" b="0">
                <a:solidFill>
                  <a:srgbClr val="A94B0B"/>
                </a:solidFill>
                <a:latin typeface="Helvetica Neue"/>
                <a:ea typeface="Helvetica Neue"/>
                <a:cs typeface="Helvetica Neue"/>
              </a:rPr>
              <a:t>Lecteur d’écran et usages réels encore à évaluer</a:t>
            </a:r>
          </a:p>
        </p:txBody>
      </p:sp>
    </p:spTree>
    <p:extLst>
      <p:ext uri="{BB962C8B-B14F-4D97-AF65-F5344CB8AC3E}">
        <p14:creationId xmlns:p14="http://schemas.microsoft.com/office/powerpoint/2010/main" val="470999147"/>
      </p:ext>
    </p:extLst>
  </p:cSld>
</p:sld>
</file>

<file path=ppt/slides/slide19.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846EDC-4294-4628-AD31-58DFC6A3428D}"/>
              </a:ext>
            </a:extLst>
          </p:cNvPr>
          <p:cNvSpPr>
            <a:spLocks xmlns:a="http://schemas.openxmlformats.org/drawingml/2006/main" noGrp="1"/>
          </p:cNvSpPr>
          <p:nvPr/>
        </p:nvSpPr>
        <p:spPr>
          <a:xfrm xmlns:a="http://schemas.openxmlformats.org/drawingml/2006/main">
            <a:off x="666750" y="4572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B50"/>
                </a:solidFill>
                <a:latin typeface="Helvetica Neue"/>
                <a:ea typeface="Helvetica Neue"/>
                <a:cs typeface="Helvetica Neue"/>
              </a:defRPr>
            </a:pPr>
            <a:r>
              <a:rPr sz="3300" b="1">
                <a:solidFill>
                  <a:srgbClr val="173B50"/>
                </a:solidFill>
                <a:latin typeface="Helvetica Neue"/>
                <a:ea typeface="Helvetica Neue"/>
                <a:cs typeface="Helvetica Neue"/>
              </a:rPr>
              <a:t>Annexe : versions et preuves</a:t>
            </a:r>
          </a:p>
        </p:txBody>
      </p:sp>
      <p:sp>
        <p:nvSpPr>
          <p:cNvPr id="2" name="">
            <a:extLst xmlns:a="http://schemas.openxmlformats.org/drawingml/2006/main">
              <a:ext uri="{FF2B5EF4-FFF2-40B4-BE49-F238E27FC236}">
                <a16:creationId xmlns:a16="http://schemas.microsoft.com/office/drawing/2014/main" id="{EA37C58C-54C1-4BA0-858C-7EC800D027F8}"/>
              </a:ext>
            </a:extLst>
          </p:cNvPr>
          <p:cNvSpPr>
            <a:spLocks xmlns:a="http://schemas.openxmlformats.org/drawingml/2006/main" noGrp="1"/>
          </p:cNvSpPr>
          <p:nvPr/>
        </p:nvSpPr>
        <p:spPr>
          <a:xfrm xmlns:a="http://schemas.openxmlformats.org/drawingml/2006/main">
            <a:off x="666750" y="6381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Edouard Cappaert, Mémoire OSINT, Bloc 4</a:t>
            </a:r>
          </a:p>
        </p:txBody>
      </p:sp>
      <p:sp>
        <p:nvSpPr>
          <p:cNvPr id="3" name="">
            <a:extLst xmlns:a="http://schemas.openxmlformats.org/drawingml/2006/main">
              <a:ext uri="{FF2B5EF4-FFF2-40B4-BE49-F238E27FC236}">
                <a16:creationId xmlns:a16="http://schemas.microsoft.com/office/drawing/2014/main" id="{F3E12963-E0AC-44AE-B83D-0CE485135AFF}"/>
              </a:ext>
            </a:extLst>
          </p:cNvPr>
          <p:cNvSpPr>
            <a:spLocks xmlns:a="http://schemas.openxmlformats.org/drawingml/2006/main" noGrp="1"/>
          </p:cNvSpPr>
          <p:nvPr/>
        </p:nvSpPr>
        <p:spPr>
          <a:xfrm xmlns:a="http://schemas.openxmlformats.org/drawingml/2006/main">
            <a:off x="11049000" y="63817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878"/>
                </a:solidFill>
                <a:latin typeface="Helvetica Neue"/>
                <a:ea typeface="Helvetica Neue"/>
                <a:cs typeface="Helvetica Neue"/>
              </a:defRPr>
            </a:pPr>
            <a:r>
              <a:rPr sz="1350" b="0">
                <a:solidFill>
                  <a:srgbClr val="536878"/>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A0F2F260-0BEC-4D9F-BEDE-C5EC1398534E}"/>
              </a:ext>
            </a:extLst>
          </p:cNvPr>
          <p:cNvSpPr>
            <a:spLocks xmlns:a="http://schemas.openxmlformats.org/drawingml/2006/main" noGrp="1"/>
          </p:cNvSpPr>
          <p:nvPr/>
        </p:nvSpPr>
        <p:spPr>
          <a:xfrm xmlns:a="http://schemas.openxmlformats.org/drawingml/2006/main">
            <a:off x="666750" y="1714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Révision locale du 18 octobre 2026 : code 0.2.1</a:t>
            </a:r>
          </a:p>
        </p:txBody>
      </p:sp>
      <p:sp>
        <p:nvSpPr>
          <p:cNvPr id="5" name="">
            <a:extLst xmlns:a="http://schemas.openxmlformats.org/drawingml/2006/main">
              <a:ext uri="{FF2B5EF4-FFF2-40B4-BE49-F238E27FC236}">
                <a16:creationId xmlns:a16="http://schemas.microsoft.com/office/drawing/2014/main" id="{DD34C4C6-E7D2-4127-AEA6-9C4F414ABEB5}"/>
              </a:ext>
            </a:extLst>
          </p:cNvPr>
          <p:cNvSpPr>
            <a:spLocks xmlns:a="http://schemas.openxmlformats.org/drawingml/2006/main" noGrp="1"/>
          </p:cNvSpPr>
          <p:nvPr/>
        </p:nvSpPr>
        <p:spPr>
          <a:xfrm xmlns:a="http://schemas.openxmlformats.org/drawingml/2006/main">
            <a:off x="666750" y="26860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CI locale : tests, build et service vérifiés</a:t>
            </a:r>
          </a:p>
        </p:txBody>
      </p:sp>
      <p:sp>
        <p:nvSpPr>
          <p:cNvPr id="6" name="">
            <a:extLst xmlns:a="http://schemas.openxmlformats.org/drawingml/2006/main">
              <a:ext uri="{FF2B5EF4-FFF2-40B4-BE49-F238E27FC236}">
                <a16:creationId xmlns:a16="http://schemas.microsoft.com/office/drawing/2014/main" id="{A416A48F-49B5-4C20-8C08-80DEA9C75576}"/>
              </a:ext>
            </a:extLst>
          </p:cNvPr>
          <p:cNvSpPr>
            <a:spLocks xmlns:a="http://schemas.openxmlformats.org/drawingml/2006/main" noGrp="1"/>
          </p:cNvSpPr>
          <p:nvPr/>
        </p:nvSpPr>
        <p:spPr>
          <a:xfrm xmlns:a="http://schemas.openxmlformats.org/drawingml/2006/main">
            <a:off x="666750" y="36576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Réentraînement : évaluation, dérive et promotion reliées</a:t>
            </a:r>
          </a:p>
        </p:txBody>
      </p:sp>
      <p:sp>
        <p:nvSpPr>
          <p:cNvPr id="7" name="">
            <a:extLst xmlns:a="http://schemas.openxmlformats.org/drawingml/2006/main">
              <a:ext uri="{FF2B5EF4-FFF2-40B4-BE49-F238E27FC236}">
                <a16:creationId xmlns:a16="http://schemas.microsoft.com/office/drawing/2014/main" id="{02A20614-12EF-43BF-A33C-8D3BE1AB1E24}"/>
              </a:ext>
            </a:extLst>
          </p:cNvPr>
          <p:cNvSpPr>
            <a:spLocks xmlns:a="http://schemas.openxmlformats.org/drawingml/2006/main" noGrp="1"/>
          </p:cNvSpPr>
          <p:nvPr/>
        </p:nvSpPr>
        <p:spPr>
          <a:xfrm xmlns:a="http://schemas.openxmlformats.org/drawingml/2006/main">
            <a:off x="666750" y="4629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B50"/>
                </a:solidFill>
                <a:latin typeface="Helvetica Neue"/>
                <a:ea typeface="Helvetica Neue"/>
                <a:cs typeface="Helvetica Neue"/>
              </a:defRPr>
            </a:pPr>
            <a:r>
              <a:rPr sz="2250" b="1">
                <a:solidFill>
                  <a:srgbClr val="173B50"/>
                </a:solidFill>
                <a:latin typeface="Helvetica Neue"/>
                <a:ea typeface="Helvetica Neue"/>
                <a:cs typeface="Helvetica Neue"/>
              </a:rPr>
              <a:t>Retour arrière : service précédent et contrôle santé</a:t>
            </a:r>
          </a:p>
        </p:txBody>
      </p:sp>
      <p:sp>
        <p:nvSpPr>
          <p:cNvPr id="8" name="">
            <a:extLst xmlns:a="http://schemas.openxmlformats.org/drawingml/2006/main">
              <a:ext uri="{FF2B5EF4-FFF2-40B4-BE49-F238E27FC236}">
                <a16:creationId xmlns:a16="http://schemas.microsoft.com/office/drawing/2014/main" id="{0C252FAF-36EB-406E-9719-F71B00D790F8}"/>
              </a:ext>
            </a:extLst>
          </p:cNvPr>
          <p:cNvSpPr>
            <a:spLocks xmlns:a="http://schemas.openxmlformats.org/drawingml/2006/main" noGrp="1"/>
          </p:cNvSpPr>
          <p:nvPr/>
        </p:nvSpPr>
        <p:spPr>
          <a:xfrm xmlns:a="http://schemas.openxmlformats.org/drawingml/2006/main">
            <a:off x="666750" y="5619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A94B0B"/>
                </a:solidFill>
                <a:latin typeface="Helvetica Neue"/>
                <a:ea typeface="Helvetica Neue"/>
                <a:cs typeface="Helvetica Neue"/>
              </a:defRPr>
            </a:pPr>
            <a:r>
              <a:rPr sz="1800" b="0">
                <a:solidFill>
                  <a:srgbClr val="A94B0B"/>
                </a:solidFill>
                <a:latin typeface="Helvetica Neue"/>
                <a:ea typeface="Helvetica Neue"/>
                <a:cs typeface="Helvetica Neue"/>
              </a:rPr>
              <a:t>Preuves datées et empreintes distinctes pour chaque exécution</a:t>
            </a:r>
          </a:p>
        </p:txBody>
      </p:sp>
    </p:spTree>
    <p:extLst>
      <p:ext uri="{BB962C8B-B14F-4D97-AF65-F5344CB8AC3E}">
        <p14:creationId xmlns:p14="http://schemas.microsoft.com/office/powerpoint/2010/main" val="4709991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2026-10-18T20:55:36.4260000Z</dcterms:created>
  <dcterms:modified xsi:type="dcterms:W3CDTF">2026-10-18T20:55:36.4260000Z</dcterms:modified>
</coreProperties>
</file>