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5e14ab8505bb4a7c" /><Relationship Type="http://schemas.openxmlformats.org/officeDocument/2006/relationships/extended-properties" Target="/docProps/app.xml" Id="Rbdf2b1b3df754664" /><Relationship Type="http://schemas.openxmlformats.org/officeDocument/2006/relationships/officeDocument" Target="/ppt/presentation.xml" Id="R64ff85a0997846a6" /></Relationships>
</file>

<file path=ppt/presentation.xml><?xml version="1.0" encoding="utf-8"?>
<p:presentation xmlns:p="http://schemas.openxmlformats.org/presentationml/2006/main">
  <p:sldMasterIdLst>
    <p:sldMasterId xmlns:r="http://schemas.openxmlformats.org/officeDocument/2006/relationships" id="2147483648" r:id="R4dcfd139a6374336"/>
  </p:sldMasterIdLst>
  <p:notesMasterIdLst>
    <p:notesMasterId xmlns:r="http://schemas.openxmlformats.org/officeDocument/2006/relationships" r:id="R1bf8d5cc9d4e461a"/>
  </p:notesMasterIdLst>
  <p:sldIdLst>
    <p:sldId xmlns:r="http://schemas.openxmlformats.org/officeDocument/2006/relationships" id="256" r:id="R7a5524aabe8c4041"/>
    <p:sldId xmlns:r="http://schemas.openxmlformats.org/officeDocument/2006/relationships" id="257" r:id="R170d71024f6544f9"/>
    <p:sldId xmlns:r="http://schemas.openxmlformats.org/officeDocument/2006/relationships" id="258" r:id="R50d335e11dcc48d6"/>
    <p:sldId xmlns:r="http://schemas.openxmlformats.org/officeDocument/2006/relationships" id="259" r:id="R025fc836a8724a44"/>
    <p:sldId xmlns:r="http://schemas.openxmlformats.org/officeDocument/2006/relationships" id="260" r:id="R116e836ef11d45bd"/>
    <p:sldId xmlns:r="http://schemas.openxmlformats.org/officeDocument/2006/relationships" id="261" r:id="R2587706a6654476c"/>
    <p:sldId xmlns:r="http://schemas.openxmlformats.org/officeDocument/2006/relationships" id="262" r:id="R689b99f88fde4710"/>
    <p:sldId xmlns:r="http://schemas.openxmlformats.org/officeDocument/2006/relationships" id="263" r:id="R50fb8b5733f9409b"/>
    <p:sldId xmlns:r="http://schemas.openxmlformats.org/officeDocument/2006/relationships" id="264" r:id="R56fa113eb583425d"/>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b57f8f04cf3481b" /><Relationship Type="http://schemas.openxmlformats.org/officeDocument/2006/relationships/slideMaster" Target="/ppt/slideMasters/slideMaster1.xml" Id="R4dcfd139a6374336" /><Relationship Type="http://schemas.openxmlformats.org/officeDocument/2006/relationships/notesMaster" Target="/ppt/notesMasters/notesMaster1.xml" Id="R1bf8d5cc9d4e461a" /><Relationship Type="http://schemas.openxmlformats.org/officeDocument/2006/relationships/presProps" Target="/ppt/presProps.xml" Id="R8708118f14e04c2c" /><Relationship Type="http://schemas.openxmlformats.org/officeDocument/2006/relationships/tableStyles" Target="/ppt/tableStyles.xml" Id="Ra2f6cdcb5a1541f6" /><Relationship Type="http://schemas.openxmlformats.org/officeDocument/2006/relationships/slide" Target="/ppt/slides/slide1.xml" Id="R7a5524aabe8c4041" /><Relationship Type="http://schemas.openxmlformats.org/officeDocument/2006/relationships/slide" Target="/ppt/slides/slide2.xml" Id="R170d71024f6544f9" /><Relationship Type="http://schemas.openxmlformats.org/officeDocument/2006/relationships/slide" Target="/ppt/slides/slide3.xml" Id="R50d335e11dcc48d6" /><Relationship Type="http://schemas.openxmlformats.org/officeDocument/2006/relationships/slide" Target="/ppt/slides/slide4.xml" Id="R025fc836a8724a44" /><Relationship Type="http://schemas.openxmlformats.org/officeDocument/2006/relationships/slide" Target="/ppt/slides/slide5.xml" Id="R116e836ef11d45bd" /><Relationship Type="http://schemas.openxmlformats.org/officeDocument/2006/relationships/slide" Target="/ppt/slides/slide6.xml" Id="R2587706a6654476c" /><Relationship Type="http://schemas.openxmlformats.org/officeDocument/2006/relationships/slide" Target="/ppt/slides/slide7.xml" Id="R689b99f88fde4710" /><Relationship Type="http://schemas.openxmlformats.org/officeDocument/2006/relationships/slide" Target="/ppt/slides/slide8.xml" Id="R50fb8b5733f9409b" /><Relationship Type="http://schemas.openxmlformats.org/officeDocument/2006/relationships/slide" Target="/ppt/slides/slide9.xml" Id="R56fa113eb583425d"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d3fd8946e7af4dc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d298dfe24ba425e" /><Relationship Type="http://schemas.openxmlformats.org/officeDocument/2006/relationships/notesMaster" Target="/ppt/notesMasters/notesMaster1.xml" Id="Re4df76df9a4c414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80932cff9bd47f3" /><Relationship Type="http://schemas.openxmlformats.org/officeDocument/2006/relationships/notesMaster" Target="/ppt/notesMasters/notesMaster1.xml" Id="Ra4d62187a4ba4b2e" /></Relationships>
</file>

<file path=ppt/notesSlides/_rels/notesSlide3.xml.rels>&#65279;<?xml version="1.0" encoding="utf-8"?><Relationships xmlns="http://schemas.openxmlformats.org/package/2006/relationships"><Relationship Type="http://schemas.openxmlformats.org/officeDocument/2006/relationships/slide" Target="/ppt/slides/slide3.xml" Id="Rd9df140a331f4a75" /><Relationship Type="http://schemas.openxmlformats.org/officeDocument/2006/relationships/notesMaster" Target="/ppt/notesMasters/notesMaster1.xml" Id="R25eb79fbd5f547ab" /></Relationships>
</file>

<file path=ppt/notesSlides/_rels/notesSlide4.xml.rels>&#65279;<?xml version="1.0" encoding="utf-8"?><Relationships xmlns="http://schemas.openxmlformats.org/package/2006/relationships"><Relationship Type="http://schemas.openxmlformats.org/officeDocument/2006/relationships/slide" Target="/ppt/slides/slide4.xml" Id="R8517bf5f70424a9e" /><Relationship Type="http://schemas.openxmlformats.org/officeDocument/2006/relationships/notesMaster" Target="/ppt/notesMasters/notesMaster1.xml" Id="Rd2d53705caad40fe" /></Relationships>
</file>

<file path=ppt/notesSlides/_rels/notesSlide5.xml.rels>&#65279;<?xml version="1.0" encoding="utf-8"?><Relationships xmlns="http://schemas.openxmlformats.org/package/2006/relationships"><Relationship Type="http://schemas.openxmlformats.org/officeDocument/2006/relationships/slide" Target="/ppt/slides/slide5.xml" Id="R9f1faee90e6a476e" /><Relationship Type="http://schemas.openxmlformats.org/officeDocument/2006/relationships/notesMaster" Target="/ppt/notesMasters/notesMaster1.xml" Id="R182d4c5309b6448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8ca536796a346ad" /><Relationship Type="http://schemas.openxmlformats.org/officeDocument/2006/relationships/notesMaster" Target="/ppt/notesMasters/notesMaster1.xml" Id="Rdc0e0cf6da784bd2" /></Relationships>
</file>

<file path=ppt/notesSlides/_rels/notesSlide7.xml.rels>&#65279;<?xml version="1.0" encoding="utf-8"?><Relationships xmlns="http://schemas.openxmlformats.org/package/2006/relationships"><Relationship Type="http://schemas.openxmlformats.org/officeDocument/2006/relationships/slide" Target="/ppt/slides/slide7.xml" Id="Rb1602e235a814c60" /><Relationship Type="http://schemas.openxmlformats.org/officeDocument/2006/relationships/notesMaster" Target="/ppt/notesMasters/notesMaster1.xml" Id="R2983816fb7fb4e96" /></Relationships>
</file>

<file path=ppt/notesSlides/_rels/notesSlide8.xml.rels>&#65279;<?xml version="1.0" encoding="utf-8"?><Relationships xmlns="http://schemas.openxmlformats.org/package/2006/relationships"><Relationship Type="http://schemas.openxmlformats.org/officeDocument/2006/relationships/slide" Target="/ppt/slides/slide8.xml" Id="R0399a52c89894170" /><Relationship Type="http://schemas.openxmlformats.org/officeDocument/2006/relationships/notesMaster" Target="/ppt/notesMasters/notesMaster1.xml" Id="R8fef9554460b4a93" /></Relationships>
</file>

<file path=ppt/notesSlides/_rels/notesSlide9.xml.rels>&#65279;<?xml version="1.0" encoding="utf-8"?><Relationships xmlns="http://schemas.openxmlformats.org/package/2006/relationships"><Relationship Type="http://schemas.openxmlformats.org/officeDocument/2006/relationships/slide" Target="/ppt/slides/slide9.xml" Id="R08b7b13e6453494f" /><Relationship Type="http://schemas.openxmlformats.org/officeDocument/2006/relationships/notesMaster" Target="/ppt/notesMasters/notesMaster1.xml" Id="R11ee404ec9a34e4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 à 0:35, durée cible 35 s</a:t>
            </a:r>
          </a:p>
          <a:p xmlns:a="http://schemas.openxmlformats.org/drawingml/2006/main">
            <a:r>
              <a:t/>
            </a:r>
          </a:p>
          <a:p xmlns:a="http://schemas.openxmlformats.org/drawingml/2006/main">
            <a:r>
              <a:t>Je présente le pipeline qui prépare des articles TASS pour rechercher des mentions d’armes, d’unités et d’organisations militaires. Le besoin est de conserver un texte fiable et une provenance vérifiable jusqu’à l’analyse. Le projet combine un corpus fourni de 21 676 articles nettoyés et un collecteur local de pages publiques. Je choisis une rubrique et des dates de publication UTC. Le bilan distingue les articles trouvés et les limites des archives accessibles. La source éditoriale ne constitue pas une référence indépendante sur les faits militaires.</a:t>
            </a:r>
          </a:p>
          <a:p xmlns:a="http://schemas.openxmlformats.org/drawingml/2006/main">
            <a:r>
              <a:t/>
            </a:r>
          </a:p>
          <a:p xmlns:a="http://schemas.openxmlformats.org/drawingml/2006/main">
            <a:r>
              <a:t>Sources et preuves locales</a:t>
            </a:r>
          </a:p>
          <a:p xmlns:a="http://schemas.openxmlformats.org/drawingml/2006/main">
            <a:r>
              <a:t>Plan_pipeline_OSINT.pdf, pages 3 et 10. Collecte_TASS.md, Architecture et sources. Grille fournie, Bloc 3!A8 et A11. Cours Data Pipelines for AI, pages 6 à 12, adapté au cas OSINT.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0:35 à 1:25. Le collecteur conserve le contrat ID/date/URL/texte/empreinte. Le mode périodique interroge une fenêtre glissante, puis attend 60 secondes après la fin du cycle selon la configuration fournie. Les cycles et les reprises peuvent allonger le délai. Le catalogue et les exports sont automatiques. L’import dans le Bloc 2 et l’inférence du Bloc 4 sont distincts. Sources : config/collecte_continue.json, continuous.py et Plan_pipeline_OSINT.pdf.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 à 2:20, durée cible 55 s</a:t>
            </a:r>
          </a:p>
          <a:p xmlns:a="http://schemas.openxmlformats.org/drawingml/2006/main">
            <a:r>
              <a:t/>
            </a:r>
          </a:p>
          <a:p xmlns:a="http://schemas.openxmlformats.org/drawingml/2006/main">
            <a:r>
              <a:t>Je vérifie chaque article avant de publier : types, date, URL, texte et doublons exacts. Le taux maximal de rejet du collecteur est configurable à 20 %. C’est un choix local à expliquer, distinct du seuil du pipeline de fichiers. Un lot bloqué conserve la dernière publication valide. Chaque article téléchargé possède un statut durable. Le checkpoint avance après la transaction. Si le worker s’arrête brutalement, le superviseur le relance et reprend les tâches restantes. Les tests provoquent une destruction de processus. La pause visible dans la vidéo est volontaire et demande une reprise manuelle. Une erreur permanente de source peut encore nécessiter une correction.</a:t>
            </a:r>
          </a:p>
          <a:p xmlns:a="http://schemas.openxmlformats.org/drawingml/2006/main">
            <a:r>
              <a:t/>
            </a:r>
          </a:p>
          <a:p xmlns:a="http://schemas.openxmlformats.org/drawingml/2006/main">
            <a:r>
              <a:t>Sources et preuves locales</a:t>
            </a:r>
          </a:p>
          <a:p xmlns:a="http://schemas.openxmlformats.org/drawingml/2006/main">
            <a:r>
              <a:t>Plan_pipeline_OSINT.pdf, page 5. tests/collection.py : test_quality_failure_keeps_published_corpus, test_hard_process_crash_releases_lock_and_keeps_checkpoint, test_supervisor_automatically_recovers_after_worker_kill. Preuves/Collecte_TASS/Tests_collecte_final.log. Grille fournie, Bloc 3!A7:A8 et A15.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2:20 à 3:15. Le suivi ajoute les cycles, la prochaine échéance et le retard. Essai local : dix cycles, trois articles fictifs, aucun doublon. Délais de disponibilité à publication : 0,04 à 0,63 seconde. Cette mesure sur trois textes courts ne prédit ni la latence TASS ni un SLA. POLL_STALLED signale un worker sans activité récente ; POLL_COVERAGE_LIMITED signale une période potentiellement partielle. Sources : Preuves/Complement_20261018/Flux_continu.json, tests/continuous.py. La vidéo antérieure n’est pas actualisée.</a:t>
            </a:r>
          </a:p>
          <a:p xmlns:a="http://schemas.openxmlformats.org/drawingml/2006/main">
            <a:r>
              <a:t/>
            </a:r>
          </a:p>
          <a:p xmlns:a="http://schemas.openxmlformats.org/drawingml/2006/main">
            <a:r>
              <a:t>Complément vérifié : 40 cycles sur 10 000 articles fictifs, environ 2 Kio, 35,48 s et 281,82 articles/s. Délai disponibilité-publication 0,38 à 1,36 s. La capture conserve le premier essai de dix cycles ; la charge est prouvée séparément par Preuves/Complement_20261018/Charge_continue.json. Aucun réseau TASS ni SLA garanti.</a:t>
            </a:r>
          </a:p>
          <a:p xmlns:a="http://schemas.openxmlformats.org/drawingml/2006/main">
            <a:r>
              <a:t/>
            </a:r>
          </a:p>
          <a:p xmlns:a="http://schemas.openxmlformats.org/drawingml/2006/main">
            <a:r>
              <a:t>Complément vérifié : 40 cycles sur 10 000 articles fictifs, environ 2 Kio, 35,48 s et 281,82 articles/s. Délai disponibilité-publication 0,38 à 1,36 s. La capture conserve le premier essai de dix cycles ; la charge est prouvée séparément par Preuves/Complement_20261018/Charge_continue.json. Aucun réseau TASS ni SLA garanti.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3:15 à 3:50, durée cible 35 s</a:t>
            </a:r>
          </a:p>
          <a:p xmlns:a="http://schemas.openxmlformats.org/drawingml/2006/main">
            <a:r>
              <a:t/>
            </a:r>
          </a:p>
          <a:p xmlns:a="http://schemas.openxmlformats.org/drawingml/2006/main">
            <a:r>
              <a:t>Les mesures portent sur le volume APFS chiffré AES-256. J’ai une série de 18 essais avec trois répétitions par taille, sur catalogue vide et sur une copie contenant 21 701 articles. Le graphique montre les médianes du catalogue rempli. Le lot de 2 000 articles prend 26,17 secondes, soit 76,4 articles par seconde. Les durées incluent les checkpoints, les exports et la copie complète de secours. Les réponses HTML sont fictives et aucun réseau n’est mesuré. La copie de secours impose un coût fixe. Ces mesures sur un poste partagé n’établissent ni un SLA ni un débit réseau.</a:t>
            </a:r>
          </a:p>
          <a:p xmlns:a="http://schemas.openxmlformats.org/drawingml/2006/main">
            <a:r>
              <a:t/>
            </a:r>
          </a:p>
          <a:p xmlns:a="http://schemas.openxmlformats.org/drawingml/2006/main">
            <a:r>
              <a:t>Sources et preuves locales</a:t>
            </a:r>
          </a:p>
          <a:p xmlns:a="http://schemas.openxmlformats.org/drawingml/2006/main">
            <a:r>
              <a:t>Preuves/Collecte_TASS/Benchmark_chiffre.json : summary, mode populated, articles 100 / 1000 / 2000, median_s 2.894075 / 14.288904 / 26.17471, median_articles_per_second 34.55 / 69.98 / 76.41. Méthode et version de code enregistrées dans la même preuve. Plan_pipeline_OSINT.pdf, page 7. Grille fournie, Bloc 3!A6 et A9.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3:50 à 4:30, durée cible 40 s</a:t>
            </a:r>
          </a:p>
          <a:p xmlns:a="http://schemas.openxmlformats.org/drawingml/2006/main">
            <a:r>
              <a:t/>
            </a:r>
          </a:p>
          <a:p xmlns:a="http://schemas.openxmlformats.org/drawingml/2006/main">
            <a:r>
              <a:t>La rectification normalise le nouveau texte et renouvelle son empreinte. Elle purge les anciennes versions dans le périmètre géré. La suppression retire l’article du catalogue, des tâches, des exports et du secours. Le registre reste prioritaire lors d’une recollecte et d’une restauration. La propagation jusqu’aux bases du Bloc 2 a été testée sur une fixture. Les états du Bloc 3 utilisent un volume AES-256, avec migration et cycle de verrouillage observés. Les audits conservent des références techniques sans le texte. Les sources historiques, annotations et copies externes demandent une procédure coordonnée selon la gouvernance du Bloc 1.</a:t>
            </a:r>
          </a:p>
          <a:p xmlns:a="http://schemas.openxmlformats.org/drawingml/2006/main">
            <a:r>
              <a:t/>
            </a:r>
          </a:p>
          <a:p xmlns:a="http://schemas.openxmlformats.org/drawingml/2006/main">
            <a:r>
              <a:t>Sources et preuves locales</a:t>
            </a:r>
          </a:p>
          <a:p xmlns:a="http://schemas.openxmlformats.org/drawingml/2006/main">
            <a:r>
              <a:t>Preuves/Collecte_TASS/Droits_B3_B2.json, Volume_chiffre.json et Cycle_volume_chiffre.json. tests/closure.py. Plan_pipeline_OSINT.pdf, page 6. Grille fournie, Bloc 3!A34:A38. Qualification juridique et responsabilités : livrables du Bloc 1. Le compte système ne distingue pas plusieurs utilisateurs partageant la même session.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4:30 à 5:00. La collecte périodique automatise des micro-lots avec calendrier et tâche persistés dans une même transaction. Après arrêt brutal, la tâche en attente est reprise. La pause volontaire et le blocage qualité demandent une action explicite. Les quotas et archives bornent la couverture. Le miroir local maintient la lecture, sans continuité d’écriture ni protection contre la perte du Mac. Le fonctionnement réseau TASS récurrent n’est pas revendiqué comme exécuté par les essais fictifs.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 14 scénarios du pipeline de fichiers, 11 tests de collecte, 16 tests de droits/secours et 8 tests de collecte périodique, soit 49 scénarios Python. Quatre tests JavaScript de récupération restent distincts. Les tests portent sur des fixtures locales. Rapports et empreintes dans Preuves/Complement_20261018/. Aucun nouveau run GitHub attribué à cette révision.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Annexe, à utiliser pendant les 15 minutes de questions</a:t>
            </a:r>
          </a:p>
          <a:p xmlns:a="http://schemas.openxmlformats.org/drawingml/2006/main">
            <a:r>
              <a:t/>
            </a:r>
          </a:p>
          <a:p xmlns:a="http://schemas.openxmlformats.org/drawingml/2006/main">
            <a:r>
              <a:t>Questions complémentaires possibles : pourquoi le seuil de rejet est-il configurable ? Il traduit une tolérance locale qui doit être calibrée selon le besoin. Pourquoi ne pas revendiquer une haute disponibilité ? Les copies partagent le même domaine de panne et les écritures s’arrêtent. Comment ajouter une métrique ? Instrumenter la durée de l’étape, émettre un événement sans texte et l’exposer dans le suivi. La pagination TASS peut-elle changer ? Oui, ce point d’entrée du site n’a pas de contrat public de stabilité et les erreurs doivent rester explicites.</a:t>
            </a:r>
          </a:p>
          <a:p xmlns:a="http://schemas.openxmlformats.org/drawingml/2006/main">
            <a:r>
              <a:t/>
            </a:r>
          </a:p>
          <a:p xmlns:a="http://schemas.openxmlformats.org/drawingml/2006/main">
            <a:r>
              <a:t>Sources et preuves locales</a:t>
            </a:r>
          </a:p>
          <a:p xmlns:a="http://schemas.openxmlformats.org/drawingml/2006/main">
            <a:r>
              <a:t>Preparation_orale_Bloc3.md, Questions probables. README.md, Fonctionnement et reprise, Planification, surveillance et alertes. Collecte_TASS.md, Continuité et incident. Grille fournie, Bloc 3!A27:A28.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e329a2049a8472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4b18f2cfd70454e" /><Relationship Type="http://schemas.openxmlformats.org/officeDocument/2006/relationships/slideLayout" Target="/ppt/slideLayouts/slideLayout1.xml" Id="R38f59f0616104bab"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8f59f0616104bab"/>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be1def81c6e4dc6" /><Relationship Type="http://schemas.openxmlformats.org/officeDocument/2006/relationships/notesSlide" Target="/ppt/notesSlides/notesSlide1.xml" Id="Rb7c0d644affe45b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4645c356612d41c1" /><Relationship Type="http://schemas.openxmlformats.org/officeDocument/2006/relationships/notesSlide" Target="/ppt/notesSlides/notesSlide2.xml" Id="Rd110ad86a63f4a47"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285c32632a494167" /><Relationship Type="http://schemas.openxmlformats.org/officeDocument/2006/relationships/notesSlide" Target="/ppt/notesSlides/notesSlide3.xml" Id="Reb836a205c73428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cd554c435f84075" /><Relationship Type="http://schemas.openxmlformats.org/officeDocument/2006/relationships/image" Target="/ppt/media/image.png" Id="R019033934ced4e8b" /><Relationship Type="http://schemas.openxmlformats.org/officeDocument/2006/relationships/notesSlide" Target="/ppt/notesSlides/notesSlide4.xml" Id="R240773c874a240ef"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80404d138ec4d83" /><Relationship Type="http://schemas.openxmlformats.org/officeDocument/2006/relationships/chart" Target="/ppt/slides/charts/chart1.xml" Id="R4550a8fb9e034388" /><Relationship Type="http://schemas.openxmlformats.org/officeDocument/2006/relationships/notesSlide" Target="/ppt/notesSlides/notesSlide5.xml" Id="Rda8f1a9dae3247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9ed54ef467d4512" /><Relationship Type="http://schemas.openxmlformats.org/officeDocument/2006/relationships/notesSlide" Target="/ppt/notesSlides/notesSlide6.xml" Id="R180973b51a374920"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63d8ee85944b8a" /><Relationship Type="http://schemas.openxmlformats.org/officeDocument/2006/relationships/notesSlide" Target="/ppt/notesSlides/notesSlide7.xml" Id="Rb5b6d0c7e6d1464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17e23dad7ce4a1c" /><Relationship Type="http://schemas.openxmlformats.org/officeDocument/2006/relationships/notesSlide" Target="/ppt/notesSlides/notesSlide8.xml" Id="R5027a65604704d29"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9d8fc641dc41498a" /><Relationship Type="http://schemas.openxmlformats.org/officeDocument/2006/relationships/notesSlide" Target="/ppt/notesSlides/notesSlide9.xml" Id="Rbf040fb902d646e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1800">
                <a:solidFill>
                  <a:srgbClr val="27282C"/>
                </a:solidFill>
                <a:latin typeface="Helvetica Neue"/>
                <a:ea typeface="Helvetica Neue"/>
                <a:cs typeface="Helvetica Neue"/>
              </a:rPr>
              <a:t>Durée médiane (secondes)</a:t>
            </a:r>
          </a:p>
        </c:rich>
      </c:tx>
      <c:overlay val="0"/>
      <c:txPr>
        <a:bodyPr xmlns:a="http://schemas.openxmlformats.org/drawingml/2006/main" anchorCtr="1"/>
        <a:lstStyle xmlns:a="http://schemas.openxmlformats.org/drawingml/2006/main"/>
        <a:p xmlns:a="http://schemas.openxmlformats.org/drawingml/2006/main">
          <a:pPr>
            <a:defRPr sz="1800">
              <a:solidFill>
                <a:srgbClr val="27282C"/>
              </a:solidFill>
              <a:latin typeface="Helvetica Neue"/>
              <a:ea typeface="Helvetica Neue"/>
              <a:cs typeface="Helvetica Neue"/>
            </a:defRPr>
          </a:pPr>
        </a:p>
      </c:txPr>
    </c:title>
    <c:plotArea>
      <c:barChart>
        <c:barDir val="bar"/>
        <c:grouping val="clustered"/>
        <c:varyColors val="0"/>
        <c:ser>
          <c:idx val="0"/>
          <c:order val="0"/>
          <c:tx>
            <c:v>Durée médiane en secondes</c:v>
          </c:tx>
          <c:spPr>
            <a:solidFill xmlns:a="http://schemas.openxmlformats.org/drawingml/2006/main">
              <a:srgbClr val="A31635"/>
            </a:solidFill>
          </c:spPr>
          <c:cat>
            <c:strRef>
              <c:f>'Chart Data'!$A$2:$A$4</c:f>
              <c:strCache>
                <c:ptCount val="3"/>
                <c:pt idx="0">
                  <c:v>100 articles</c:v>
                </c:pt>
                <c:pt idx="1">
                  <c:v>1 000 articles</c:v>
                </c:pt>
                <c:pt idx="2">
                  <c:v>2 000 articles</c:v>
                </c:pt>
              </c:strCache>
            </c:strRef>
          </c:cat>
          <c:val>
            <c:numRef>
              <c:f>'Chart Data'!$B$2:$B$4</c:f>
              <c:numCache>
                <c:formatCode>General</c:formatCode>
                <c:ptCount val="3"/>
                <c:pt idx="0">
                  <c:v>2.89</c:v>
                </c:pt>
                <c:pt idx="1">
                  <c:v>14.29</c:v>
                </c:pt>
                <c:pt idx="2">
                  <c:v>26.17</c:v>
                </c:pt>
              </c:numCache>
            </c:numRef>
          </c:val>
        </c:ser>
        <c:dLbls>
          <c:txPr>
            <a:bodyPr xmlns:a="http://schemas.openxmlformats.org/drawingml/2006/main" anchorCtr="1"/>
            <a:lstStyle xmlns:a="http://schemas.openxmlformats.org/drawingml/2006/main"/>
            <a:p xmlns:a="http://schemas.openxmlformats.org/drawingml/2006/main">
              <a:pPr>
                <a:defRPr sz="1800">
                  <a:solidFill>
                    <a:srgbClr val="27282C"/>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70"/>
        <c:axId val="48650112"/>
        <c:axId val="48672768"/>
      </c:barChart>
      <c:catAx>
        <c:axId val="48650112"/>
        <c:scaling>
          <c:orientation val="minMax"/>
        </c:scaling>
        <c:delete val="0"/>
        <c:axPos val="l"/>
        <c:majorGridlines>
          <c:spPr>
            <a:ln xmlns:a="http://schemas.openxmlformats.org/drawingml/2006/main" w="9525">
              <a:solidFill>
                <a:srgbClr val="D9D3D5"/>
              </a:solidFill>
            </a:ln>
          </c:spPr>
        </c:majorGridlines>
        <c:title>
          <c:tx>
            <c:rich>
              <a:bodyPr xmlns:a="http://schemas.openxmlformats.org/drawingml/2006/main"/>
              <a:lstStyle xmlns:a="http://schemas.openxmlformats.org/drawingml/2006/main"/>
              <a:p xmlns:a="http://schemas.openxmlformats.org/drawingml/2006/main">
                <a:r>
                  <a:rPr sz="1650">
                    <a:solidFill>
                      <a:srgbClr val="67676B"/>
                    </a:solidFill>
                    <a:latin typeface="Helvetica Neue"/>
                    <a:ea typeface="Helvetica Neue"/>
                    <a:cs typeface="Helvetica Neue"/>
                  </a:rPr>
                  <a:t>Durée médiane (s)</a:t>
                </a:r>
              </a:p>
            </c:rich>
          </c:tx>
          <c:overlay val="0"/>
          <c:txPr>
            <a:bodyPr xmlns:a="http://schemas.openxmlformats.org/drawingml/2006/main" anchorCtr="1"/>
            <a:lstStyle xmlns:a="http://schemas.openxmlformats.org/drawingml/2006/main"/>
            <a:p xmlns:a="http://schemas.openxmlformats.org/drawingml/2006/main">
              <a:pPr>
                <a:defRPr sz="1650">
                  <a:solidFill>
                    <a:srgbClr val="67676B"/>
                  </a:solidFill>
                  <a:latin typeface="Helvetica Neue"/>
                  <a:ea typeface="Helvetica Neue"/>
                  <a:cs typeface="Helvetica Neue"/>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650">
                <a:solidFill>
                  <a:srgbClr val="67676B"/>
                </a:solidFill>
                <a:latin typeface="Helvetica Neue"/>
                <a:ea typeface="Helvetica Neue"/>
                <a:cs typeface="Helvetica Neue"/>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27282C"/>
                </a:solidFill>
                <a:latin typeface="Helvetica Neue"/>
                <a:ea typeface="Helvetica Neue"/>
                <a:cs typeface="Helvetica Neue"/>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texte-1">
            <a:extLst xmlns:a="http://schemas.openxmlformats.org/drawingml/2006/main">
              <a:ext uri="{FF2B5EF4-FFF2-40B4-BE49-F238E27FC236}">
                <a16:creationId xmlns:a16="http://schemas.microsoft.com/office/drawing/2014/main" id="{4D0F680E-7BC1-4E44-AEA8-F2F2F6CEE315}"/>
              </a:ext>
            </a:extLst>
          </p:cNvPr>
          <p:cNvSpPr>
            <a:spLocks xmlns:a="http://schemas.openxmlformats.org/drawingml/2006/main" noGrp="1"/>
          </p:cNvSpPr>
          <p:nvPr/>
        </p:nvSpPr>
        <p:spPr>
          <a:xfrm xmlns:a="http://schemas.openxmlformats.org/drawingml/2006/main">
            <a:off x="609600" y="666750"/>
            <a:ext cx="61912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400" b="0">
                <a:solidFill>
                  <a:srgbClr val="A31635"/>
                </a:solidFill>
                <a:latin typeface="Helvetica Neue"/>
                <a:ea typeface="Helvetica Neue"/>
                <a:cs typeface="Helvetica Neue"/>
              </a:defRPr>
            </a:pPr>
            <a:r>
              <a:rPr sz="2400" b="0">
                <a:solidFill>
                  <a:srgbClr val="A31635"/>
                </a:solidFill>
                <a:latin typeface="Helvetica Neue"/>
                <a:ea typeface="Helvetica Neue"/>
                <a:cs typeface="Helvetica Neue"/>
              </a:rPr>
              <a:t>Bloc 3</a:t>
            </a:r>
          </a:p>
        </p:txBody>
      </p:sp>
      <p:sp>
        <p:nvSpPr>
          <p:cNvPr id="2" name="texte-2">
            <a:extLst xmlns:a="http://schemas.openxmlformats.org/drawingml/2006/main">
              <a:ext uri="{FF2B5EF4-FFF2-40B4-BE49-F238E27FC236}">
                <a16:creationId xmlns:a16="http://schemas.microsoft.com/office/drawing/2014/main" id="{B27E4880-43C0-466A-B5D9-DC238FDD3D4C}"/>
              </a:ext>
            </a:extLst>
          </p:cNvPr>
          <p:cNvSpPr>
            <a:spLocks xmlns:a="http://schemas.openxmlformats.org/drawingml/2006/main" noGrp="1"/>
          </p:cNvSpPr>
          <p:nvPr/>
        </p:nvSpPr>
        <p:spPr>
          <a:xfrm xmlns:a="http://schemas.openxmlformats.org/drawingml/2006/main">
            <a:off x="609600" y="1866900"/>
            <a:ext cx="108204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4800" b="0">
                <a:solidFill>
                  <a:srgbClr val="A31635"/>
                </a:solidFill>
                <a:latin typeface="Helvetica Neue"/>
                <a:ea typeface="Helvetica Neue"/>
                <a:cs typeface="Helvetica Neue"/>
              </a:defRPr>
            </a:pPr>
            <a:r>
              <a:rPr sz="4800" b="0">
                <a:solidFill>
                  <a:srgbClr val="A31635"/>
                </a:solidFill>
                <a:latin typeface="Helvetica Neue"/>
                <a:ea typeface="Helvetica Neue"/>
                <a:cs typeface="Helvetica Neue"/>
              </a:rPr>
              <a:t>Pipeline OSINT TASS</a:t>
            </a:r>
          </a:p>
        </p:txBody>
      </p:sp>
      <p:sp>
        <p:nvSpPr>
          <p:cNvPr id="3" name="texte-3">
            <a:extLst xmlns:a="http://schemas.openxmlformats.org/drawingml/2006/main">
              <a:ext uri="{FF2B5EF4-FFF2-40B4-BE49-F238E27FC236}">
                <a16:creationId xmlns:a16="http://schemas.microsoft.com/office/drawing/2014/main" id="{FD7489AD-0E90-40A7-B388-F87242BD9ECD}"/>
              </a:ext>
            </a:extLst>
          </p:cNvPr>
          <p:cNvSpPr>
            <a:spLocks xmlns:a="http://schemas.openxmlformats.org/drawingml/2006/main" noGrp="1"/>
          </p:cNvSpPr>
          <p:nvPr/>
        </p:nvSpPr>
        <p:spPr>
          <a:xfrm xmlns:a="http://schemas.openxmlformats.org/drawingml/2006/main">
            <a:off x="609600" y="3048000"/>
            <a:ext cx="104775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850" b="0">
                <a:solidFill>
                  <a:srgbClr val="27282C"/>
                </a:solidFill>
                <a:latin typeface="Helvetica Neue"/>
                <a:ea typeface="Helvetica Neue"/>
                <a:cs typeface="Helvetica Neue"/>
              </a:defRPr>
            </a:pPr>
            <a:r>
              <a:rPr sz="2850" b="0">
                <a:solidFill>
                  <a:srgbClr val="27282C"/>
                </a:solidFill>
                <a:latin typeface="Helvetica Neue"/>
                <a:ea typeface="Helvetica Neue"/>
                <a:cs typeface="Helvetica Neue"/>
              </a:rPr>
              <a:t>Préparer des articles traçables</a:t>
            </a:r>
          </a:p>
          <a:p xmlns:a="http://schemas.openxmlformats.org/drawingml/2006/main">
            <a:pPr algn="l">
              <a:buNone/>
              <a:defRPr sz="2850" b="0">
                <a:solidFill>
                  <a:srgbClr val="27282C"/>
                </a:solidFill>
                <a:latin typeface="Helvetica Neue"/>
                <a:ea typeface="Helvetica Neue"/>
                <a:cs typeface="Helvetica Neue"/>
              </a:defRPr>
            </a:pPr>
            <a:r>
              <a:rPr sz="2850" b="0">
                <a:solidFill>
                  <a:srgbClr val="27282C"/>
                </a:solidFill>
                <a:latin typeface="Helvetica Neue"/>
                <a:ea typeface="Helvetica Neue"/>
                <a:cs typeface="Helvetica Neue"/>
              </a:rPr>
              <a:t>pour l’analyse NER</a:t>
            </a:r>
          </a:p>
        </p:txBody>
      </p:sp>
      <p:sp>
        <p:nvSpPr>
          <p:cNvPr id="4" name="texte-4">
            <a:extLst xmlns:a="http://schemas.openxmlformats.org/drawingml/2006/main">
              <a:ext uri="{FF2B5EF4-FFF2-40B4-BE49-F238E27FC236}">
                <a16:creationId xmlns:a16="http://schemas.microsoft.com/office/drawing/2014/main" id="{9CBB9876-9717-4231-B45A-F7D94E3F54BB}"/>
              </a:ext>
            </a:extLst>
          </p:cNvPr>
          <p:cNvSpPr>
            <a:spLocks xmlns:a="http://schemas.openxmlformats.org/drawingml/2006/main" noGrp="1"/>
          </p:cNvSpPr>
          <p:nvPr/>
        </p:nvSpPr>
        <p:spPr>
          <a:xfrm xmlns:a="http://schemas.openxmlformats.org/drawingml/2006/main">
            <a:off x="609600" y="5219700"/>
            <a:ext cx="85725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67676B"/>
                </a:solidFill>
                <a:latin typeface="Helvetica Neue"/>
                <a:ea typeface="Helvetica Neue"/>
                <a:cs typeface="Helvetica Neue"/>
              </a:defRPr>
            </a:pPr>
            <a:r>
              <a:rPr sz="1800" b="0">
                <a:solidFill>
                  <a:srgbClr val="67676B"/>
                </a:solidFill>
                <a:latin typeface="Helvetica Neue"/>
                <a:ea typeface="Helvetica Neue"/>
                <a:cs typeface="Helvetica Neue"/>
              </a:rPr>
              <a:t>Edouard Cappaert</a:t>
            </a:r>
          </a:p>
          <a:p xmlns:a="http://schemas.openxmlformats.org/drawingml/2006/main">
            <a:pPr algn="l">
              <a:buNone/>
              <a:defRPr sz="1800" b="0">
                <a:solidFill>
                  <a:srgbClr val="67676B"/>
                </a:solidFill>
                <a:latin typeface="Helvetica Neue"/>
                <a:ea typeface="Helvetica Neue"/>
                <a:cs typeface="Helvetica Neue"/>
              </a:defRPr>
            </a:pPr>
            <a:r>
              <a:rPr sz="1800" b="0">
                <a:solidFill>
                  <a:srgbClr val="67676B"/>
                </a:solidFill>
                <a:latin typeface="Helvetica Neue"/>
                <a:ea typeface="Helvetica Neue"/>
                <a:cs typeface="Helvetica Neue"/>
              </a:rPr>
              <a:t>Mémoire OSINT · 18 octobre 2026</a:t>
            </a:r>
          </a:p>
        </p:txBody>
      </p:sp>
      <p:sp>
        <p:nvSpPr>
          <p:cNvPr id="5" name="texte-5">
            <a:extLst xmlns:a="http://schemas.openxmlformats.org/drawingml/2006/main">
              <a:ext uri="{FF2B5EF4-FFF2-40B4-BE49-F238E27FC236}">
                <a16:creationId xmlns:a16="http://schemas.microsoft.com/office/drawing/2014/main" id="{64DC27C1-18EB-429E-A707-52FCE41E0220}"/>
              </a:ext>
            </a:extLst>
          </p:cNvPr>
          <p:cNvSpPr>
            <a:spLocks xmlns:a="http://schemas.openxmlformats.org/drawingml/2006/main" noGrp="1"/>
          </p:cNvSpPr>
          <p:nvPr/>
        </p:nvSpPr>
        <p:spPr>
          <a:xfrm xmlns:a="http://schemas.openxmlformats.org/drawingml/2006/main">
            <a:off x="9144000" y="6362700"/>
            <a:ext cx="2438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0:00 à 0:35   1 / 7</a:t>
            </a:r>
          </a:p>
        </p:txBody>
      </p:sp>
    </p:spTree>
    <p:extLst>
      <p:ext uri="{BB962C8B-B14F-4D97-AF65-F5344CB8AC3E}">
        <p14:creationId xmlns:p14="http://schemas.microsoft.com/office/powerpoint/2010/main" val="200710785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9" name="texte-6">
            <a:extLst xmlns:a="http://schemas.openxmlformats.org/drawingml/2006/main">
              <a:ext uri="{FF2B5EF4-FFF2-40B4-BE49-F238E27FC236}">
                <a16:creationId xmlns:a16="http://schemas.microsoft.com/office/drawing/2014/main" id="{4D598183-B857-466E-A851-A5D61FFFDE7E}"/>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Architecture du pipeline</a:t>
            </a:r>
          </a:p>
        </p:txBody>
      </p:sp>
      <p:sp>
        <p:nvSpPr>
          <p:cNvPr id="2" name="texte-7">
            <a:extLst xmlns:a="http://schemas.openxmlformats.org/drawingml/2006/main">
              <a:ext uri="{FF2B5EF4-FFF2-40B4-BE49-F238E27FC236}">
                <a16:creationId xmlns:a16="http://schemas.microsoft.com/office/drawing/2014/main" id="{9BA56577-DF35-4442-A9FB-1C6D3BDD7EC7}"/>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Edouard Cappaert</a:t>
            </a:r>
          </a:p>
        </p:txBody>
      </p:sp>
      <p:sp>
        <p:nvSpPr>
          <p:cNvPr id="3" name="texte-8">
            <a:extLst xmlns:a="http://schemas.openxmlformats.org/drawingml/2006/main">
              <a:ext uri="{FF2B5EF4-FFF2-40B4-BE49-F238E27FC236}">
                <a16:creationId xmlns:a16="http://schemas.microsoft.com/office/drawing/2014/main" id="{B117138E-E7A9-4967-9F8D-03A24D61FABA}"/>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0:35 à 1:25   2 / 7</a:t>
            </a:r>
          </a:p>
        </p:txBody>
      </p:sp>
      <p:sp>
        <p:nvSpPr>
          <p:cNvPr id="4" name="etape-9">
            <a:extLst xmlns:a="http://schemas.openxmlformats.org/drawingml/2006/main">
              <a:ext uri="{FF2B5EF4-FFF2-40B4-BE49-F238E27FC236}">
                <a16:creationId xmlns:a16="http://schemas.microsoft.com/office/drawing/2014/main" id="{7F3D2FB4-8EAB-4D38-ACD5-61FD9EEB2452}"/>
              </a:ext>
            </a:extLst>
          </p:cNvPr>
          <p:cNvSpPr>
            <a:spLocks xmlns:a="http://schemas.openxmlformats.org/drawingml/2006/main" noGrp="1"/>
          </p:cNvSpPr>
          <p:nvPr/>
        </p:nvSpPr>
        <p:spPr>
          <a:xfrm xmlns:a="http://schemas.openxmlformats.org/drawingml/2006/main">
            <a:off x="609600" y="1581150"/>
            <a:ext cx="3200400" cy="1162050"/>
          </a:xfrm>
          <a:prstGeom xmlns:a="http://schemas.openxmlformats.org/drawingml/2006/main" prst="rect">
            <a:avLst/>
          </a:prstGeom>
          <a:solidFill xmlns:a="http://schemas.openxmlformats.org/drawingml/2006/main">
            <a:srgbClr val="F8F1F3"/>
          </a:solidFill>
          <a:ln xmlns:a="http://schemas.openxmlformats.org/drawingml/2006/main" w="14288">
            <a:solidFill>
              <a:srgbClr val="A31635"/>
            </a:solidFill>
          </a:ln>
        </p:spPr>
      </p:sp>
      <p:sp>
        <p:nvSpPr>
          <p:cNvPr id="5" name="texte-10">
            <a:extLst xmlns:a="http://schemas.openxmlformats.org/drawingml/2006/main">
              <a:ext uri="{FF2B5EF4-FFF2-40B4-BE49-F238E27FC236}">
                <a16:creationId xmlns:a16="http://schemas.microsoft.com/office/drawing/2014/main" id="{A16D708B-C2E7-4D47-9FF0-2FF255BB8EC2}"/>
              </a:ext>
            </a:extLst>
          </p:cNvPr>
          <p:cNvSpPr>
            <a:spLocks xmlns:a="http://schemas.openxmlformats.org/drawingml/2006/main" noGrp="1"/>
          </p:cNvSpPr>
          <p:nvPr/>
        </p:nvSpPr>
        <p:spPr>
          <a:xfrm xmlns:a="http://schemas.openxmlformats.org/drawingml/2006/main">
            <a:off x="781050" y="17430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A31635"/>
                </a:solidFill>
                <a:latin typeface="Helvetica Neue"/>
                <a:ea typeface="Helvetica Neue"/>
                <a:cs typeface="Helvetica Neue"/>
              </a:defRPr>
            </a:pPr>
            <a:r>
              <a:rPr sz="2025" b="1">
                <a:solidFill>
                  <a:srgbClr val="A31635"/>
                </a:solidFill>
                <a:latin typeface="Helvetica Neue"/>
                <a:ea typeface="Helvetica Neue"/>
                <a:cs typeface="Helvetica Neue"/>
              </a:rPr>
              <a:t>TASS ou JSON fourni</a:t>
            </a:r>
          </a:p>
        </p:txBody>
      </p:sp>
      <p:sp>
        <p:nvSpPr>
          <p:cNvPr id="6" name="texte-11">
            <a:extLst xmlns:a="http://schemas.openxmlformats.org/drawingml/2006/main">
              <a:ext uri="{FF2B5EF4-FFF2-40B4-BE49-F238E27FC236}">
                <a16:creationId xmlns:a16="http://schemas.microsoft.com/office/drawing/2014/main" id="{09900806-64D7-4B49-887E-C3A9B9B695E8}"/>
              </a:ext>
            </a:extLst>
          </p:cNvPr>
          <p:cNvSpPr>
            <a:spLocks xmlns:a="http://schemas.openxmlformats.org/drawingml/2006/main" noGrp="1"/>
          </p:cNvSpPr>
          <p:nvPr/>
        </p:nvSpPr>
        <p:spPr>
          <a:xfrm xmlns:a="http://schemas.openxmlformats.org/drawingml/2006/main">
            <a:off x="781050" y="214312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27282C"/>
                </a:solidFill>
                <a:latin typeface="Helvetica Neue"/>
                <a:ea typeface="Helvetica Neue"/>
                <a:cs typeface="Helvetica Neue"/>
              </a:defRPr>
            </a:pPr>
            <a:r>
              <a:rPr sz="1650" b="0">
                <a:solidFill>
                  <a:srgbClr val="27282C"/>
                </a:solidFill>
                <a:latin typeface="Helvetica Neue"/>
                <a:ea typeface="Helvetica Neue"/>
                <a:cs typeface="Helvetica Neue"/>
              </a:rPr>
              <a:t>Fenêtre UTC glissante</a:t>
            </a:r>
          </a:p>
        </p:txBody>
      </p:sp>
      <p:sp>
        <p:nvSpPr>
          <p:cNvPr id="7" name="etape-12">
            <a:extLst xmlns:a="http://schemas.openxmlformats.org/drawingml/2006/main">
              <a:ext uri="{FF2B5EF4-FFF2-40B4-BE49-F238E27FC236}">
                <a16:creationId xmlns:a16="http://schemas.microsoft.com/office/drawing/2014/main" id="{9DCD3F88-8EAC-4E56-8843-35CBE4B9FCF2}"/>
              </a:ext>
            </a:extLst>
          </p:cNvPr>
          <p:cNvSpPr>
            <a:spLocks xmlns:a="http://schemas.openxmlformats.org/drawingml/2006/main" noGrp="1"/>
          </p:cNvSpPr>
          <p:nvPr/>
        </p:nvSpPr>
        <p:spPr>
          <a:xfrm xmlns:a="http://schemas.openxmlformats.org/drawingml/2006/main">
            <a:off x="4495800" y="1581150"/>
            <a:ext cx="3200400" cy="1162050"/>
          </a:xfrm>
          <a:prstGeom xmlns:a="http://schemas.openxmlformats.org/drawingml/2006/main" prst="rect">
            <a:avLst/>
          </a:prstGeom>
          <a:solidFill xmlns:a="http://schemas.openxmlformats.org/drawingml/2006/main">
            <a:srgbClr val="F8F1F3"/>
          </a:solidFill>
          <a:ln xmlns:a="http://schemas.openxmlformats.org/drawingml/2006/main" w="14288">
            <a:solidFill>
              <a:srgbClr val="A31635"/>
            </a:solidFill>
          </a:ln>
        </p:spPr>
      </p:sp>
      <p:sp>
        <p:nvSpPr>
          <p:cNvPr id="8" name="texte-13">
            <a:extLst xmlns:a="http://schemas.openxmlformats.org/drawingml/2006/main">
              <a:ext uri="{FF2B5EF4-FFF2-40B4-BE49-F238E27FC236}">
                <a16:creationId xmlns:a16="http://schemas.microsoft.com/office/drawing/2014/main" id="{C6F8F0EB-2104-4EBA-94E0-94D343F4C6CB}"/>
              </a:ext>
            </a:extLst>
          </p:cNvPr>
          <p:cNvSpPr>
            <a:spLocks xmlns:a="http://schemas.openxmlformats.org/drawingml/2006/main" noGrp="1"/>
          </p:cNvSpPr>
          <p:nvPr/>
        </p:nvSpPr>
        <p:spPr>
          <a:xfrm xmlns:a="http://schemas.openxmlformats.org/drawingml/2006/main">
            <a:off x="4667250" y="17430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A31635"/>
                </a:solidFill>
                <a:latin typeface="Helvetica Neue"/>
                <a:ea typeface="Helvetica Neue"/>
                <a:cs typeface="Helvetica Neue"/>
              </a:defRPr>
            </a:pPr>
            <a:r>
              <a:rPr sz="2025" b="1">
                <a:solidFill>
                  <a:srgbClr val="A31635"/>
                </a:solidFill>
                <a:latin typeface="Helvetica Neue"/>
                <a:ea typeface="Helvetica Neue"/>
                <a:cs typeface="Helvetica Neue"/>
              </a:rPr>
              <a:t>Extraction et qualité</a:t>
            </a:r>
          </a:p>
        </p:txBody>
      </p:sp>
      <p:sp>
        <p:nvSpPr>
          <p:cNvPr id="9" name="texte-14">
            <a:extLst xmlns:a="http://schemas.openxmlformats.org/drawingml/2006/main">
              <a:ext uri="{FF2B5EF4-FFF2-40B4-BE49-F238E27FC236}">
                <a16:creationId xmlns:a16="http://schemas.microsoft.com/office/drawing/2014/main" id="{D30AD2DC-2948-4847-93F1-3DC59F1DB607}"/>
              </a:ext>
            </a:extLst>
          </p:cNvPr>
          <p:cNvSpPr>
            <a:spLocks xmlns:a="http://schemas.openxmlformats.org/drawingml/2006/main" noGrp="1"/>
          </p:cNvSpPr>
          <p:nvPr/>
        </p:nvSpPr>
        <p:spPr>
          <a:xfrm xmlns:a="http://schemas.openxmlformats.org/drawingml/2006/main">
            <a:off x="4667250" y="214312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27282C"/>
                </a:solidFill>
                <a:latin typeface="Helvetica Neue"/>
                <a:ea typeface="Helvetica Neue"/>
                <a:cs typeface="Helvetica Neue"/>
              </a:defRPr>
            </a:pPr>
            <a:r>
              <a:rPr sz="1650" b="0">
                <a:solidFill>
                  <a:srgbClr val="27282C"/>
                </a:solidFill>
                <a:latin typeface="Helvetica Neue"/>
                <a:ea typeface="Helvetica Neue"/>
                <a:cs typeface="Helvetica Neue"/>
              </a:rPr>
              <a:t>Texte, date, URL et doublons</a:t>
            </a:r>
          </a:p>
        </p:txBody>
      </p:sp>
      <p:sp>
        <p:nvSpPr>
          <p:cNvPr id="10" name="etape-15">
            <a:extLst xmlns:a="http://schemas.openxmlformats.org/drawingml/2006/main">
              <a:ext uri="{FF2B5EF4-FFF2-40B4-BE49-F238E27FC236}">
                <a16:creationId xmlns:a16="http://schemas.microsoft.com/office/drawing/2014/main" id="{FF849D2D-D27E-4F9D-A065-9EF40915D88E}"/>
              </a:ext>
            </a:extLst>
          </p:cNvPr>
          <p:cNvSpPr>
            <a:spLocks xmlns:a="http://schemas.openxmlformats.org/drawingml/2006/main" noGrp="1"/>
          </p:cNvSpPr>
          <p:nvPr/>
        </p:nvSpPr>
        <p:spPr>
          <a:xfrm xmlns:a="http://schemas.openxmlformats.org/drawingml/2006/main">
            <a:off x="8382000" y="1581150"/>
            <a:ext cx="3200400" cy="1162050"/>
          </a:xfrm>
          <a:prstGeom xmlns:a="http://schemas.openxmlformats.org/drawingml/2006/main" prst="rect">
            <a:avLst/>
          </a:prstGeom>
          <a:solidFill xmlns:a="http://schemas.openxmlformats.org/drawingml/2006/main">
            <a:srgbClr val="F8F1F3"/>
          </a:solidFill>
          <a:ln xmlns:a="http://schemas.openxmlformats.org/drawingml/2006/main" w="14288">
            <a:solidFill>
              <a:srgbClr val="A31635"/>
            </a:solidFill>
          </a:ln>
        </p:spPr>
      </p:sp>
      <p:sp>
        <p:nvSpPr>
          <p:cNvPr id="11" name="texte-16">
            <a:extLst xmlns:a="http://schemas.openxmlformats.org/drawingml/2006/main">
              <a:ext uri="{FF2B5EF4-FFF2-40B4-BE49-F238E27FC236}">
                <a16:creationId xmlns:a16="http://schemas.microsoft.com/office/drawing/2014/main" id="{B2F6EFB5-2C20-4B80-AC1B-1F284D22408C}"/>
              </a:ext>
            </a:extLst>
          </p:cNvPr>
          <p:cNvSpPr>
            <a:spLocks xmlns:a="http://schemas.openxmlformats.org/drawingml/2006/main" noGrp="1"/>
          </p:cNvSpPr>
          <p:nvPr/>
        </p:nvSpPr>
        <p:spPr>
          <a:xfrm xmlns:a="http://schemas.openxmlformats.org/drawingml/2006/main">
            <a:off x="8553450" y="17430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A31635"/>
                </a:solidFill>
                <a:latin typeface="Helvetica Neue"/>
                <a:ea typeface="Helvetica Neue"/>
                <a:cs typeface="Helvetica Neue"/>
              </a:defRPr>
            </a:pPr>
            <a:r>
              <a:rPr sz="2025" b="1">
                <a:solidFill>
                  <a:srgbClr val="A31635"/>
                </a:solidFill>
                <a:latin typeface="Helvetica Neue"/>
                <a:ea typeface="Helvetica Neue"/>
                <a:cs typeface="Helvetica Neue"/>
              </a:rPr>
              <a:t>Catalogue SQLite</a:t>
            </a:r>
          </a:p>
        </p:txBody>
      </p:sp>
      <p:sp>
        <p:nvSpPr>
          <p:cNvPr id="12" name="texte-17">
            <a:extLst xmlns:a="http://schemas.openxmlformats.org/drawingml/2006/main">
              <a:ext uri="{FF2B5EF4-FFF2-40B4-BE49-F238E27FC236}">
                <a16:creationId xmlns:a16="http://schemas.microsoft.com/office/drawing/2014/main" id="{025CAEB6-3C61-4723-943B-60DB6B986E0A}"/>
              </a:ext>
            </a:extLst>
          </p:cNvPr>
          <p:cNvSpPr>
            <a:spLocks xmlns:a="http://schemas.openxmlformats.org/drawingml/2006/main" noGrp="1"/>
          </p:cNvSpPr>
          <p:nvPr/>
        </p:nvSpPr>
        <p:spPr>
          <a:xfrm xmlns:a="http://schemas.openxmlformats.org/drawingml/2006/main">
            <a:off x="8553450" y="214312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27282C"/>
                </a:solidFill>
                <a:latin typeface="Helvetica Neue"/>
                <a:ea typeface="Helvetica Neue"/>
                <a:cs typeface="Helvetica Neue"/>
              </a:defRPr>
            </a:pPr>
            <a:r>
              <a:rPr sz="1650" b="0">
                <a:solidFill>
                  <a:srgbClr val="27282C"/>
                </a:solidFill>
                <a:latin typeface="Helvetica Neue"/>
                <a:ea typeface="Helvetica Neue"/>
                <a:cs typeface="Helvetica Neue"/>
              </a:rPr>
              <a:t>Versions et checkpoints</a:t>
            </a:r>
          </a:p>
        </p:txBody>
      </p:sp>
      <p:sp>
        <p:nvSpPr>
          <p:cNvPr id="13" name="etape-18">
            <a:extLst xmlns:a="http://schemas.openxmlformats.org/drawingml/2006/main">
              <a:ext uri="{FF2B5EF4-FFF2-40B4-BE49-F238E27FC236}">
                <a16:creationId xmlns:a16="http://schemas.microsoft.com/office/drawing/2014/main" id="{A448BA82-2F4B-49D6-B546-45FB882F0C7E}"/>
              </a:ext>
            </a:extLst>
          </p:cNvPr>
          <p:cNvSpPr>
            <a:spLocks xmlns:a="http://schemas.openxmlformats.org/drawingml/2006/main" noGrp="1"/>
          </p:cNvSpPr>
          <p:nvPr/>
        </p:nvSpPr>
        <p:spPr>
          <a:xfrm xmlns:a="http://schemas.openxmlformats.org/drawingml/2006/main">
            <a:off x="4495800" y="3409950"/>
            <a:ext cx="3200400" cy="1162050"/>
          </a:xfrm>
          <a:prstGeom xmlns:a="http://schemas.openxmlformats.org/drawingml/2006/main" prst="rect">
            <a:avLst/>
          </a:prstGeom>
          <a:solidFill xmlns:a="http://schemas.openxmlformats.org/drawingml/2006/main">
            <a:srgbClr val="F8F1F3"/>
          </a:solidFill>
          <a:ln xmlns:a="http://schemas.openxmlformats.org/drawingml/2006/main" w="14288">
            <a:solidFill>
              <a:srgbClr val="A31635"/>
            </a:solidFill>
          </a:ln>
        </p:spPr>
      </p:sp>
      <p:sp>
        <p:nvSpPr>
          <p:cNvPr id="14" name="texte-19">
            <a:extLst xmlns:a="http://schemas.openxmlformats.org/drawingml/2006/main">
              <a:ext uri="{FF2B5EF4-FFF2-40B4-BE49-F238E27FC236}">
                <a16:creationId xmlns:a16="http://schemas.microsoft.com/office/drawing/2014/main" id="{C2DC8EBC-A341-466E-ADAA-2061BA969C41}"/>
              </a:ext>
            </a:extLst>
          </p:cNvPr>
          <p:cNvSpPr>
            <a:spLocks xmlns:a="http://schemas.openxmlformats.org/drawingml/2006/main" noGrp="1"/>
          </p:cNvSpPr>
          <p:nvPr/>
        </p:nvSpPr>
        <p:spPr>
          <a:xfrm xmlns:a="http://schemas.openxmlformats.org/drawingml/2006/main">
            <a:off x="4667250" y="35718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A31635"/>
                </a:solidFill>
                <a:latin typeface="Helvetica Neue"/>
                <a:ea typeface="Helvetica Neue"/>
                <a:cs typeface="Helvetica Neue"/>
              </a:defRPr>
            </a:pPr>
            <a:r>
              <a:rPr sz="2025" b="1">
                <a:solidFill>
                  <a:srgbClr val="A31635"/>
                </a:solidFill>
                <a:latin typeface="Helvetica Neue"/>
                <a:ea typeface="Helvetica Neue"/>
                <a:cs typeface="Helvetica Neue"/>
              </a:rPr>
              <a:t>JSON et JSONL</a:t>
            </a:r>
          </a:p>
        </p:txBody>
      </p:sp>
      <p:sp>
        <p:nvSpPr>
          <p:cNvPr id="15" name="texte-20">
            <a:extLst xmlns:a="http://schemas.openxmlformats.org/drawingml/2006/main">
              <a:ext uri="{FF2B5EF4-FFF2-40B4-BE49-F238E27FC236}">
                <a16:creationId xmlns:a16="http://schemas.microsoft.com/office/drawing/2014/main" id="{5B7DA020-E297-4AC7-88B8-F91D953996B3}"/>
              </a:ext>
            </a:extLst>
          </p:cNvPr>
          <p:cNvSpPr>
            <a:spLocks xmlns:a="http://schemas.openxmlformats.org/drawingml/2006/main" noGrp="1"/>
          </p:cNvSpPr>
          <p:nvPr/>
        </p:nvSpPr>
        <p:spPr>
          <a:xfrm xmlns:a="http://schemas.openxmlformats.org/drawingml/2006/main">
            <a:off x="4667250" y="397192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27282C"/>
                </a:solidFill>
                <a:latin typeface="Helvetica Neue"/>
                <a:ea typeface="Helvetica Neue"/>
                <a:cs typeface="Helvetica Neue"/>
              </a:defRPr>
            </a:pPr>
            <a:r>
              <a:rPr sz="1650" b="0">
                <a:solidFill>
                  <a:srgbClr val="27282C"/>
                </a:solidFill>
                <a:latin typeface="Helvetica Neue"/>
                <a:ea typeface="Helvetica Neue"/>
                <a:cs typeface="Helvetica Neue"/>
              </a:rPr>
              <a:t>Export après validation</a:t>
            </a:r>
          </a:p>
        </p:txBody>
      </p:sp>
      <p:sp>
        <p:nvSpPr>
          <p:cNvPr id="16" name="etape-21">
            <a:extLst xmlns:a="http://schemas.openxmlformats.org/drawingml/2006/main">
              <a:ext uri="{FF2B5EF4-FFF2-40B4-BE49-F238E27FC236}">
                <a16:creationId xmlns:a16="http://schemas.microsoft.com/office/drawing/2014/main" id="{CAD128E6-0CD2-4959-8FC0-5DBDEFEA995E}"/>
              </a:ext>
            </a:extLst>
          </p:cNvPr>
          <p:cNvSpPr>
            <a:spLocks xmlns:a="http://schemas.openxmlformats.org/drawingml/2006/main" noGrp="1"/>
          </p:cNvSpPr>
          <p:nvPr/>
        </p:nvSpPr>
        <p:spPr>
          <a:xfrm xmlns:a="http://schemas.openxmlformats.org/drawingml/2006/main">
            <a:off x="609600" y="3409950"/>
            <a:ext cx="3200400" cy="1162050"/>
          </a:xfrm>
          <a:prstGeom xmlns:a="http://schemas.openxmlformats.org/drawingml/2006/main" prst="rect">
            <a:avLst/>
          </a:prstGeom>
          <a:solidFill xmlns:a="http://schemas.openxmlformats.org/drawingml/2006/main">
            <a:srgbClr val="F8F1F3"/>
          </a:solidFill>
          <a:ln xmlns:a="http://schemas.openxmlformats.org/drawingml/2006/main" w="14288">
            <a:solidFill>
              <a:srgbClr val="A31635"/>
            </a:solidFill>
          </a:ln>
        </p:spPr>
      </p:sp>
      <p:sp>
        <p:nvSpPr>
          <p:cNvPr id="17" name="texte-22">
            <a:extLst xmlns:a="http://schemas.openxmlformats.org/drawingml/2006/main">
              <a:ext uri="{FF2B5EF4-FFF2-40B4-BE49-F238E27FC236}">
                <a16:creationId xmlns:a16="http://schemas.microsoft.com/office/drawing/2014/main" id="{7148BF19-95F6-40F3-9C5B-1104745054F6}"/>
              </a:ext>
            </a:extLst>
          </p:cNvPr>
          <p:cNvSpPr>
            <a:spLocks xmlns:a="http://schemas.openxmlformats.org/drawingml/2006/main" noGrp="1"/>
          </p:cNvSpPr>
          <p:nvPr/>
        </p:nvSpPr>
        <p:spPr>
          <a:xfrm xmlns:a="http://schemas.openxmlformats.org/drawingml/2006/main">
            <a:off x="781050" y="35718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A31635"/>
                </a:solidFill>
                <a:latin typeface="Helvetica Neue"/>
                <a:ea typeface="Helvetica Neue"/>
                <a:cs typeface="Helvetica Neue"/>
              </a:defRPr>
            </a:pPr>
            <a:r>
              <a:rPr sz="2025" b="1">
                <a:solidFill>
                  <a:srgbClr val="A31635"/>
                </a:solidFill>
                <a:latin typeface="Helvetica Neue"/>
                <a:ea typeface="Helvetica Neue"/>
                <a:cs typeface="Helvetica Neue"/>
              </a:rPr>
              <a:t>Architecture du Bloc 2</a:t>
            </a:r>
          </a:p>
        </p:txBody>
      </p:sp>
      <p:sp>
        <p:nvSpPr>
          <p:cNvPr id="18" name="texte-23">
            <a:extLst xmlns:a="http://schemas.openxmlformats.org/drawingml/2006/main">
              <a:ext uri="{FF2B5EF4-FFF2-40B4-BE49-F238E27FC236}">
                <a16:creationId xmlns:a16="http://schemas.microsoft.com/office/drawing/2014/main" id="{07B95050-B26A-42B3-BDAB-8F0961E5BA65}"/>
              </a:ext>
            </a:extLst>
          </p:cNvPr>
          <p:cNvSpPr>
            <a:spLocks xmlns:a="http://schemas.openxmlformats.org/drawingml/2006/main" noGrp="1"/>
          </p:cNvSpPr>
          <p:nvPr/>
        </p:nvSpPr>
        <p:spPr>
          <a:xfrm xmlns:a="http://schemas.openxmlformats.org/drawingml/2006/main">
            <a:off x="781050" y="397192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27282C"/>
                </a:solidFill>
                <a:latin typeface="Helvetica Neue"/>
                <a:ea typeface="Helvetica Neue"/>
                <a:cs typeface="Helvetica Neue"/>
              </a:defRPr>
            </a:pPr>
            <a:r>
              <a:rPr sz="1650" b="0">
                <a:solidFill>
                  <a:srgbClr val="27282C"/>
                </a:solidFill>
                <a:latin typeface="Helvetica Neue"/>
                <a:ea typeface="Helvetica Neue"/>
                <a:cs typeface="Helvetica Neue"/>
              </a:rPr>
              <a:t>Import JSON explicite</a:t>
            </a:r>
          </a:p>
        </p:txBody>
      </p:sp>
      <p:sp>
        <p:nvSpPr>
          <p:cNvPr id="19" name="etape-24">
            <a:extLst xmlns:a="http://schemas.openxmlformats.org/drawingml/2006/main">
              <a:ext uri="{FF2B5EF4-FFF2-40B4-BE49-F238E27FC236}">
                <a16:creationId xmlns:a16="http://schemas.microsoft.com/office/drawing/2014/main" id="{E542593A-F6F8-4676-8BD8-5C2450D42B52}"/>
              </a:ext>
            </a:extLst>
          </p:cNvPr>
          <p:cNvSpPr>
            <a:spLocks xmlns:a="http://schemas.openxmlformats.org/drawingml/2006/main" noGrp="1"/>
          </p:cNvSpPr>
          <p:nvPr/>
        </p:nvSpPr>
        <p:spPr>
          <a:xfrm xmlns:a="http://schemas.openxmlformats.org/drawingml/2006/main">
            <a:off x="8382000" y="3409950"/>
            <a:ext cx="3200400" cy="1162050"/>
          </a:xfrm>
          <a:prstGeom xmlns:a="http://schemas.openxmlformats.org/drawingml/2006/main" prst="rect">
            <a:avLst/>
          </a:prstGeom>
          <a:solidFill xmlns:a="http://schemas.openxmlformats.org/drawingml/2006/main">
            <a:srgbClr val="F8F1F3"/>
          </a:solidFill>
          <a:ln xmlns:a="http://schemas.openxmlformats.org/drawingml/2006/main" w="14288">
            <a:solidFill>
              <a:srgbClr val="A31635"/>
            </a:solidFill>
          </a:ln>
        </p:spPr>
      </p:sp>
      <p:sp>
        <p:nvSpPr>
          <p:cNvPr id="20" name="texte-25">
            <a:extLst xmlns:a="http://schemas.openxmlformats.org/drawingml/2006/main">
              <a:ext uri="{FF2B5EF4-FFF2-40B4-BE49-F238E27FC236}">
                <a16:creationId xmlns:a16="http://schemas.microsoft.com/office/drawing/2014/main" id="{55D3CEF2-56CB-494C-A6DA-4B9336E4C8D5}"/>
              </a:ext>
            </a:extLst>
          </p:cNvPr>
          <p:cNvSpPr>
            <a:spLocks xmlns:a="http://schemas.openxmlformats.org/drawingml/2006/main" noGrp="1"/>
          </p:cNvSpPr>
          <p:nvPr/>
        </p:nvSpPr>
        <p:spPr>
          <a:xfrm xmlns:a="http://schemas.openxmlformats.org/drawingml/2006/main">
            <a:off x="8553450" y="3571875"/>
            <a:ext cx="285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2025" b="1">
                <a:solidFill>
                  <a:srgbClr val="A31635"/>
                </a:solidFill>
                <a:latin typeface="Helvetica Neue"/>
                <a:ea typeface="Helvetica Neue"/>
                <a:cs typeface="Helvetica Neue"/>
              </a:defRPr>
            </a:pPr>
            <a:r>
              <a:rPr sz="2025" b="1">
                <a:solidFill>
                  <a:srgbClr val="A31635"/>
                </a:solidFill>
                <a:latin typeface="Helvetica Neue"/>
                <a:ea typeface="Helvetica Neue"/>
                <a:cs typeface="Helvetica Neue"/>
              </a:rPr>
              <a:t>Analyse du Bloc 4</a:t>
            </a:r>
          </a:p>
        </p:txBody>
      </p:sp>
      <p:sp>
        <p:nvSpPr>
          <p:cNvPr id="21" name="texte-26">
            <a:extLst xmlns:a="http://schemas.openxmlformats.org/drawingml/2006/main">
              <a:ext uri="{FF2B5EF4-FFF2-40B4-BE49-F238E27FC236}">
                <a16:creationId xmlns:a16="http://schemas.microsoft.com/office/drawing/2014/main" id="{02849164-61CE-46DD-AE67-3021B1252621}"/>
              </a:ext>
            </a:extLst>
          </p:cNvPr>
          <p:cNvSpPr>
            <a:spLocks xmlns:a="http://schemas.openxmlformats.org/drawingml/2006/main" noGrp="1"/>
          </p:cNvSpPr>
          <p:nvPr/>
        </p:nvSpPr>
        <p:spPr>
          <a:xfrm xmlns:a="http://schemas.openxmlformats.org/drawingml/2006/main">
            <a:off x="8553450" y="3971925"/>
            <a:ext cx="28575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buNone/>
              <a:defRPr sz="1650" b="0">
                <a:solidFill>
                  <a:srgbClr val="27282C"/>
                </a:solidFill>
                <a:latin typeface="Helvetica Neue"/>
                <a:ea typeface="Helvetica Neue"/>
                <a:cs typeface="Helvetica Neue"/>
              </a:defRPr>
            </a:pPr>
            <a:r>
              <a:rPr sz="1650" b="0">
                <a:solidFill>
                  <a:srgbClr val="27282C"/>
                </a:solidFill>
                <a:latin typeface="Helvetica Neue"/>
                <a:ea typeface="Helvetica Neue"/>
                <a:cs typeface="Helvetica Neue"/>
              </a:rPr>
              <a:t>Inférence sur le JSONL figé</a:t>
            </a:r>
          </a:p>
        </p:txBody>
      </p:sp>
      <p:cxnSp>
        <p:nvCxnSpPr>
          <p:cNvPr id="50" name="">
            <a:extLst xmlns:a="http://schemas.openxmlformats.org/drawingml/2006/main">
              <a:ext uri="{FF2B5EF4-FFF2-40B4-BE49-F238E27FC236}">
                <a16:creationId xmlns:a16="http://schemas.microsoft.com/office/drawing/2014/main" id="{E2D3766C-2EA6-4A92-B267-D5B49A81780F}"/>
              </a:ext>
            </a:extLst>
          </p:cNvPr>
          <p:cNvCxnSpPr>
            <a:stCxn xmlns:a="http://schemas.openxmlformats.org/drawingml/2006/main" id="4" idx="3"/>
            <a:endCxn xmlns:a="http://schemas.openxmlformats.org/drawingml/2006/main" id="7" idx="1"/>
          </p:cNvCxnSpPr>
          <p:nvPr/>
        </p:nvCxnSpPr>
        <p:spPr>
          <a:xfrm xmlns:a="http://schemas.openxmlformats.org/drawingml/2006/main">
            <a:off x="3810000" y="2162175"/>
            <a:ext cx="685800" cy="0"/>
          </a:xfrm>
          <a:prstGeom xmlns:a="http://schemas.openxmlformats.org/drawingml/2006/main" prst="straightConnector1">
            <a:avLst/>
          </a:prstGeom>
          <a:ln xmlns:a="http://schemas.openxmlformats.org/drawingml/2006/main" w="19050">
            <a:solidFill>
              <a:srgbClr val="A31635"/>
            </a:solidFill>
            <a:prstDash val="solid"/>
            <a:tailEnd type="triangle" w="sm" len="sm"/>
          </a:ln>
        </p:spPr>
      </p:cxnSp>
      <p:cxnSp>
        <p:nvCxnSpPr>
          <p:cNvPr id="51" name="">
            <a:extLst xmlns:a="http://schemas.openxmlformats.org/drawingml/2006/main">
              <a:ext uri="{FF2B5EF4-FFF2-40B4-BE49-F238E27FC236}">
                <a16:creationId xmlns:a16="http://schemas.microsoft.com/office/drawing/2014/main" id="{6E76568A-25E6-491B-BCEC-552D1E377E86}"/>
              </a:ext>
            </a:extLst>
          </p:cNvPr>
          <p:cNvCxnSpPr>
            <a:stCxn xmlns:a="http://schemas.openxmlformats.org/drawingml/2006/main" id="7" idx="3"/>
            <a:endCxn xmlns:a="http://schemas.openxmlformats.org/drawingml/2006/main" id="10" idx="1"/>
          </p:cNvCxnSpPr>
          <p:nvPr/>
        </p:nvCxnSpPr>
        <p:spPr>
          <a:xfrm xmlns:a="http://schemas.openxmlformats.org/drawingml/2006/main">
            <a:off x="7696200" y="2162175"/>
            <a:ext cx="685800" cy="0"/>
          </a:xfrm>
          <a:prstGeom xmlns:a="http://schemas.openxmlformats.org/drawingml/2006/main" prst="straightConnector1">
            <a:avLst/>
          </a:prstGeom>
          <a:ln xmlns:a="http://schemas.openxmlformats.org/drawingml/2006/main" w="19050">
            <a:solidFill>
              <a:srgbClr val="A31635"/>
            </a:solidFill>
            <a:prstDash val="solid"/>
            <a:tailEnd type="triangle" w="sm" len="sm"/>
          </a:ln>
        </p:spPr>
      </p:cxnSp>
      <p:cxnSp>
        <p:nvCxnSpPr>
          <p:cNvPr id="52" name="">
            <a:extLst xmlns:a="http://schemas.openxmlformats.org/drawingml/2006/main">
              <a:ext uri="{FF2B5EF4-FFF2-40B4-BE49-F238E27FC236}">
                <a16:creationId xmlns:a16="http://schemas.microsoft.com/office/drawing/2014/main" id="{2430503A-6F0D-4FA8-B4FC-35A6B8EF3ED1}"/>
              </a:ext>
            </a:extLst>
          </p:cNvPr>
          <p:cNvCxnSpPr>
            <a:stCxn xmlns:a="http://schemas.openxmlformats.org/drawingml/2006/main" id="10" idx="2"/>
            <a:endCxn xmlns:a="http://schemas.openxmlformats.org/drawingml/2006/main" id="13" idx="0"/>
          </p:cNvCxnSpPr>
          <p:nvPr/>
        </p:nvCxnSpPr>
        <p:spPr>
          <a:xfrm xmlns:a="http://schemas.openxmlformats.org/drawingml/2006/main" flipH="1">
            <a:off x="6096000" y="2743200"/>
            <a:ext cx="3886200" cy="666750"/>
          </a:xfrm>
          <a:prstGeom xmlns:a="http://schemas.openxmlformats.org/drawingml/2006/main" prst="bentConnector4">
            <a:avLst>
              <a:gd name="adj1" fmla="val 0"/>
              <a:gd name="adj2" fmla="val 50000"/>
            </a:avLst>
          </a:prstGeom>
          <a:ln xmlns:a="http://schemas.openxmlformats.org/drawingml/2006/main" w="19050">
            <a:solidFill>
              <a:srgbClr val="A31635"/>
            </a:solidFill>
            <a:prstDash val="solid"/>
            <a:tailEnd type="triangle" w="sm" len="sm"/>
          </a:ln>
        </p:spPr>
      </p:cxnSp>
      <p:cxnSp>
        <p:nvCxnSpPr>
          <p:cNvPr id="53" name="">
            <a:extLst xmlns:a="http://schemas.openxmlformats.org/drawingml/2006/main">
              <a:ext uri="{FF2B5EF4-FFF2-40B4-BE49-F238E27FC236}">
                <a16:creationId xmlns:a16="http://schemas.microsoft.com/office/drawing/2014/main" id="{6FF2D444-5391-4AA0-AA8F-9D3390A07E34}"/>
              </a:ext>
            </a:extLst>
          </p:cNvPr>
          <p:cNvCxnSpPr>
            <a:stCxn xmlns:a="http://schemas.openxmlformats.org/drawingml/2006/main" id="13" idx="1"/>
            <a:endCxn xmlns:a="http://schemas.openxmlformats.org/drawingml/2006/main" id="16" idx="3"/>
          </p:cNvCxnSpPr>
          <p:nvPr/>
        </p:nvCxnSpPr>
        <p:spPr>
          <a:xfrm xmlns:a="http://schemas.openxmlformats.org/drawingml/2006/main" flipH="1">
            <a:off x="3810000" y="3990975"/>
            <a:ext cx="685800" cy="0"/>
          </a:xfrm>
          <a:prstGeom xmlns:a="http://schemas.openxmlformats.org/drawingml/2006/main" prst="straightConnector1">
            <a:avLst/>
          </a:prstGeom>
          <a:ln xmlns:a="http://schemas.openxmlformats.org/drawingml/2006/main" w="19050">
            <a:solidFill>
              <a:srgbClr val="A31635"/>
            </a:solidFill>
            <a:prstDash val="solid"/>
            <a:tailEnd type="triangle" w="sm" len="sm"/>
          </a:ln>
        </p:spPr>
      </p:cxnSp>
      <p:cxnSp>
        <p:nvCxnSpPr>
          <p:cNvPr id="54" name="">
            <a:extLst xmlns:a="http://schemas.openxmlformats.org/drawingml/2006/main">
              <a:ext uri="{FF2B5EF4-FFF2-40B4-BE49-F238E27FC236}">
                <a16:creationId xmlns:a16="http://schemas.microsoft.com/office/drawing/2014/main" id="{661C1B3E-063E-4A06-B521-9422C52252EF}"/>
              </a:ext>
            </a:extLst>
          </p:cNvPr>
          <p:cNvCxnSpPr>
            <a:stCxn xmlns:a="http://schemas.openxmlformats.org/drawingml/2006/main" id="13" idx="3"/>
            <a:endCxn xmlns:a="http://schemas.openxmlformats.org/drawingml/2006/main" id="19" idx="1"/>
          </p:cNvCxnSpPr>
          <p:nvPr/>
        </p:nvCxnSpPr>
        <p:spPr>
          <a:xfrm xmlns:a="http://schemas.openxmlformats.org/drawingml/2006/main">
            <a:off x="7696200" y="3990975"/>
            <a:ext cx="685800" cy="0"/>
          </a:xfrm>
          <a:prstGeom xmlns:a="http://schemas.openxmlformats.org/drawingml/2006/main" prst="straightConnector1">
            <a:avLst/>
          </a:prstGeom>
          <a:ln xmlns:a="http://schemas.openxmlformats.org/drawingml/2006/main" w="19050">
            <a:solidFill>
              <a:srgbClr val="A31635"/>
            </a:solidFill>
            <a:prstDash val="solid"/>
            <a:tailEnd type="triangle" w="sm" len="sm"/>
          </a:ln>
        </p:spPr>
      </p:cxnSp>
      <p:sp>
        <p:nvSpPr>
          <p:cNvPr id="27" name="texte-27">
            <a:extLst xmlns:a="http://schemas.openxmlformats.org/drawingml/2006/main">
              <a:ext uri="{FF2B5EF4-FFF2-40B4-BE49-F238E27FC236}">
                <a16:creationId xmlns:a16="http://schemas.microsoft.com/office/drawing/2014/main" id="{7C02A396-30B5-45F5-89CA-575D5CC220F5}"/>
              </a:ext>
            </a:extLst>
          </p:cNvPr>
          <p:cNvSpPr>
            <a:spLocks xmlns:a="http://schemas.openxmlformats.org/drawingml/2006/main" noGrp="1"/>
          </p:cNvSpPr>
          <p:nvPr/>
        </p:nvSpPr>
        <p:spPr>
          <a:xfrm xmlns:a="http://schemas.openxmlformats.org/drawingml/2006/main">
            <a:off x="609600" y="5067300"/>
            <a:ext cx="109728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Contrat : ID, date UTC, URL, texte exact, empreinte SHA-256 et provenance.</a:t>
            </a:r>
          </a:p>
        </p:txBody>
      </p:sp>
      <p:sp>
        <p:nvSpPr>
          <p:cNvPr id="28" name="texte-28">
            <a:extLst xmlns:a="http://schemas.openxmlformats.org/drawingml/2006/main">
              <a:ext uri="{FF2B5EF4-FFF2-40B4-BE49-F238E27FC236}">
                <a16:creationId xmlns:a16="http://schemas.microsoft.com/office/drawing/2014/main" id="{D67629DC-1BC4-4233-AE2F-9473FB003BBB}"/>
              </a:ext>
            </a:extLst>
          </p:cNvPr>
          <p:cNvSpPr>
            <a:spLocks xmlns:a="http://schemas.openxmlformats.org/drawingml/2006/main" noGrp="1"/>
          </p:cNvSpPr>
          <p:nvPr/>
        </p:nvSpPr>
        <p:spPr>
          <a:xfrm xmlns:a="http://schemas.openxmlformats.org/drawingml/2006/main">
            <a:off x="609600" y="5791200"/>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7676B"/>
                </a:solidFill>
                <a:latin typeface="Helvetica Neue"/>
                <a:ea typeface="Helvetica Neue"/>
                <a:cs typeface="Helvetica Neue"/>
              </a:defRPr>
            </a:pPr>
            <a:r>
              <a:rPr sz="1650" b="0">
                <a:solidFill>
                  <a:srgbClr val="67676B"/>
                </a:solidFill>
                <a:latin typeface="Helvetica Neue"/>
                <a:ea typeface="Helvetica Neue"/>
                <a:cs typeface="Helvetica Neue"/>
              </a:rPr>
              <a:t>Python 3.12 · SQLite · Micro-lots périodiques, suivi et droits</a:t>
            </a:r>
          </a:p>
        </p:txBody>
      </p:sp>
    </p:spTree>
    <p:extLst>
      <p:ext uri="{BB962C8B-B14F-4D97-AF65-F5344CB8AC3E}">
        <p14:creationId xmlns:p14="http://schemas.microsoft.com/office/powerpoint/2010/main" val="166856294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texte-29">
            <a:extLst xmlns:a="http://schemas.openxmlformats.org/drawingml/2006/main">
              <a:ext uri="{FF2B5EF4-FFF2-40B4-BE49-F238E27FC236}">
                <a16:creationId xmlns:a16="http://schemas.microsoft.com/office/drawing/2014/main" id="{6F530F33-BB0C-41BA-AADC-2242A20F5A26}"/>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Contrôle qualité et reprise</a:t>
            </a:r>
          </a:p>
        </p:txBody>
      </p:sp>
      <p:sp>
        <p:nvSpPr>
          <p:cNvPr id="2" name="texte-30">
            <a:extLst xmlns:a="http://schemas.openxmlformats.org/drawingml/2006/main">
              <a:ext uri="{FF2B5EF4-FFF2-40B4-BE49-F238E27FC236}">
                <a16:creationId xmlns:a16="http://schemas.microsoft.com/office/drawing/2014/main" id="{65516BDC-6788-4972-8139-048E8FADE477}"/>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Edouard Cappaert</a:t>
            </a:r>
          </a:p>
        </p:txBody>
      </p:sp>
      <p:sp>
        <p:nvSpPr>
          <p:cNvPr id="3" name="texte-31">
            <a:extLst xmlns:a="http://schemas.openxmlformats.org/drawingml/2006/main">
              <a:ext uri="{FF2B5EF4-FFF2-40B4-BE49-F238E27FC236}">
                <a16:creationId xmlns:a16="http://schemas.microsoft.com/office/drawing/2014/main" id="{2FDEA6F0-ECDA-4186-B60A-159676848500}"/>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1:25 à 2:20   3 / 7</a:t>
            </a:r>
          </a:p>
        </p:txBody>
      </p:sp>
      <p:sp>
        <p:nvSpPr>
          <p:cNvPr id="4" name="texte-32">
            <a:extLst xmlns:a="http://schemas.openxmlformats.org/drawingml/2006/main">
              <a:ext uri="{FF2B5EF4-FFF2-40B4-BE49-F238E27FC236}">
                <a16:creationId xmlns:a16="http://schemas.microsoft.com/office/drawing/2014/main" id="{1080480C-865B-4529-8EE3-2E1FB0ACFD91}"/>
              </a:ext>
            </a:extLst>
          </p:cNvPr>
          <p:cNvSpPr>
            <a:spLocks xmlns:a="http://schemas.openxmlformats.org/drawingml/2006/main" noGrp="1"/>
          </p:cNvSpPr>
          <p:nvPr/>
        </p:nvSpPr>
        <p:spPr>
          <a:xfrm xmlns:a="http://schemas.openxmlformats.org/drawingml/2006/main">
            <a:off x="609600" y="16002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Validation avant publication</a:t>
            </a:r>
          </a:p>
        </p:txBody>
      </p:sp>
      <p:sp>
        <p:nvSpPr>
          <p:cNvPr id="5" name="texte-33">
            <a:extLst xmlns:a="http://schemas.openxmlformats.org/drawingml/2006/main">
              <a:ext uri="{FF2B5EF4-FFF2-40B4-BE49-F238E27FC236}">
                <a16:creationId xmlns:a16="http://schemas.microsoft.com/office/drawing/2014/main" id="{77A46D13-459E-41AE-B461-DA1034140C6D}"/>
              </a:ext>
            </a:extLst>
          </p:cNvPr>
          <p:cNvSpPr>
            <a:spLocks xmlns:a="http://schemas.openxmlformats.org/drawingml/2006/main" noGrp="1"/>
          </p:cNvSpPr>
          <p:nvPr/>
        </p:nvSpPr>
        <p:spPr>
          <a:xfrm xmlns:a="http://schemas.openxmlformats.org/drawingml/2006/main">
            <a:off x="609600" y="203835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Champs obligatoires, dates UTC, URL et texte.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Déduplication exacte et bilan des rejets.</a:t>
            </a:r>
          </a:p>
        </p:txBody>
      </p:sp>
      <p:sp>
        <p:nvSpPr>
          <p:cNvPr id="6" name="texte-34">
            <a:extLst xmlns:a="http://schemas.openxmlformats.org/drawingml/2006/main">
              <a:ext uri="{FF2B5EF4-FFF2-40B4-BE49-F238E27FC236}">
                <a16:creationId xmlns:a16="http://schemas.microsoft.com/office/drawing/2014/main" id="{82629AD1-D9E5-45E4-AD5A-2F9B17B23664}"/>
              </a:ext>
            </a:extLst>
          </p:cNvPr>
          <p:cNvSpPr>
            <a:spLocks xmlns:a="http://schemas.openxmlformats.org/drawingml/2006/main" noGrp="1"/>
          </p:cNvSpPr>
          <p:nvPr/>
        </p:nvSpPr>
        <p:spPr>
          <a:xfrm xmlns:a="http://schemas.openxmlformats.org/drawingml/2006/main">
            <a:off x="609600" y="287655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Dernière publication valide conservée</a:t>
            </a:r>
          </a:p>
        </p:txBody>
      </p:sp>
      <p:sp>
        <p:nvSpPr>
          <p:cNvPr id="7" name="texte-35">
            <a:extLst xmlns:a="http://schemas.openxmlformats.org/drawingml/2006/main">
              <a:ext uri="{FF2B5EF4-FFF2-40B4-BE49-F238E27FC236}">
                <a16:creationId xmlns:a16="http://schemas.microsoft.com/office/drawing/2014/main" id="{235B854D-E5D1-4762-B0DA-7A4DDC5608E9}"/>
              </a:ext>
            </a:extLst>
          </p:cNvPr>
          <p:cNvSpPr>
            <a:spLocks xmlns:a="http://schemas.openxmlformats.org/drawingml/2006/main" noGrp="1"/>
          </p:cNvSpPr>
          <p:nvPr/>
        </p:nvSpPr>
        <p:spPr>
          <a:xfrm xmlns:a="http://schemas.openxmlformats.org/drawingml/2006/main">
            <a:off x="609600" y="3314700"/>
            <a:ext cx="104775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Un lot qui échoue au contrôle qualité ne remplace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pas le corpus déjà publié.</a:t>
            </a:r>
          </a:p>
        </p:txBody>
      </p:sp>
      <p:sp>
        <p:nvSpPr>
          <p:cNvPr id="8" name="texte-36">
            <a:extLst xmlns:a="http://schemas.openxmlformats.org/drawingml/2006/main">
              <a:ext uri="{FF2B5EF4-FFF2-40B4-BE49-F238E27FC236}">
                <a16:creationId xmlns:a16="http://schemas.microsoft.com/office/drawing/2014/main" id="{C8921879-33B8-4AF4-9FED-E799D4A4CBEC}"/>
              </a:ext>
            </a:extLst>
          </p:cNvPr>
          <p:cNvSpPr>
            <a:spLocks xmlns:a="http://schemas.openxmlformats.org/drawingml/2006/main" noGrp="1"/>
          </p:cNvSpPr>
          <p:nvPr/>
        </p:nvSpPr>
        <p:spPr>
          <a:xfrm xmlns:a="http://schemas.openxmlformats.org/drawingml/2006/main">
            <a:off x="609600" y="4191000"/>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Checkpoint durable après chaque article</a:t>
            </a:r>
          </a:p>
        </p:txBody>
      </p:sp>
      <p:sp>
        <p:nvSpPr>
          <p:cNvPr id="9" name="texte-37">
            <a:extLst xmlns:a="http://schemas.openxmlformats.org/drawingml/2006/main">
              <a:ext uri="{FF2B5EF4-FFF2-40B4-BE49-F238E27FC236}">
                <a16:creationId xmlns:a16="http://schemas.microsoft.com/office/drawing/2014/main" id="{0CB94455-A479-4968-BAAB-A0B8F9A2482C}"/>
              </a:ext>
            </a:extLst>
          </p:cNvPr>
          <p:cNvSpPr>
            <a:spLocks xmlns:a="http://schemas.openxmlformats.org/drawingml/2006/main" noGrp="1"/>
          </p:cNvSpPr>
          <p:nvPr/>
        </p:nvSpPr>
        <p:spPr>
          <a:xfrm xmlns:a="http://schemas.openxmlformats.org/drawingml/2006/main">
            <a:off x="609600" y="4629150"/>
            <a:ext cx="104775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Le superviseur relance un worker en panne.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Il reprend les tâches restantes, avec trois tentatives au maximum.</a:t>
            </a:r>
          </a:p>
        </p:txBody>
      </p:sp>
      <p:sp>
        <p:nvSpPr>
          <p:cNvPr id="10" name="texte-38">
            <a:extLst xmlns:a="http://schemas.openxmlformats.org/drawingml/2006/main">
              <a:ext uri="{FF2B5EF4-FFF2-40B4-BE49-F238E27FC236}">
                <a16:creationId xmlns:a16="http://schemas.microsoft.com/office/drawing/2014/main" id="{CE3A581F-7B1A-4956-AA17-DDC1CF850813}"/>
              </a:ext>
            </a:extLst>
          </p:cNvPr>
          <p:cNvSpPr>
            <a:spLocks xmlns:a="http://schemas.openxmlformats.org/drawingml/2006/main" noGrp="1"/>
          </p:cNvSpPr>
          <p:nvPr/>
        </p:nvSpPr>
        <p:spPr>
          <a:xfrm xmlns:a="http://schemas.openxmlformats.org/drawingml/2006/main">
            <a:off x="609600" y="5657850"/>
            <a:ext cx="109728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7676B"/>
                </a:solidFill>
                <a:latin typeface="Helvetica Neue"/>
                <a:ea typeface="Helvetica Neue"/>
                <a:cs typeface="Helvetica Neue"/>
              </a:defRPr>
            </a:pPr>
            <a:r>
              <a:rPr sz="1650" b="0">
                <a:solidFill>
                  <a:srgbClr val="67676B"/>
                </a:solidFill>
                <a:latin typeface="Helvetica Neue"/>
                <a:ea typeface="Helvetica Neue"/>
                <a:cs typeface="Helvetica Neue"/>
              </a:rPr>
              <a:t>Seuil de rejet du collecteur : 20 % configurable. Une pause volontaire demande « Reprendre ».</a:t>
            </a:r>
          </a:p>
        </p:txBody>
      </p:sp>
    </p:spTree>
    <p:extLst>
      <p:ext uri="{BB962C8B-B14F-4D97-AF65-F5344CB8AC3E}">
        <p14:creationId xmlns:p14="http://schemas.microsoft.com/office/powerpoint/2010/main" val="341569024"/>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texte-39">
            <a:extLst xmlns:a="http://schemas.openxmlformats.org/drawingml/2006/main">
              <a:ext uri="{FF2B5EF4-FFF2-40B4-BE49-F238E27FC236}">
                <a16:creationId xmlns:a16="http://schemas.microsoft.com/office/drawing/2014/main" id="{F9C446F7-33D0-4809-BC20-0E6776464039}"/>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Monitoring et incident</a:t>
            </a:r>
          </a:p>
        </p:txBody>
      </p:sp>
      <p:sp>
        <p:nvSpPr>
          <p:cNvPr id="2" name="texte-40">
            <a:extLst xmlns:a="http://schemas.openxmlformats.org/drawingml/2006/main">
              <a:ext uri="{FF2B5EF4-FFF2-40B4-BE49-F238E27FC236}">
                <a16:creationId xmlns:a16="http://schemas.microsoft.com/office/drawing/2014/main" id="{42373F5A-3868-40D9-8ABA-0A1EAEC7892E}"/>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Edouard Cappaert</a:t>
            </a:r>
          </a:p>
        </p:txBody>
      </p:sp>
      <p:sp>
        <p:nvSpPr>
          <p:cNvPr id="3" name="texte-41">
            <a:extLst xmlns:a="http://schemas.openxmlformats.org/drawingml/2006/main">
              <a:ext uri="{FF2B5EF4-FFF2-40B4-BE49-F238E27FC236}">
                <a16:creationId xmlns:a16="http://schemas.microsoft.com/office/drawing/2014/main" id="{FE9F5BFE-7BCD-4DE3-9DB2-0FBAC842BDD3}"/>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2:20 à 3:15   4 / 7</a:t>
            </a:r>
          </a:p>
        </p:txBody>
      </p:sp>
      <p:pic>
        <p:nvPicPr>
          <p:cNvPr id="15" name="">
            <a:extLst xmlns:a="http://schemas.openxmlformats.org/drawingml/2006/main">
              <a:ext uri="{FF2B5EF4-FFF2-40B4-BE49-F238E27FC236}">
                <a16:creationId xmlns:a16="http://schemas.microsoft.com/office/drawing/2014/main" id="{6BD828DC-DA02-4BAE-BF64-098DC9D796FC}"/>
              </a:ext>
            </a:extLst>
          </p:cNvPr>
          <p:cNvPicPr>
            <a:picLocks xmlns:a="http://schemas.openxmlformats.org/drawingml/2006/main" noChangeAspect="1"/>
          </p:cNvPicPr>
          <p:nvPr/>
        </p:nvPicPr>
        <p:blipFill>
          <a:blip xmlns:r="http://schemas.openxmlformats.org/officeDocument/2006/relationships" xmlns:a="http://schemas.openxmlformats.org/drawingml/2006/main" r:embed="R019033934ced4e8b"/>
          <a:srcRect xmlns:a="http://schemas.openxmlformats.org/drawingml/2006/main" l="0" t="617" r="0" b="617"/>
          <a:stretch xmlns:a="http://schemas.openxmlformats.org/drawingml/2006/main">
            <a:fillRect l="0" t="0" r="0" b="0"/>
          </a:stretch>
        </p:blipFill>
        <p:spPr>
          <a:xfrm xmlns:a="http://schemas.openxmlformats.org/drawingml/2006/main">
            <a:off x="1099376" y="1485900"/>
            <a:ext cx="6021324" cy="4181475"/>
          </a:xfrm>
          <a:prstGeom xmlns:a="http://schemas.openxmlformats.org/drawingml/2006/main" prst="rect">
            <a:avLst/>
          </a:prstGeom>
        </p:spPr>
      </p:pic>
      <p:sp>
        <p:nvSpPr>
          <p:cNvPr id="5" name="texte-42">
            <a:extLst xmlns:a="http://schemas.openxmlformats.org/drawingml/2006/main">
              <a:ext uri="{FF2B5EF4-FFF2-40B4-BE49-F238E27FC236}">
                <a16:creationId xmlns:a16="http://schemas.microsoft.com/office/drawing/2014/main" id="{10BA9DFA-DF9A-447B-AFC3-DA4C99691CF4}"/>
              </a:ext>
            </a:extLst>
          </p:cNvPr>
          <p:cNvSpPr>
            <a:spLocks xmlns:a="http://schemas.openxmlformats.org/drawingml/2006/main" noGrp="1"/>
          </p:cNvSpPr>
          <p:nvPr/>
        </p:nvSpPr>
        <p:spPr>
          <a:xfrm xmlns:a="http://schemas.openxmlformats.org/drawingml/2006/main">
            <a:off x="8077200" y="1590675"/>
            <a:ext cx="348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Suivi chaque seconde</a:t>
            </a:r>
          </a:p>
        </p:txBody>
      </p:sp>
      <p:sp>
        <p:nvSpPr>
          <p:cNvPr id="6" name="texte-43">
            <a:extLst xmlns:a="http://schemas.openxmlformats.org/drawingml/2006/main">
              <a:ext uri="{FF2B5EF4-FFF2-40B4-BE49-F238E27FC236}">
                <a16:creationId xmlns:a16="http://schemas.microsoft.com/office/drawing/2014/main" id="{C0E2AC00-D6EA-46EA-8A8D-77F117DC6D9A}"/>
              </a:ext>
            </a:extLst>
          </p:cNvPr>
          <p:cNvSpPr>
            <a:spLocks xmlns:a="http://schemas.openxmlformats.org/drawingml/2006/main" noGrp="1"/>
          </p:cNvSpPr>
          <p:nvPr/>
        </p:nvSpPr>
        <p:spPr>
          <a:xfrm xmlns:a="http://schemas.openxmlformats.org/drawingml/2006/main">
            <a:off x="8077200" y="2028825"/>
            <a:ext cx="3486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Cycles, échéance, retard,</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volumes et étapes.</a:t>
            </a:r>
          </a:p>
        </p:txBody>
      </p:sp>
      <p:sp>
        <p:nvSpPr>
          <p:cNvPr id="7" name="texte-44">
            <a:extLst xmlns:a="http://schemas.openxmlformats.org/drawingml/2006/main">
              <a:ext uri="{FF2B5EF4-FFF2-40B4-BE49-F238E27FC236}">
                <a16:creationId xmlns:a16="http://schemas.microsoft.com/office/drawing/2014/main" id="{A4436FB8-B049-4361-A69E-F182FE2521AD}"/>
              </a:ext>
            </a:extLst>
          </p:cNvPr>
          <p:cNvSpPr>
            <a:spLocks xmlns:a="http://schemas.openxmlformats.org/drawingml/2006/main" noGrp="1"/>
          </p:cNvSpPr>
          <p:nvPr/>
        </p:nvSpPr>
        <p:spPr>
          <a:xfrm xmlns:a="http://schemas.openxmlformats.org/drawingml/2006/main">
            <a:off x="8077200" y="2895600"/>
            <a:ext cx="348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Alertes locales</a:t>
            </a:r>
          </a:p>
        </p:txBody>
      </p:sp>
      <p:sp>
        <p:nvSpPr>
          <p:cNvPr id="8" name="texte-45">
            <a:extLst xmlns:a="http://schemas.openxmlformats.org/drawingml/2006/main">
              <a:ext uri="{FF2B5EF4-FFF2-40B4-BE49-F238E27FC236}">
                <a16:creationId xmlns:a16="http://schemas.microsoft.com/office/drawing/2014/main" id="{C660921A-1F4B-4974-BB85-E9A1B112DAC7}"/>
              </a:ext>
            </a:extLst>
          </p:cNvPr>
          <p:cNvSpPr>
            <a:spLocks xmlns:a="http://schemas.openxmlformats.org/drawingml/2006/main" noGrp="1"/>
          </p:cNvSpPr>
          <p:nvPr/>
        </p:nvSpPr>
        <p:spPr>
          <a:xfrm xmlns:a="http://schemas.openxmlformats.org/drawingml/2006/main">
            <a:off x="8077200" y="3333750"/>
            <a:ext cx="3486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Activité trop ancienne,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qualité et couverture.</a:t>
            </a:r>
          </a:p>
        </p:txBody>
      </p:sp>
      <p:sp>
        <p:nvSpPr>
          <p:cNvPr id="9" name="texte-46">
            <a:extLst xmlns:a="http://schemas.openxmlformats.org/drawingml/2006/main">
              <a:ext uri="{FF2B5EF4-FFF2-40B4-BE49-F238E27FC236}">
                <a16:creationId xmlns:a16="http://schemas.microsoft.com/office/drawing/2014/main" id="{FE6A9356-05EC-436A-B542-5EA58FA97378}"/>
              </a:ext>
            </a:extLst>
          </p:cNvPr>
          <p:cNvSpPr>
            <a:spLocks xmlns:a="http://schemas.openxmlformats.org/drawingml/2006/main" noGrp="1"/>
          </p:cNvSpPr>
          <p:nvPr/>
        </p:nvSpPr>
        <p:spPr>
          <a:xfrm xmlns:a="http://schemas.openxmlformats.org/drawingml/2006/main">
            <a:off x="8077200" y="4210050"/>
            <a:ext cx="34861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Lecture de secours</a:t>
            </a:r>
          </a:p>
        </p:txBody>
      </p:sp>
      <p:sp>
        <p:nvSpPr>
          <p:cNvPr id="10" name="texte-47">
            <a:extLst xmlns:a="http://schemas.openxmlformats.org/drawingml/2006/main">
              <a:ext uri="{FF2B5EF4-FFF2-40B4-BE49-F238E27FC236}">
                <a16:creationId xmlns:a16="http://schemas.microsoft.com/office/drawing/2014/main" id="{6E27E5B2-77E8-4665-8817-0EADF3543DBB}"/>
              </a:ext>
            </a:extLst>
          </p:cNvPr>
          <p:cNvSpPr>
            <a:spLocks xmlns:a="http://schemas.openxmlformats.org/drawingml/2006/main" noGrp="1"/>
          </p:cNvSpPr>
          <p:nvPr/>
        </p:nvSpPr>
        <p:spPr>
          <a:xfrm xmlns:a="http://schemas.openxmlformats.org/drawingml/2006/main">
            <a:off x="8077200" y="4648200"/>
            <a:ext cx="3486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Consultation et export.</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Les écritures s’arrêtent.</a:t>
            </a:r>
          </a:p>
        </p:txBody>
      </p:sp>
      <p:sp>
        <p:nvSpPr>
          <p:cNvPr id="11" name="texte-48">
            <a:extLst xmlns:a="http://schemas.openxmlformats.org/drawingml/2006/main">
              <a:ext uri="{FF2B5EF4-FFF2-40B4-BE49-F238E27FC236}">
                <a16:creationId xmlns:a16="http://schemas.microsoft.com/office/drawing/2014/main" id="{8FECB3E3-CAF9-4F0F-B098-69BD644895D3}"/>
              </a:ext>
            </a:extLst>
          </p:cNvPr>
          <p:cNvSpPr>
            <a:spLocks xmlns:a="http://schemas.openxmlformats.org/drawingml/2006/main" noGrp="1"/>
          </p:cNvSpPr>
          <p:nvPr/>
        </p:nvSpPr>
        <p:spPr>
          <a:xfrm xmlns:a="http://schemas.openxmlformats.org/drawingml/2006/main">
            <a:off x="609600" y="5791200"/>
            <a:ext cx="109728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7676B"/>
                </a:solidFill>
                <a:latin typeface="Helvetica Neue"/>
                <a:ea typeface="Helvetica Neue"/>
                <a:cs typeface="Helvetica Neue"/>
              </a:defRPr>
            </a:pPr>
            <a:r>
              <a:rPr sz="1650" b="0">
                <a:solidFill>
                  <a:srgbClr val="67676B"/>
                </a:solidFill>
                <a:latin typeface="Helvetica Neue"/>
                <a:ea typeface="Helvetica Neue"/>
                <a:cs typeface="Helvetica Neue"/>
              </a:rPr>
              <a:t>Essai de charge distinct : 40 cycles et 10 000 articles fictifs sans doublon</a:t>
            </a:r>
          </a:p>
        </p:txBody>
      </p:sp>
    </p:spTree>
    <p:extLst>
      <p:ext uri="{BB962C8B-B14F-4D97-AF65-F5344CB8AC3E}">
        <p14:creationId xmlns:p14="http://schemas.microsoft.com/office/powerpoint/2010/main" val="1811461944"/>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texte-49">
            <a:extLst xmlns:a="http://schemas.openxmlformats.org/drawingml/2006/main">
              <a:ext uri="{FF2B5EF4-FFF2-40B4-BE49-F238E27FC236}">
                <a16:creationId xmlns:a16="http://schemas.microsoft.com/office/drawing/2014/main" id="{CCE9DF23-D4A3-4930-8253-4FEA0B682ECA}"/>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Mesures sur le volume chiffré</a:t>
            </a:r>
          </a:p>
        </p:txBody>
      </p:sp>
      <p:sp>
        <p:nvSpPr>
          <p:cNvPr id="2" name="texte-50">
            <a:extLst xmlns:a="http://schemas.openxmlformats.org/drawingml/2006/main">
              <a:ext uri="{FF2B5EF4-FFF2-40B4-BE49-F238E27FC236}">
                <a16:creationId xmlns:a16="http://schemas.microsoft.com/office/drawing/2014/main" id="{9B9B82E9-E706-46EE-9C19-B68D88F8AF37}"/>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Edouard Cappaert</a:t>
            </a:r>
          </a:p>
        </p:txBody>
      </p:sp>
      <p:sp>
        <p:nvSpPr>
          <p:cNvPr id="3" name="texte-51">
            <a:extLst xmlns:a="http://schemas.openxmlformats.org/drawingml/2006/main">
              <a:ext uri="{FF2B5EF4-FFF2-40B4-BE49-F238E27FC236}">
                <a16:creationId xmlns:a16="http://schemas.microsoft.com/office/drawing/2014/main" id="{415AF8AA-5D36-47A1-9396-A04CE1076C40}"/>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3:15 à 3:50   5 / 7</a:t>
            </a:r>
          </a:p>
        </p:txBody>
      </p:sp>
      <p:graphicFrame>
        <p:nvGraphicFramePr>
          <p:cNvPr id="12" name="Chart">
            <a:extLst xmlns:a="http://schemas.openxmlformats.org/drawingml/2006/main">
              <a:ext uri="{FF2B5EF4-FFF2-40B4-BE49-F238E27FC236}">
                <a16:creationId xmlns:a16="http://schemas.microsoft.com/office/drawing/2014/main" id="{F4ADF189-5F3A-4F76-8059-EAFA0D4D7231}"/>
              </a:ext>
            </a:extLst>
          </p:cNvPr>
          <p:cNvGraphicFramePr/>
          <p:nvPr/>
        </p:nvGraphicFramePr>
        <p:xfrm>
          <a:off xmlns:a="http://schemas.openxmlformats.org/drawingml/2006/main" x="609600" y="1543050"/>
          <a:ext xmlns:a="http://schemas.openxmlformats.org/drawingml/2006/main" cx="6915150" cy="3714750"/>
        </p:xfrm>
        <a:graphic xmlns:a="http://schemas.openxmlformats.org/drawingml/2006/main">
          <a:graphicData uri="http://schemas.openxmlformats.org/drawingml/2006/chart">
            <c:chart xmlns:r="http://schemas.openxmlformats.org/officeDocument/2006/relationships" xmlns:c="http://schemas.openxmlformats.org/drawingml/2006/chart" r:id="R4550a8fb9e034388"/>
          </a:graphicData>
        </a:graphic>
      </p:graphicFrame>
      <p:sp>
        <p:nvSpPr>
          <p:cNvPr id="5" name="texte-52">
            <a:extLst xmlns:a="http://schemas.openxmlformats.org/drawingml/2006/main">
              <a:ext uri="{FF2B5EF4-FFF2-40B4-BE49-F238E27FC236}">
                <a16:creationId xmlns:a16="http://schemas.microsoft.com/office/drawing/2014/main" id="{E3AE390A-F2EA-4C7A-AD94-6DA2DC3D1A13}"/>
              </a:ext>
            </a:extLst>
          </p:cNvPr>
          <p:cNvSpPr>
            <a:spLocks xmlns:a="http://schemas.openxmlformats.org/drawingml/2006/main" noGrp="1"/>
          </p:cNvSpPr>
          <p:nvPr/>
        </p:nvSpPr>
        <p:spPr>
          <a:xfrm xmlns:a="http://schemas.openxmlformats.org/drawingml/2006/main">
            <a:off x="8096250" y="1866900"/>
            <a:ext cx="34480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000" b="1">
                <a:solidFill>
                  <a:srgbClr val="A31635"/>
                </a:solidFill>
                <a:latin typeface="Helvetica Neue"/>
                <a:ea typeface="Helvetica Neue"/>
                <a:cs typeface="Helvetica Neue"/>
              </a:defRPr>
            </a:pPr>
            <a:r>
              <a:rPr sz="3000" b="1">
                <a:solidFill>
                  <a:srgbClr val="A31635"/>
                </a:solidFill>
                <a:latin typeface="Helvetica Neue"/>
                <a:ea typeface="Helvetica Neue"/>
                <a:cs typeface="Helvetica Neue"/>
              </a:rPr>
              <a:t>76,4 articles/s</a:t>
            </a:r>
          </a:p>
        </p:txBody>
      </p:sp>
      <p:sp>
        <p:nvSpPr>
          <p:cNvPr id="6" name="texte-53">
            <a:extLst xmlns:a="http://schemas.openxmlformats.org/drawingml/2006/main">
              <a:ext uri="{FF2B5EF4-FFF2-40B4-BE49-F238E27FC236}">
                <a16:creationId xmlns:a16="http://schemas.microsoft.com/office/drawing/2014/main" id="{2FD340C0-AD6A-4A65-B23A-6D35A2D18710}"/>
              </a:ext>
            </a:extLst>
          </p:cNvPr>
          <p:cNvSpPr>
            <a:spLocks xmlns:a="http://schemas.openxmlformats.org/drawingml/2006/main" noGrp="1"/>
          </p:cNvSpPr>
          <p:nvPr/>
        </p:nvSpPr>
        <p:spPr>
          <a:xfrm xmlns:a="http://schemas.openxmlformats.org/drawingml/2006/main">
            <a:off x="8096250" y="2667000"/>
            <a:ext cx="3429000" cy="981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Pour le lot de 2 000 articles.</a:t>
            </a:r>
          </a:p>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Catalogue initial : 21 701 articles.</a:t>
            </a:r>
          </a:p>
        </p:txBody>
      </p:sp>
      <p:sp>
        <p:nvSpPr>
          <p:cNvPr id="7" name="texte-54">
            <a:extLst xmlns:a="http://schemas.openxmlformats.org/drawingml/2006/main">
              <a:ext uri="{FF2B5EF4-FFF2-40B4-BE49-F238E27FC236}">
                <a16:creationId xmlns:a16="http://schemas.microsoft.com/office/drawing/2014/main" id="{88DFDB47-381C-438F-9988-72C721690C05}"/>
              </a:ext>
            </a:extLst>
          </p:cNvPr>
          <p:cNvSpPr>
            <a:spLocks xmlns:a="http://schemas.openxmlformats.org/drawingml/2006/main" noGrp="1"/>
          </p:cNvSpPr>
          <p:nvPr/>
        </p:nvSpPr>
        <p:spPr>
          <a:xfrm xmlns:a="http://schemas.openxmlformats.org/drawingml/2006/main">
            <a:off x="8096250" y="4048125"/>
            <a:ext cx="3429000" cy="1057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18 essais sur fixtures</a:t>
            </a:r>
          </a:p>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Trois répétitions par taille</a:t>
            </a:r>
          </a:p>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et par état du catalogue.</a:t>
            </a:r>
          </a:p>
        </p:txBody>
      </p:sp>
      <p:sp>
        <p:nvSpPr>
          <p:cNvPr id="8" name="texte-55">
            <a:extLst xmlns:a="http://schemas.openxmlformats.org/drawingml/2006/main">
              <a:ext uri="{FF2B5EF4-FFF2-40B4-BE49-F238E27FC236}">
                <a16:creationId xmlns:a16="http://schemas.microsoft.com/office/drawing/2014/main" id="{92E3C1D7-82AC-44EF-AAC8-2B38C5582A12}"/>
              </a:ext>
            </a:extLst>
          </p:cNvPr>
          <p:cNvSpPr>
            <a:spLocks xmlns:a="http://schemas.openxmlformats.org/drawingml/2006/main" noGrp="1"/>
          </p:cNvSpPr>
          <p:nvPr/>
        </p:nvSpPr>
        <p:spPr>
          <a:xfrm xmlns:a="http://schemas.openxmlformats.org/drawingml/2006/main">
            <a:off x="609600" y="5600700"/>
            <a:ext cx="1097280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7676B"/>
                </a:solidFill>
                <a:latin typeface="Helvetica Neue"/>
                <a:ea typeface="Helvetica Neue"/>
                <a:cs typeface="Helvetica Neue"/>
              </a:defRPr>
            </a:pPr>
            <a:r>
              <a:rPr sz="1650" b="0">
                <a:solidFill>
                  <a:srgbClr val="67676B"/>
                </a:solidFill>
                <a:latin typeface="Helvetica Neue"/>
                <a:ea typeface="Helvetica Neue"/>
                <a:cs typeface="Helvetica Neue"/>
              </a:rPr>
              <a:t>Poste partagé, sans réseau. Les durées incluent checkpoints, exports et copie de secours.</a:t>
            </a:r>
          </a:p>
        </p:txBody>
      </p:sp>
    </p:spTree>
    <p:extLst>
      <p:ext uri="{BB962C8B-B14F-4D97-AF65-F5344CB8AC3E}">
        <p14:creationId xmlns:p14="http://schemas.microsoft.com/office/powerpoint/2010/main" val="1676821303"/>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e-56">
            <a:extLst xmlns:a="http://schemas.openxmlformats.org/drawingml/2006/main">
              <a:ext uri="{FF2B5EF4-FFF2-40B4-BE49-F238E27FC236}">
                <a16:creationId xmlns:a16="http://schemas.microsoft.com/office/drawing/2014/main" id="{84159DA6-63FE-48A8-BDCC-2B108C40AB6A}"/>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Droits et protection des données</a:t>
            </a:r>
          </a:p>
        </p:txBody>
      </p:sp>
      <p:sp>
        <p:nvSpPr>
          <p:cNvPr id="2" name="texte-57">
            <a:extLst xmlns:a="http://schemas.openxmlformats.org/drawingml/2006/main">
              <a:ext uri="{FF2B5EF4-FFF2-40B4-BE49-F238E27FC236}">
                <a16:creationId xmlns:a16="http://schemas.microsoft.com/office/drawing/2014/main" id="{20299ADF-7EED-4CB6-9EAB-F97CE3317612}"/>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Edouard Cappaert</a:t>
            </a:r>
          </a:p>
        </p:txBody>
      </p:sp>
      <p:sp>
        <p:nvSpPr>
          <p:cNvPr id="3" name="texte-58">
            <a:extLst xmlns:a="http://schemas.openxmlformats.org/drawingml/2006/main">
              <a:ext uri="{FF2B5EF4-FFF2-40B4-BE49-F238E27FC236}">
                <a16:creationId xmlns:a16="http://schemas.microsoft.com/office/drawing/2014/main" id="{BE080FE9-13E7-473B-8703-8CFDE9604762}"/>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3:50 à 4:30   6 / 7</a:t>
            </a:r>
          </a:p>
        </p:txBody>
      </p:sp>
      <p:sp>
        <p:nvSpPr>
          <p:cNvPr id="4" name="texte-59">
            <a:extLst xmlns:a="http://schemas.openxmlformats.org/drawingml/2006/main">
              <a:ext uri="{FF2B5EF4-FFF2-40B4-BE49-F238E27FC236}">
                <a16:creationId xmlns:a16="http://schemas.microsoft.com/office/drawing/2014/main" id="{427C1BFA-92B3-4165-B598-D9A53439F9E9}"/>
              </a:ext>
            </a:extLst>
          </p:cNvPr>
          <p:cNvSpPr>
            <a:spLocks xmlns:a="http://schemas.openxmlformats.org/drawingml/2006/main" noGrp="1"/>
          </p:cNvSpPr>
          <p:nvPr/>
        </p:nvSpPr>
        <p:spPr>
          <a:xfrm xmlns:a="http://schemas.openxmlformats.org/drawingml/2006/main">
            <a:off x="609600" y="16478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Correction et suppression prioritaires</a:t>
            </a:r>
          </a:p>
        </p:txBody>
      </p:sp>
      <p:sp>
        <p:nvSpPr>
          <p:cNvPr id="5" name="texte-60">
            <a:extLst xmlns:a="http://schemas.openxmlformats.org/drawingml/2006/main">
              <a:ext uri="{FF2B5EF4-FFF2-40B4-BE49-F238E27FC236}">
                <a16:creationId xmlns:a16="http://schemas.microsoft.com/office/drawing/2014/main" id="{9C6025D3-3D1E-422A-933A-C3CE79AA4301}"/>
              </a:ext>
            </a:extLst>
          </p:cNvPr>
          <p:cNvSpPr>
            <a:spLocks xmlns:a="http://schemas.openxmlformats.org/drawingml/2006/main" noGrp="1"/>
          </p:cNvSpPr>
          <p:nvPr/>
        </p:nvSpPr>
        <p:spPr>
          <a:xfrm xmlns:a="http://schemas.openxmlformats.org/drawingml/2006/main">
            <a:off x="609600" y="208597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Les registres empêchent la réintroduction après recollecte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et s’appliquent avant la restauration.</a:t>
            </a:r>
          </a:p>
        </p:txBody>
      </p:sp>
      <p:sp>
        <p:nvSpPr>
          <p:cNvPr id="6" name="texte-61">
            <a:extLst xmlns:a="http://schemas.openxmlformats.org/drawingml/2006/main">
              <a:ext uri="{FF2B5EF4-FFF2-40B4-BE49-F238E27FC236}">
                <a16:creationId xmlns:a16="http://schemas.microsoft.com/office/drawing/2014/main" id="{AB12BEAD-DE1B-41E8-8505-21D0E0E4BFEC}"/>
              </a:ext>
            </a:extLst>
          </p:cNvPr>
          <p:cNvSpPr>
            <a:spLocks xmlns:a="http://schemas.openxmlformats.org/drawingml/2006/main" noGrp="1"/>
          </p:cNvSpPr>
          <p:nvPr/>
        </p:nvSpPr>
        <p:spPr>
          <a:xfrm xmlns:a="http://schemas.openxmlformats.org/drawingml/2006/main">
            <a:off x="609600" y="30861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États du Bloc 3 sur volume AES-256</a:t>
            </a:r>
          </a:p>
        </p:txBody>
      </p:sp>
      <p:sp>
        <p:nvSpPr>
          <p:cNvPr id="7" name="texte-62">
            <a:extLst xmlns:a="http://schemas.openxmlformats.org/drawingml/2006/main">
              <a:ext uri="{FF2B5EF4-FFF2-40B4-BE49-F238E27FC236}">
                <a16:creationId xmlns:a16="http://schemas.microsoft.com/office/drawing/2014/main" id="{61F48C58-CFB8-4570-9110-921184AFA296}"/>
              </a:ext>
            </a:extLst>
          </p:cNvPr>
          <p:cNvSpPr>
            <a:spLocks xmlns:a="http://schemas.openxmlformats.org/drawingml/2006/main" noGrp="1"/>
          </p:cNvSpPr>
          <p:nvPr/>
        </p:nvSpPr>
        <p:spPr>
          <a:xfrm xmlns:a="http://schemas.openxmlformats.org/drawingml/2006/main">
            <a:off x="609600" y="35242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Migration physique et cycle de verrouillage vérifiés.</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Le lanceur refuse un remplacement en clair.</a:t>
            </a:r>
          </a:p>
        </p:txBody>
      </p:sp>
      <p:sp>
        <p:nvSpPr>
          <p:cNvPr id="8" name="texte-63">
            <a:extLst xmlns:a="http://schemas.openxmlformats.org/drawingml/2006/main">
              <a:ext uri="{FF2B5EF4-FFF2-40B4-BE49-F238E27FC236}">
                <a16:creationId xmlns:a16="http://schemas.microsoft.com/office/drawing/2014/main" id="{D226FC56-87BA-464D-86DA-FDE3204A1DA9}"/>
              </a:ext>
            </a:extLst>
          </p:cNvPr>
          <p:cNvSpPr>
            <a:spLocks xmlns:a="http://schemas.openxmlformats.org/drawingml/2006/main" noGrp="1"/>
          </p:cNvSpPr>
          <p:nvPr/>
        </p:nvSpPr>
        <p:spPr>
          <a:xfrm xmlns:a="http://schemas.openxmlformats.org/drawingml/2006/main">
            <a:off x="609600" y="45339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Audits sans contenu des articles</a:t>
            </a:r>
          </a:p>
        </p:txBody>
      </p:sp>
      <p:sp>
        <p:nvSpPr>
          <p:cNvPr id="9" name="texte-64">
            <a:extLst xmlns:a="http://schemas.openxmlformats.org/drawingml/2006/main">
              <a:ext uri="{FF2B5EF4-FFF2-40B4-BE49-F238E27FC236}">
                <a16:creationId xmlns:a16="http://schemas.microsoft.com/office/drawing/2014/main" id="{DF336A46-18B0-4734-8F01-59113743D51C}"/>
              </a:ext>
            </a:extLst>
          </p:cNvPr>
          <p:cNvSpPr>
            <a:spLocks xmlns:a="http://schemas.openxmlformats.org/drawingml/2006/main" noGrp="1"/>
          </p:cNvSpPr>
          <p:nvPr/>
        </p:nvSpPr>
        <p:spPr>
          <a:xfrm xmlns:a="http://schemas.openxmlformats.org/drawingml/2006/main">
            <a:off x="609600" y="49720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Compte système, date, résultat et référence de demande.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Les copies externes demandent une coordination.</a:t>
            </a:r>
          </a:p>
        </p:txBody>
      </p:sp>
    </p:spTree>
    <p:extLst>
      <p:ext uri="{BB962C8B-B14F-4D97-AF65-F5344CB8AC3E}">
        <p14:creationId xmlns:p14="http://schemas.microsoft.com/office/powerpoint/2010/main" val="1807509446"/>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e-65">
            <a:extLst xmlns:a="http://schemas.openxmlformats.org/drawingml/2006/main">
              <a:ext uri="{FF2B5EF4-FFF2-40B4-BE49-F238E27FC236}">
                <a16:creationId xmlns:a16="http://schemas.microsoft.com/office/drawing/2014/main" id="{056A7451-4CF0-4F1A-A4E5-05F87455CF18}"/>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Résultat et limites opérationnelles</a:t>
            </a:r>
          </a:p>
        </p:txBody>
      </p:sp>
      <p:sp>
        <p:nvSpPr>
          <p:cNvPr id="2" name="texte-66">
            <a:extLst xmlns:a="http://schemas.openxmlformats.org/drawingml/2006/main">
              <a:ext uri="{FF2B5EF4-FFF2-40B4-BE49-F238E27FC236}">
                <a16:creationId xmlns:a16="http://schemas.microsoft.com/office/drawing/2014/main" id="{D8B6DB50-6A73-45D9-91E8-4EB62007E821}"/>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Edouard Cappaert</a:t>
            </a:r>
          </a:p>
        </p:txBody>
      </p:sp>
      <p:sp>
        <p:nvSpPr>
          <p:cNvPr id="3" name="texte-67">
            <a:extLst xmlns:a="http://schemas.openxmlformats.org/drawingml/2006/main">
              <a:ext uri="{FF2B5EF4-FFF2-40B4-BE49-F238E27FC236}">
                <a16:creationId xmlns:a16="http://schemas.microsoft.com/office/drawing/2014/main" id="{7C8F7AF3-4658-49FD-8B50-2673948F58BE}"/>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4:30 à 5:00   7 / 7</a:t>
            </a:r>
          </a:p>
        </p:txBody>
      </p:sp>
      <p:sp>
        <p:nvSpPr>
          <p:cNvPr id="4" name="texte-68">
            <a:extLst xmlns:a="http://schemas.openxmlformats.org/drawingml/2006/main">
              <a:ext uri="{FF2B5EF4-FFF2-40B4-BE49-F238E27FC236}">
                <a16:creationId xmlns:a16="http://schemas.microsoft.com/office/drawing/2014/main" id="{79B90C2A-6921-4B3B-B884-E085E7E8E976}"/>
              </a:ext>
            </a:extLst>
          </p:cNvPr>
          <p:cNvSpPr>
            <a:spLocks xmlns:a="http://schemas.openxmlformats.org/drawingml/2006/main" noGrp="1"/>
          </p:cNvSpPr>
          <p:nvPr/>
        </p:nvSpPr>
        <p:spPr>
          <a:xfrm xmlns:a="http://schemas.openxmlformats.org/drawingml/2006/main">
            <a:off x="609600" y="16002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Chaîne locale testée</a:t>
            </a:r>
          </a:p>
        </p:txBody>
      </p:sp>
      <p:sp>
        <p:nvSpPr>
          <p:cNvPr id="5" name="texte-69">
            <a:extLst xmlns:a="http://schemas.openxmlformats.org/drawingml/2006/main">
              <a:ext uri="{FF2B5EF4-FFF2-40B4-BE49-F238E27FC236}">
                <a16:creationId xmlns:a16="http://schemas.microsoft.com/office/drawing/2014/main" id="{95BA208C-FC6F-46D7-A1E3-50747C3CEED1}"/>
              </a:ext>
            </a:extLst>
          </p:cNvPr>
          <p:cNvSpPr>
            <a:spLocks xmlns:a="http://schemas.openxmlformats.org/drawingml/2006/main" noGrp="1"/>
          </p:cNvSpPr>
          <p:nvPr/>
        </p:nvSpPr>
        <p:spPr>
          <a:xfrm xmlns:a="http://schemas.openxmlformats.org/drawingml/2006/main">
            <a:off x="609600" y="2038350"/>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Collecte, transformation, qualité, publication et monitoring.</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Reprise après panne du worker et lecture de secours.</a:t>
            </a:r>
          </a:p>
        </p:txBody>
      </p:sp>
      <p:sp>
        <p:nvSpPr>
          <p:cNvPr id="6" name="texte-70">
            <a:extLst xmlns:a="http://schemas.openxmlformats.org/drawingml/2006/main">
              <a:ext uri="{FF2B5EF4-FFF2-40B4-BE49-F238E27FC236}">
                <a16:creationId xmlns:a16="http://schemas.microsoft.com/office/drawing/2014/main" id="{CA56A37F-DFFB-4FD0-858E-FC4880F4BC14}"/>
              </a:ext>
            </a:extLst>
          </p:cNvPr>
          <p:cNvSpPr>
            <a:spLocks xmlns:a="http://schemas.openxmlformats.org/drawingml/2006/main" noGrp="1"/>
          </p:cNvSpPr>
          <p:nvPr/>
        </p:nvSpPr>
        <p:spPr>
          <a:xfrm xmlns:a="http://schemas.openxmlformats.org/drawingml/2006/main">
            <a:off x="609600" y="30765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Micro-lots périodiques</a:t>
            </a:r>
          </a:p>
        </p:txBody>
      </p:sp>
      <p:sp>
        <p:nvSpPr>
          <p:cNvPr id="7" name="texte-71">
            <a:extLst xmlns:a="http://schemas.openxmlformats.org/drawingml/2006/main">
              <a:ext uri="{FF2B5EF4-FFF2-40B4-BE49-F238E27FC236}">
                <a16:creationId xmlns:a16="http://schemas.microsoft.com/office/drawing/2014/main" id="{6E58F66C-ED8B-4E39-9E69-BEAA81DE7249}"/>
              </a:ext>
            </a:extLst>
          </p:cNvPr>
          <p:cNvSpPr>
            <a:spLocks xmlns:a="http://schemas.openxmlformats.org/drawingml/2006/main" noGrp="1"/>
          </p:cNvSpPr>
          <p:nvPr/>
        </p:nvSpPr>
        <p:spPr>
          <a:xfrm xmlns:a="http://schemas.openxmlformats.org/drawingml/2006/main">
            <a:off x="609600" y="3514725"/>
            <a:ext cx="1057275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Cycles automatiques sur une fenêtre UTC glissante.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Temps réel strict et latence réseau non garantis.</a:t>
            </a:r>
          </a:p>
        </p:txBody>
      </p:sp>
      <p:sp>
        <p:nvSpPr>
          <p:cNvPr id="8" name="texte-72">
            <a:extLst xmlns:a="http://schemas.openxmlformats.org/drawingml/2006/main">
              <a:ext uri="{FF2B5EF4-FFF2-40B4-BE49-F238E27FC236}">
                <a16:creationId xmlns:a16="http://schemas.microsoft.com/office/drawing/2014/main" id="{120E4538-6C50-44D9-8157-9BBCBE95729B}"/>
              </a:ext>
            </a:extLst>
          </p:cNvPr>
          <p:cNvSpPr>
            <a:spLocks xmlns:a="http://schemas.openxmlformats.org/drawingml/2006/main" noGrp="1"/>
          </p:cNvSpPr>
          <p:nvPr/>
        </p:nvSpPr>
        <p:spPr>
          <a:xfrm xmlns:a="http://schemas.openxmlformats.org/drawingml/2006/main">
            <a:off x="609600" y="45434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Un seul domaine de panne</a:t>
            </a:r>
          </a:p>
        </p:txBody>
      </p:sp>
      <p:sp>
        <p:nvSpPr>
          <p:cNvPr id="9" name="texte-73">
            <a:extLst xmlns:a="http://schemas.openxmlformats.org/drawingml/2006/main">
              <a:ext uri="{FF2B5EF4-FFF2-40B4-BE49-F238E27FC236}">
                <a16:creationId xmlns:a16="http://schemas.microsoft.com/office/drawing/2014/main" id="{503FCD9D-D8FC-40BB-82DE-C4D180CD2CB4}"/>
              </a:ext>
            </a:extLst>
          </p:cNvPr>
          <p:cNvSpPr>
            <a:spLocks xmlns:a="http://schemas.openxmlformats.org/drawingml/2006/main" noGrp="1"/>
          </p:cNvSpPr>
          <p:nvPr/>
        </p:nvSpPr>
        <p:spPr>
          <a:xfrm xmlns:a="http://schemas.openxmlformats.org/drawingml/2006/main">
            <a:off x="609600" y="4981575"/>
            <a:ext cx="105727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Principal et secours sur le même Mac et le même volume.</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La perte du poste et la continuité d’écriture restent hors couverture.</a:t>
            </a:r>
          </a:p>
        </p:txBody>
      </p:sp>
    </p:spTree>
    <p:extLst>
      <p:ext uri="{BB962C8B-B14F-4D97-AF65-F5344CB8AC3E}">
        <p14:creationId xmlns:p14="http://schemas.microsoft.com/office/powerpoint/2010/main" val="1534906021"/>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texte-74">
            <a:extLst xmlns:a="http://schemas.openxmlformats.org/drawingml/2006/main">
              <a:ext uri="{FF2B5EF4-FFF2-40B4-BE49-F238E27FC236}">
                <a16:creationId xmlns:a16="http://schemas.microsoft.com/office/drawing/2014/main" id="{EC9AD31B-8752-4999-94FB-D36EE9FABD67}"/>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Annexe : code et preuves à ouvrir</a:t>
            </a:r>
          </a:p>
        </p:txBody>
      </p:sp>
      <p:sp>
        <p:nvSpPr>
          <p:cNvPr id="2" name="texte-75">
            <a:extLst xmlns:a="http://schemas.openxmlformats.org/drawingml/2006/main">
              <a:ext uri="{FF2B5EF4-FFF2-40B4-BE49-F238E27FC236}">
                <a16:creationId xmlns:a16="http://schemas.microsoft.com/office/drawing/2014/main" id="{68EBCE0F-735C-481F-B91E-649F8450C972}"/>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Annexe pour les questions</a:t>
            </a:r>
          </a:p>
        </p:txBody>
      </p:sp>
      <p:sp>
        <p:nvSpPr>
          <p:cNvPr id="3" name="texte-76">
            <a:extLst xmlns:a="http://schemas.openxmlformats.org/drawingml/2006/main">
              <a:ext uri="{FF2B5EF4-FFF2-40B4-BE49-F238E27FC236}">
                <a16:creationId xmlns:a16="http://schemas.microsoft.com/office/drawing/2014/main" id="{508E8C34-8752-49ED-A00F-DEC5F0FA1951}"/>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8</a:t>
            </a:r>
          </a:p>
        </p:txBody>
      </p:sp>
      <p:sp>
        <p:nvSpPr>
          <p:cNvPr id="4" name="texte-77">
            <a:extLst xmlns:a="http://schemas.openxmlformats.org/drawingml/2006/main">
              <a:ext uri="{FF2B5EF4-FFF2-40B4-BE49-F238E27FC236}">
                <a16:creationId xmlns:a16="http://schemas.microsoft.com/office/drawing/2014/main" id="{F742BE3D-42A4-4492-BD29-CDA498FDDA42}"/>
              </a:ext>
            </a:extLst>
          </p:cNvPr>
          <p:cNvSpPr>
            <a:spLocks xmlns:a="http://schemas.openxmlformats.org/drawingml/2006/main" noGrp="1"/>
          </p:cNvSpPr>
          <p:nvPr/>
        </p:nvSpPr>
        <p:spPr>
          <a:xfrm xmlns:a="http://schemas.openxmlformats.org/drawingml/2006/main">
            <a:off x="609600" y="15525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A31635"/>
                </a:solidFill>
                <a:latin typeface="Helvetica Neue"/>
                <a:ea typeface="Helvetica Neue"/>
                <a:cs typeface="Helvetica Neue"/>
              </a:defRPr>
            </a:pPr>
            <a:r>
              <a:rPr sz="1950" b="1">
                <a:solidFill>
                  <a:srgbClr val="A31635"/>
                </a:solidFill>
                <a:latin typeface="Helvetica Neue"/>
                <a:ea typeface="Helvetica Neue"/>
                <a:cs typeface="Helvetica Neue"/>
              </a:rPr>
              <a:t>Collecte et transformation</a:t>
            </a:r>
          </a:p>
        </p:txBody>
      </p:sp>
      <p:sp>
        <p:nvSpPr>
          <p:cNvPr id="5" name="texte-78">
            <a:extLst xmlns:a="http://schemas.openxmlformats.org/drawingml/2006/main">
              <a:ext uri="{FF2B5EF4-FFF2-40B4-BE49-F238E27FC236}">
                <a16:creationId xmlns:a16="http://schemas.microsoft.com/office/drawing/2014/main" id="{7B78E409-5F82-4128-B826-4AAF4FE9BF41}"/>
              </a:ext>
            </a:extLst>
          </p:cNvPr>
          <p:cNvSpPr>
            <a:spLocks xmlns:a="http://schemas.openxmlformats.org/drawingml/2006/main" noGrp="1"/>
          </p:cNvSpPr>
          <p:nvPr/>
        </p:nvSpPr>
        <p:spPr>
          <a:xfrm xmlns:a="http://schemas.openxmlformats.org/drawingml/2006/main">
            <a:off x="5905500" y="1571625"/>
            <a:ext cx="5657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pipeline/collection/source.py et worker.py</a:t>
            </a:r>
          </a:p>
        </p:txBody>
      </p:sp>
      <p:sp>
        <p:nvSpPr>
          <p:cNvPr id="6" name="texte-79">
            <a:extLst xmlns:a="http://schemas.openxmlformats.org/drawingml/2006/main">
              <a:ext uri="{FF2B5EF4-FFF2-40B4-BE49-F238E27FC236}">
                <a16:creationId xmlns:a16="http://schemas.microsoft.com/office/drawing/2014/main" id="{22C5EF90-FA7E-48CD-84B4-D7FD5FF65747}"/>
              </a:ext>
            </a:extLst>
          </p:cNvPr>
          <p:cNvSpPr>
            <a:spLocks xmlns:a="http://schemas.openxmlformats.org/drawingml/2006/main" noGrp="1"/>
          </p:cNvSpPr>
          <p:nvPr/>
        </p:nvSpPr>
        <p:spPr>
          <a:xfrm xmlns:a="http://schemas.openxmlformats.org/drawingml/2006/main">
            <a:off x="609600" y="240030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A31635"/>
                </a:solidFill>
                <a:latin typeface="Helvetica Neue"/>
                <a:ea typeface="Helvetica Neue"/>
                <a:cs typeface="Helvetica Neue"/>
              </a:defRPr>
            </a:pPr>
            <a:r>
              <a:rPr sz="1950" b="1">
                <a:solidFill>
                  <a:srgbClr val="A31635"/>
                </a:solidFill>
                <a:latin typeface="Helvetica Neue"/>
                <a:ea typeface="Helvetica Neue"/>
                <a:cs typeface="Helvetica Neue"/>
              </a:rPr>
              <a:t>Catalogue, publication et checkpoints</a:t>
            </a:r>
          </a:p>
        </p:txBody>
      </p:sp>
      <p:sp>
        <p:nvSpPr>
          <p:cNvPr id="7" name="texte-80">
            <a:extLst xmlns:a="http://schemas.openxmlformats.org/drawingml/2006/main">
              <a:ext uri="{FF2B5EF4-FFF2-40B4-BE49-F238E27FC236}">
                <a16:creationId xmlns:a16="http://schemas.microsoft.com/office/drawing/2014/main" id="{33004BFF-8CB3-4D56-A309-4BBEBF55EE43}"/>
              </a:ext>
            </a:extLst>
          </p:cNvPr>
          <p:cNvSpPr>
            <a:spLocks xmlns:a="http://schemas.openxmlformats.org/drawingml/2006/main" noGrp="1"/>
          </p:cNvSpPr>
          <p:nvPr/>
        </p:nvSpPr>
        <p:spPr>
          <a:xfrm xmlns:a="http://schemas.openxmlformats.org/drawingml/2006/main">
            <a:off x="5905500" y="2419350"/>
            <a:ext cx="5657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pipeline/collection/store.py</a:t>
            </a:r>
          </a:p>
        </p:txBody>
      </p:sp>
      <p:sp>
        <p:nvSpPr>
          <p:cNvPr id="8" name="texte-81">
            <a:extLst xmlns:a="http://schemas.openxmlformats.org/drawingml/2006/main">
              <a:ext uri="{FF2B5EF4-FFF2-40B4-BE49-F238E27FC236}">
                <a16:creationId xmlns:a16="http://schemas.microsoft.com/office/drawing/2014/main" id="{5CA81FC3-2953-4832-BF6D-3B36A5167ACC}"/>
              </a:ext>
            </a:extLst>
          </p:cNvPr>
          <p:cNvSpPr>
            <a:spLocks xmlns:a="http://schemas.openxmlformats.org/drawingml/2006/main" noGrp="1"/>
          </p:cNvSpPr>
          <p:nvPr/>
        </p:nvSpPr>
        <p:spPr>
          <a:xfrm xmlns:a="http://schemas.openxmlformats.org/drawingml/2006/main">
            <a:off x="609600" y="324802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A31635"/>
                </a:solidFill>
                <a:latin typeface="Helvetica Neue"/>
                <a:ea typeface="Helvetica Neue"/>
                <a:cs typeface="Helvetica Neue"/>
              </a:defRPr>
            </a:pPr>
            <a:r>
              <a:rPr sz="1950" b="1">
                <a:solidFill>
                  <a:srgbClr val="A31635"/>
                </a:solidFill>
                <a:latin typeface="Helvetica Neue"/>
                <a:ea typeface="Helvetica Neue"/>
                <a:cs typeface="Helvetica Neue"/>
              </a:rPr>
              <a:t>Supervision et monitoring</a:t>
            </a:r>
          </a:p>
        </p:txBody>
      </p:sp>
      <p:sp>
        <p:nvSpPr>
          <p:cNvPr id="9" name="texte-82">
            <a:extLst xmlns:a="http://schemas.openxmlformats.org/drawingml/2006/main">
              <a:ext uri="{FF2B5EF4-FFF2-40B4-BE49-F238E27FC236}">
                <a16:creationId xmlns:a16="http://schemas.microsoft.com/office/drawing/2014/main" id="{106376B5-71A2-4CFD-9D73-A0AB9B4BA377}"/>
              </a:ext>
            </a:extLst>
          </p:cNvPr>
          <p:cNvSpPr>
            <a:spLocks xmlns:a="http://schemas.openxmlformats.org/drawingml/2006/main" noGrp="1"/>
          </p:cNvSpPr>
          <p:nvPr/>
        </p:nvSpPr>
        <p:spPr>
          <a:xfrm xmlns:a="http://schemas.openxmlformats.org/drawingml/2006/main">
            <a:off x="5905500" y="3267075"/>
            <a:ext cx="5657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pipeline/collection/service.py et continuous.py</a:t>
            </a:r>
          </a:p>
        </p:txBody>
      </p:sp>
      <p:sp>
        <p:nvSpPr>
          <p:cNvPr id="10" name="texte-83">
            <a:extLst xmlns:a="http://schemas.openxmlformats.org/drawingml/2006/main">
              <a:ext uri="{FF2B5EF4-FFF2-40B4-BE49-F238E27FC236}">
                <a16:creationId xmlns:a16="http://schemas.microsoft.com/office/drawing/2014/main" id="{C5E4648C-E1EA-4C4B-8D2C-C3BA91BF061C}"/>
              </a:ext>
            </a:extLst>
          </p:cNvPr>
          <p:cNvSpPr>
            <a:spLocks xmlns:a="http://schemas.openxmlformats.org/drawingml/2006/main" noGrp="1"/>
          </p:cNvSpPr>
          <p:nvPr/>
        </p:nvSpPr>
        <p:spPr>
          <a:xfrm xmlns:a="http://schemas.openxmlformats.org/drawingml/2006/main">
            <a:off x="609600" y="4095750"/>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A31635"/>
                </a:solidFill>
                <a:latin typeface="Helvetica Neue"/>
                <a:ea typeface="Helvetica Neue"/>
                <a:cs typeface="Helvetica Neue"/>
              </a:defRPr>
            </a:pPr>
            <a:r>
              <a:rPr sz="1950" b="1">
                <a:solidFill>
                  <a:srgbClr val="A31635"/>
                </a:solidFill>
                <a:latin typeface="Helvetica Neue"/>
                <a:ea typeface="Helvetica Neue"/>
                <a:cs typeface="Helvetica Neue"/>
              </a:rPr>
              <a:t>Qualité, panne et reprise</a:t>
            </a:r>
          </a:p>
        </p:txBody>
      </p:sp>
      <p:sp>
        <p:nvSpPr>
          <p:cNvPr id="11" name="texte-84">
            <a:extLst xmlns:a="http://schemas.openxmlformats.org/drawingml/2006/main">
              <a:ext uri="{FF2B5EF4-FFF2-40B4-BE49-F238E27FC236}">
                <a16:creationId xmlns:a16="http://schemas.microsoft.com/office/drawing/2014/main" id="{D4B440D9-F4F8-4E17-8CC5-CA6500F6E40F}"/>
              </a:ext>
            </a:extLst>
          </p:cNvPr>
          <p:cNvSpPr>
            <a:spLocks xmlns:a="http://schemas.openxmlformats.org/drawingml/2006/main" noGrp="1"/>
          </p:cNvSpPr>
          <p:nvPr/>
        </p:nvSpPr>
        <p:spPr>
          <a:xfrm xmlns:a="http://schemas.openxmlformats.org/drawingml/2006/main">
            <a:off x="5905500" y="4114800"/>
            <a:ext cx="5657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tests/collection.py, continuous.py et integration.py</a:t>
            </a:r>
          </a:p>
        </p:txBody>
      </p:sp>
      <p:sp>
        <p:nvSpPr>
          <p:cNvPr id="12" name="texte-85">
            <a:extLst xmlns:a="http://schemas.openxmlformats.org/drawingml/2006/main">
              <a:ext uri="{FF2B5EF4-FFF2-40B4-BE49-F238E27FC236}">
                <a16:creationId xmlns:a16="http://schemas.microsoft.com/office/drawing/2014/main" id="{EC188440-E62F-4915-A61C-1DBB4809CAAB}"/>
              </a:ext>
            </a:extLst>
          </p:cNvPr>
          <p:cNvSpPr>
            <a:spLocks xmlns:a="http://schemas.openxmlformats.org/drawingml/2006/main" noGrp="1"/>
          </p:cNvSpPr>
          <p:nvPr/>
        </p:nvSpPr>
        <p:spPr>
          <a:xfrm xmlns:a="http://schemas.openxmlformats.org/drawingml/2006/main">
            <a:off x="609600" y="4943475"/>
            <a:ext cx="5143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1">
                <a:solidFill>
                  <a:srgbClr val="A31635"/>
                </a:solidFill>
                <a:latin typeface="Helvetica Neue"/>
                <a:ea typeface="Helvetica Neue"/>
                <a:cs typeface="Helvetica Neue"/>
              </a:defRPr>
            </a:pPr>
            <a:r>
              <a:rPr sz="1950" b="1">
                <a:solidFill>
                  <a:srgbClr val="A31635"/>
                </a:solidFill>
                <a:latin typeface="Helvetica Neue"/>
                <a:ea typeface="Helvetica Neue"/>
                <a:cs typeface="Helvetica Neue"/>
              </a:rPr>
              <a:t>Droits, secours et protection</a:t>
            </a:r>
          </a:p>
        </p:txBody>
      </p:sp>
      <p:sp>
        <p:nvSpPr>
          <p:cNvPr id="13" name="texte-86">
            <a:extLst xmlns:a="http://schemas.openxmlformats.org/drawingml/2006/main">
              <a:ext uri="{FF2B5EF4-FFF2-40B4-BE49-F238E27FC236}">
                <a16:creationId xmlns:a16="http://schemas.microsoft.com/office/drawing/2014/main" id="{DCADD048-477C-40AF-87DB-14AC74FEA754}"/>
              </a:ext>
            </a:extLst>
          </p:cNvPr>
          <p:cNvSpPr>
            <a:spLocks xmlns:a="http://schemas.openxmlformats.org/drawingml/2006/main" noGrp="1"/>
          </p:cNvSpPr>
          <p:nvPr/>
        </p:nvSpPr>
        <p:spPr>
          <a:xfrm xmlns:a="http://schemas.openxmlformats.org/drawingml/2006/main">
            <a:off x="5905500" y="4962525"/>
            <a:ext cx="56578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800" b="0">
                <a:solidFill>
                  <a:srgbClr val="27282C"/>
                </a:solidFill>
                <a:latin typeface="Helvetica Neue"/>
                <a:ea typeface="Helvetica Neue"/>
                <a:cs typeface="Helvetica Neue"/>
              </a:defRPr>
            </a:pPr>
            <a:r>
              <a:rPr sz="1800" b="0">
                <a:solidFill>
                  <a:srgbClr val="27282C"/>
                </a:solidFill>
                <a:latin typeface="Helvetica Neue"/>
                <a:ea typeface="Helvetica Neue"/>
                <a:cs typeface="Helvetica Neue"/>
              </a:rPr>
              <a:t>tests/closure.py et Preuves/Collecte_TASS/</a:t>
            </a:r>
          </a:p>
        </p:txBody>
      </p:sp>
      <p:sp>
        <p:nvSpPr>
          <p:cNvPr id="14" name="texte-87">
            <a:extLst xmlns:a="http://schemas.openxmlformats.org/drawingml/2006/main">
              <a:ext uri="{FF2B5EF4-FFF2-40B4-BE49-F238E27FC236}">
                <a16:creationId xmlns:a16="http://schemas.microsoft.com/office/drawing/2014/main" id="{4854951E-2778-4423-8312-162C52938746}"/>
              </a:ext>
            </a:extLst>
          </p:cNvPr>
          <p:cNvSpPr>
            <a:spLocks xmlns:a="http://schemas.openxmlformats.org/drawingml/2006/main" noGrp="1"/>
          </p:cNvSpPr>
          <p:nvPr/>
        </p:nvSpPr>
        <p:spPr>
          <a:xfrm xmlns:a="http://schemas.openxmlformats.org/drawingml/2006/main">
            <a:off x="609600" y="5819775"/>
            <a:ext cx="109728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650" b="0">
                <a:solidFill>
                  <a:srgbClr val="67676B"/>
                </a:solidFill>
                <a:latin typeface="Helvetica Neue"/>
                <a:ea typeface="Helvetica Neue"/>
                <a:cs typeface="Helvetica Neue"/>
              </a:defRPr>
            </a:pPr>
            <a:r>
              <a:rPr sz="1650" b="0">
                <a:solidFill>
                  <a:srgbClr val="67676B"/>
                </a:solidFill>
                <a:latin typeface="Helvetica Neue"/>
                <a:ea typeface="Helvetica Neue"/>
                <a:cs typeface="Helvetica Neue"/>
              </a:rPr>
              <a:t>49 scénarios Python vérifiés localement le 18 octobre 2026.</a:t>
            </a:r>
          </a:p>
        </p:txBody>
      </p:sp>
    </p:spTree>
    <p:extLst>
      <p:ext uri="{BB962C8B-B14F-4D97-AF65-F5344CB8AC3E}">
        <p14:creationId xmlns:p14="http://schemas.microsoft.com/office/powerpoint/2010/main" val="2135979166"/>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texte-88">
            <a:extLst xmlns:a="http://schemas.openxmlformats.org/drawingml/2006/main">
              <a:ext uri="{FF2B5EF4-FFF2-40B4-BE49-F238E27FC236}">
                <a16:creationId xmlns:a16="http://schemas.microsoft.com/office/drawing/2014/main" id="{76A0C647-14B8-4537-BDA4-DC2A1F37F6F1}"/>
              </a:ext>
            </a:extLst>
          </p:cNvPr>
          <p:cNvSpPr>
            <a:spLocks xmlns:a="http://schemas.openxmlformats.org/drawingml/2006/main" noGrp="1"/>
          </p:cNvSpPr>
          <p:nvPr/>
        </p:nvSpPr>
        <p:spPr>
          <a:xfrm xmlns:a="http://schemas.openxmlformats.org/drawingml/2006/main">
            <a:off x="609600" y="438150"/>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3300" b="0">
                <a:solidFill>
                  <a:srgbClr val="A31635"/>
                </a:solidFill>
                <a:latin typeface="Helvetica Neue"/>
                <a:ea typeface="Helvetica Neue"/>
                <a:cs typeface="Helvetica Neue"/>
              </a:defRPr>
            </a:pPr>
            <a:r>
              <a:rPr sz="3300" b="0">
                <a:solidFill>
                  <a:srgbClr val="A31635"/>
                </a:solidFill>
                <a:latin typeface="Helvetica Neue"/>
                <a:ea typeface="Helvetica Neue"/>
                <a:cs typeface="Helvetica Neue"/>
              </a:rPr>
              <a:t>Annexe : choix à défendre</a:t>
            </a:r>
          </a:p>
        </p:txBody>
      </p:sp>
      <p:sp>
        <p:nvSpPr>
          <p:cNvPr id="2" name="texte-89">
            <a:extLst xmlns:a="http://schemas.openxmlformats.org/drawingml/2006/main">
              <a:ext uri="{FF2B5EF4-FFF2-40B4-BE49-F238E27FC236}">
                <a16:creationId xmlns:a16="http://schemas.microsoft.com/office/drawing/2014/main" id="{C236CCA0-4A2C-4B17-88AB-42AB847C1C4B}"/>
              </a:ext>
            </a:extLst>
          </p:cNvPr>
          <p:cNvSpPr>
            <a:spLocks xmlns:a="http://schemas.openxmlformats.org/drawingml/2006/main" noGrp="1"/>
          </p:cNvSpPr>
          <p:nvPr/>
        </p:nvSpPr>
        <p:spPr>
          <a:xfrm xmlns:a="http://schemas.openxmlformats.org/drawingml/2006/main">
            <a:off x="609600" y="636270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Bloc 3 · Annexe pour les questions</a:t>
            </a:r>
          </a:p>
        </p:txBody>
      </p:sp>
      <p:sp>
        <p:nvSpPr>
          <p:cNvPr id="3" name="texte-90">
            <a:extLst xmlns:a="http://schemas.openxmlformats.org/drawingml/2006/main">
              <a:ext uri="{FF2B5EF4-FFF2-40B4-BE49-F238E27FC236}">
                <a16:creationId xmlns:a16="http://schemas.microsoft.com/office/drawing/2014/main" id="{A447C643-FAD0-40E8-9259-D696AE327BCE}"/>
              </a:ext>
            </a:extLst>
          </p:cNvPr>
          <p:cNvSpPr>
            <a:spLocks xmlns:a="http://schemas.openxmlformats.org/drawingml/2006/main" noGrp="1"/>
          </p:cNvSpPr>
          <p:nvPr/>
        </p:nvSpPr>
        <p:spPr>
          <a:xfrm xmlns:a="http://schemas.openxmlformats.org/drawingml/2006/main">
            <a:off x="9201150" y="6362700"/>
            <a:ext cx="238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buNone/>
              <a:defRPr sz="1350" b="0">
                <a:solidFill>
                  <a:srgbClr val="67676B"/>
                </a:solidFill>
                <a:latin typeface="Helvetica Neue"/>
                <a:ea typeface="Helvetica Neue"/>
                <a:cs typeface="Helvetica Neue"/>
              </a:defRPr>
            </a:pPr>
            <a:r>
              <a:rPr sz="1350" b="0">
                <a:solidFill>
                  <a:srgbClr val="67676B"/>
                </a:solidFill>
                <a:latin typeface="Helvetica Neue"/>
                <a:ea typeface="Helvetica Neue"/>
                <a:cs typeface="Helvetica Neue"/>
              </a:rPr>
              <a:t>9</a:t>
            </a:r>
          </a:p>
        </p:txBody>
      </p:sp>
      <p:sp>
        <p:nvSpPr>
          <p:cNvPr id="4" name="texte-91">
            <a:extLst xmlns:a="http://schemas.openxmlformats.org/drawingml/2006/main">
              <a:ext uri="{FF2B5EF4-FFF2-40B4-BE49-F238E27FC236}">
                <a16:creationId xmlns:a16="http://schemas.microsoft.com/office/drawing/2014/main" id="{26B74BD3-19F8-4F1B-AD11-48AE12228D9F}"/>
              </a:ext>
            </a:extLst>
          </p:cNvPr>
          <p:cNvSpPr>
            <a:spLocks xmlns:a="http://schemas.openxmlformats.org/drawingml/2006/main" noGrp="1"/>
          </p:cNvSpPr>
          <p:nvPr/>
        </p:nvSpPr>
        <p:spPr>
          <a:xfrm xmlns:a="http://schemas.openxmlformats.org/drawingml/2006/main">
            <a:off x="609600" y="1562100"/>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Pourquoi SQLite ?</a:t>
            </a:r>
          </a:p>
        </p:txBody>
      </p:sp>
      <p:sp>
        <p:nvSpPr>
          <p:cNvPr id="5" name="texte-92">
            <a:extLst xmlns:a="http://schemas.openxmlformats.org/drawingml/2006/main">
              <a:ext uri="{FF2B5EF4-FFF2-40B4-BE49-F238E27FC236}">
                <a16:creationId xmlns:a16="http://schemas.microsoft.com/office/drawing/2014/main" id="{C9EB7B4F-A710-46EF-A121-79E24C59C34F}"/>
              </a:ext>
            </a:extLst>
          </p:cNvPr>
          <p:cNvSpPr>
            <a:spLocks xmlns:a="http://schemas.openxmlformats.org/drawingml/2006/main" noGrp="1"/>
          </p:cNvSpPr>
          <p:nvPr/>
        </p:nvSpPr>
        <p:spPr>
          <a:xfrm xmlns:a="http://schemas.openxmlformats.org/drawingml/2006/main">
            <a:off x="609600" y="2000250"/>
            <a:ext cx="105727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Transactions, versions et checkpoints dans un catalogue local.</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Les bases métier restent dans l’architecture du Bloc 2.</a:t>
            </a:r>
          </a:p>
        </p:txBody>
      </p:sp>
      <p:sp>
        <p:nvSpPr>
          <p:cNvPr id="6" name="texte-93">
            <a:extLst xmlns:a="http://schemas.openxmlformats.org/drawingml/2006/main">
              <a:ext uri="{FF2B5EF4-FFF2-40B4-BE49-F238E27FC236}">
                <a16:creationId xmlns:a16="http://schemas.microsoft.com/office/drawing/2014/main" id="{6BACCC9E-1DA7-44BF-A4A6-212216760657}"/>
              </a:ext>
            </a:extLst>
          </p:cNvPr>
          <p:cNvSpPr>
            <a:spLocks xmlns:a="http://schemas.openxmlformats.org/drawingml/2006/main" noGrp="1"/>
          </p:cNvSpPr>
          <p:nvPr/>
        </p:nvSpPr>
        <p:spPr>
          <a:xfrm xmlns:a="http://schemas.openxmlformats.org/drawingml/2006/main">
            <a:off x="609600" y="298132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Que se passe-t-il après une panne ?</a:t>
            </a:r>
          </a:p>
        </p:txBody>
      </p:sp>
      <p:sp>
        <p:nvSpPr>
          <p:cNvPr id="7" name="texte-94">
            <a:extLst xmlns:a="http://schemas.openxmlformats.org/drawingml/2006/main">
              <a:ext uri="{FF2B5EF4-FFF2-40B4-BE49-F238E27FC236}">
                <a16:creationId xmlns:a16="http://schemas.microsoft.com/office/drawing/2014/main" id="{F1594472-AC9D-4E44-A020-BB19340BABF2}"/>
              </a:ext>
            </a:extLst>
          </p:cNvPr>
          <p:cNvSpPr>
            <a:spLocks xmlns:a="http://schemas.openxmlformats.org/drawingml/2006/main" noGrp="1"/>
          </p:cNvSpPr>
          <p:nvPr/>
        </p:nvSpPr>
        <p:spPr>
          <a:xfrm xmlns:a="http://schemas.openxmlformats.org/drawingml/2006/main">
            <a:off x="609600" y="341947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Worker en panne : relance et reprise des tâches restantes.</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Catalogue en panne : consultation du secours, écritures bloquées.</a:t>
            </a:r>
          </a:p>
        </p:txBody>
      </p:sp>
      <p:sp>
        <p:nvSpPr>
          <p:cNvPr id="8" name="texte-95">
            <a:extLst xmlns:a="http://schemas.openxmlformats.org/drawingml/2006/main">
              <a:ext uri="{FF2B5EF4-FFF2-40B4-BE49-F238E27FC236}">
                <a16:creationId xmlns:a16="http://schemas.microsoft.com/office/drawing/2014/main" id="{2F888AF1-AD40-49FA-A9B6-04DAB882C9A3}"/>
              </a:ext>
            </a:extLst>
          </p:cNvPr>
          <p:cNvSpPr>
            <a:spLocks xmlns:a="http://schemas.openxmlformats.org/drawingml/2006/main" noGrp="1"/>
          </p:cNvSpPr>
          <p:nvPr/>
        </p:nvSpPr>
        <p:spPr>
          <a:xfrm xmlns:a="http://schemas.openxmlformats.org/drawingml/2006/main">
            <a:off x="609600" y="4448175"/>
            <a:ext cx="10572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2100" b="1">
                <a:solidFill>
                  <a:srgbClr val="A31635"/>
                </a:solidFill>
                <a:latin typeface="Helvetica Neue"/>
                <a:ea typeface="Helvetica Neue"/>
                <a:cs typeface="Helvetica Neue"/>
              </a:defRPr>
            </a:pPr>
            <a:r>
              <a:rPr sz="2100" b="1">
                <a:solidFill>
                  <a:srgbClr val="A31635"/>
                </a:solidFill>
                <a:latin typeface="Helvetica Neue"/>
                <a:ea typeface="Helvetica Neue"/>
                <a:cs typeface="Helvetica Neue"/>
              </a:rPr>
              <a:t>Comment garder des annotations cohérentes ?</a:t>
            </a:r>
          </a:p>
        </p:txBody>
      </p:sp>
      <p:sp>
        <p:nvSpPr>
          <p:cNvPr id="9" name="texte-96">
            <a:extLst xmlns:a="http://schemas.openxmlformats.org/drawingml/2006/main">
              <a:ext uri="{FF2B5EF4-FFF2-40B4-BE49-F238E27FC236}">
                <a16:creationId xmlns:a16="http://schemas.microsoft.com/office/drawing/2014/main" id="{54E5FB58-2B95-4502-9C71-777110325E80}"/>
              </a:ext>
            </a:extLst>
          </p:cNvPr>
          <p:cNvSpPr>
            <a:spLocks xmlns:a="http://schemas.openxmlformats.org/drawingml/2006/main" noGrp="1"/>
          </p:cNvSpPr>
          <p:nvPr/>
        </p:nvSpPr>
        <p:spPr>
          <a:xfrm xmlns:a="http://schemas.openxmlformats.org/drawingml/2006/main">
            <a:off x="609600" y="4886325"/>
            <a:ext cx="10572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L’empreinte identifie le texte exact utilisé pour les offsets.</a:t>
            </a:r>
          </a:p>
          <a:p xmlns:a="http://schemas.openxmlformats.org/drawingml/2006/main">
            <a:pPr algn="l">
              <a:buNone/>
              <a:defRPr sz="1950" b="0">
                <a:solidFill>
                  <a:srgbClr val="27282C"/>
                </a:solidFill>
                <a:latin typeface="Helvetica Neue"/>
                <a:ea typeface="Helvetica Neue"/>
                <a:cs typeface="Helvetica Neue"/>
              </a:defRPr>
            </a:pPr>
            <a:r>
              <a:rPr sz="1950" b="0">
                <a:solidFill>
                  <a:srgbClr val="27282C"/>
                </a:solidFill>
                <a:latin typeface="Helvetica Neue"/>
                <a:ea typeface="Helvetica Neue"/>
                <a:cs typeface="Helvetica Neue"/>
              </a:rPr>
              <a:t>Un texte corrigé nécessite une nouvelle inférence.</a:t>
            </a:r>
          </a:p>
        </p:txBody>
      </p:sp>
    </p:spTree>
    <p:extLst>
      <p:ext uri="{BB962C8B-B14F-4D97-AF65-F5344CB8AC3E}">
        <p14:creationId xmlns:p14="http://schemas.microsoft.com/office/powerpoint/2010/main" val="457916798"/>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2026-10-18T20:57:34.9900000Z</dcterms:created>
  <dcterms:modified xsi:type="dcterms:W3CDTF">2026-10-18T20:57:34.9900000Z</dcterms:modified>
</coreProperties>
</file>